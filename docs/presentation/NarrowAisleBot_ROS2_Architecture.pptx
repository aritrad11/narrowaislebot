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2.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412432d-e7f4-a9a2-e5f1-e6d5c2342537}">
          <p14:sldIdLst>
            <p14:sldId id="256"/>
            <p14:sldId id="257"/>
            <p14:sldId id="258"/>
          </p14:sldIdLst>
        </p14:section>
        <p14:section name="Hardware" id="{267f0b18-c464-63b9-8773-f6c0eb029b0d}">
          <p14:sldIdLst>
            <p14:sldId id="259"/>
            <p14:sldId id="260"/>
            <p14:sldId id="261"/>
          </p14:sldIdLst>
        </p14:section>
        <p14:section name="Nodes" id="{f873afa2-62cf-39b0-324e-4f45877361dd}">
          <p14:sldIdLst>
            <p14:sldId id="262"/>
            <p14:sldId id="263"/>
            <p14:sldId id="264"/>
            <p14:sldId id="265"/>
            <p14:sldId id="266"/>
            <p14:sldId id="267"/>
            <p14:sldId id="268"/>
            <p14:sldId id="269"/>
            <p14:sldId id="270"/>
          </p14:sldIdLst>
        </p14:section>
        <p14:section name="Mapping and navigation" id="{6460b522-58b0-65be-9099-79ebcb56d283}">
          <p14:sldIdLst>
            <p14:sldId id="271"/>
            <p14:sldId id="272"/>
            <p14:sldId id="273"/>
            <p14:sldId id="274"/>
            <p14:sldId id="275"/>
          </p14:sldIdLst>
        </p14:section>
        <p14:section name="Status" id="{d96fc52a-65b4-39fe-c989-9aded7f43948}">
          <p14:sldIdLst>
            <p14:sldId id="276"/>
            <p14:sldId id="277"/>
          </p14:sldIdLst>
        </p14:section>
        <p14:section name="Appendix" id="{d7ead12a-968f-5f1c-dda6-343ebdb43e64}">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72126"/>
                </a:solidFill>
                <a:latin typeface="+mn-lt"/>
              </a:defRPr>
            </a:pPr>
            <a:r>
              <a:rPr sz="1400" b="0" i="0" u="none" strike="noStrike">
                <a:solidFill>
                  <a:srgbClr val="172126"/>
                </a:solidFill>
                <a:latin typeface="+mn-lt"/>
              </a:rPr>
              <a:t>Critic weights (nav2_params.yaml)</a:t>
            </a:r>
          </a:p>
        </c:rich>
      </c:tx>
      <c:layout/>
      <c:overlay val="0"/>
    </c:title>
    <c:autoTitleDeleted val="0"/>
    <c:plotArea>
      <c:layout/>
      <c:barChart>
        <c:barDir val="bar"/>
        <c:grouping val="clustered"/>
        <c:varyColors val="0"/>
        <c:ser>
          <c:idx val="0"/>
          <c:order val="0"/>
          <c:tx>
            <c:strRef>
              <c:f>Sheet1!$B$1</c:f>
              <c:strCache>
                <c:ptCount val="1"/>
                <c:pt idx="0">
                  <c:v>Weight</c:v>
                </c:pt>
              </c:strCache>
            </c:strRef>
          </c:tx>
          <c:spPr>
            <a:solidFill>
              <a:srgbClr val="C2410C"/>
            </a:solidFill>
            <a:effectLst/>
          </c:spPr>
          <c:invertIfNegative val="0"/>
          <c:dLbls>
            <c:numFmt formatCode="General" sourceLinked="0"/>
            <c:txPr>
              <a:bodyPr/>
              <a:lstStyle/>
              <a:p>
                <a:pPr>
                  <a:defRPr b="0" i="0" strike="noStrike" sz="1200" u="none">
                    <a:solidFill>
                      <a:srgbClr val="172126"/>
                    </a:solidFill>
                    <a:latin typeface="+mn-lt"/>
                  </a:defRPr>
                </a:pPr>
              </a:p>
            </c:txPr>
            <c:showLegendKey val="0"/>
            <c:showVal val="1"/>
            <c:showCatName val="0"/>
            <c:showSerName val="0"/>
            <c:showPercent val="0"/>
            <c:showBubbleSize val="0"/>
            <c:showLeaderLines val="0"/>
          </c:dLbls>
          <c:cat>
            <c:multiLvlStrRef>
              <c:f>Sheet1!$A$2:$A$8</c:f>
              <c:multiLvlStrCache>
                <c:ptCount val="7"/>
                <c:lvl>
                  <c:pt idx="0">
                    <c:v>PathAlign</c:v>
                  </c:pt>
                  <c:pt idx="1">
                    <c:v>Goal</c:v>
                  </c:pt>
                  <c:pt idx="2">
                    <c:v>PathFollow</c:v>
                  </c:pt>
                  <c:pt idx="3">
                    <c:v>Twirling</c:v>
                  </c:pt>
                  <c:pt idx="4">
                    <c:v>Constraint</c:v>
                  </c:pt>
                  <c:pt idx="5">
                    <c:v>Cost</c:v>
                  </c:pt>
                  <c:pt idx="6">
                    <c:v>GoalAngle</c:v>
                  </c:pt>
                </c:lvl>
              </c:multiLvlStrCache>
            </c:multiLvlStrRef>
          </c:cat>
          <c:val>
            <c:numRef>
              <c:f>Sheet1!$B$2:$B$8</c:f>
              <c:numCache>
                <c:formatCode>General</c:formatCode>
                <c:ptCount val="7"/>
                <c:pt idx="0">
                  <c:v>14</c:v>
                </c:pt>
                <c:pt idx="1">
                  <c:v>5</c:v>
                </c:pt>
                <c:pt idx="2">
                  <c:v>5</c:v>
                </c:pt>
                <c:pt idx="3">
                  <c:v>5</c:v>
                </c:pt>
                <c:pt idx="4">
                  <c:v>4</c:v>
                </c:pt>
                <c:pt idx="5">
                  <c:v>3.81</c:v>
                </c:pt>
                <c:pt idx="6">
                  <c:v>3</c:v>
                </c:pt>
              </c:numCache>
            </c:numRef>
          </c:val>
        </c:ser>
        <c:dLbls>
          <c:numFmt formatCode="General" sourceLinked="0"/>
          <c:txPr>
            <a:bodyPr/>
            <a:lstStyle/>
            <a:p>
              <a:pPr>
                <a:defRPr b="0" i="0" strike="noStrike" sz="1200" u="none">
                  <a:solidFill>
                    <a:srgbClr val="17212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72126"/>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72126"/>
                </a:solidFill>
                <a:latin typeface="+mn-lt"/>
              </a:defRPr>
            </a:pPr>
            <a:r>
              <a:rPr sz="1300" b="0" i="0" u="none" strike="noStrike">
                <a:solidFill>
                  <a:srgbClr val="172126"/>
                </a:solidFill>
                <a:latin typeface="+mn-lt"/>
              </a:rPr>
              <a:t>Speed requested at each stage, mm/s (axis ends at the 120 mm/s limit)</a:t>
            </a:r>
          </a:p>
        </c:rich>
      </c:tx>
      <c:layout/>
      <c:overlay val="0"/>
    </c:title>
    <c:autoTitleDeleted val="0"/>
    <c:plotArea>
      <c:layout/>
      <c:barChart>
        <c:barDir val="bar"/>
        <c:grouping val="clustered"/>
        <c:varyColors val="0"/>
        <c:ser>
          <c:idx val="0"/>
          <c:order val="0"/>
          <c:tx>
            <c:strRef>
              <c:f>Sheet1!$B$1</c:f>
              <c:strCache>
                <c:ptCount val="1"/>
                <c:pt idx="0">
                  <c:v>Mean speed</c:v>
                </c:pt>
              </c:strCache>
            </c:strRef>
          </c:tx>
          <c:spPr>
            <a:solidFill>
              <a:srgbClr val="C2410C"/>
            </a:solidFill>
            <a:effectLst/>
          </c:spPr>
          <c:invertIfNegative val="0"/>
          <c:dLbls>
            <c:numFmt formatCode="0.0" sourceLinked="0"/>
            <c:txPr>
              <a:bodyPr/>
              <a:lstStyle/>
              <a:p>
                <a:pPr>
                  <a:defRPr b="0" i="0" strike="noStrike" sz="1200" u="none">
                    <a:solidFill>
                      <a:srgbClr val="172126"/>
                    </a:solidFill>
                    <a:latin typeface="+mn-lt"/>
                  </a:defRPr>
                </a:pPr>
              </a:p>
            </c:txPr>
            <c:showLegendKey val="0"/>
            <c:showVal val="1"/>
            <c:showCatName val="0"/>
            <c:showSerName val="0"/>
            <c:showPercent val="0"/>
            <c:showBubbleSize val="0"/>
            <c:showLeaderLines val="0"/>
          </c:dLbls>
          <c:cat>
            <c:multiLvlStrRef>
              <c:f>Sheet1!$A$2:$A$5</c:f>
              <c:multiLvlStrCache>
                <c:ptCount val="4"/>
                <c:lvl>
                  <c:pt idx="0">
                    <c:v>MPPI output</c:v>
                  </c:pt>
                  <c:pt idx="1">
                    <c:v>after velocity_smoother</c:v>
                  </c:pt>
                  <c:pt idx="2">
                    <c:v>after collision_monitor</c:v>
                  </c:pt>
                  <c:pt idx="3">
                    <c:v>into the wheels (/cmd_vel)</c:v>
                  </c:pt>
                </c:lvl>
              </c:multiLvlStrCache>
            </c:multiLvlStrRef>
          </c:cat>
          <c:val>
            <c:numRef>
              <c:f>Sheet1!$B$2:$B$5</c:f>
              <c:numCache>
                <c:formatCode>General</c:formatCode>
                <c:ptCount val="4"/>
                <c:pt idx="0">
                  <c:v>4.4</c:v>
                </c:pt>
                <c:pt idx="1">
                  <c:v>4.4</c:v>
                </c:pt>
                <c:pt idx="2">
                  <c:v>4.4</c:v>
                </c:pt>
                <c:pt idx="3">
                  <c:v>4.4</c:v>
                </c:pt>
              </c:numCache>
            </c:numRef>
          </c:val>
        </c:ser>
        <c:dLbls>
          <c:numFmt formatCode="0.0" sourceLinked="0"/>
          <c:txPr>
            <a:bodyPr/>
            <a:lstStyle/>
            <a:p>
              <a:pPr>
                <a:defRPr b="0" i="0" strike="noStrike" sz="1200" u="none">
                  <a:solidFill>
                    <a:srgbClr val="172126"/>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72126"/>
                </a:solidFill>
                <a:latin typeface="+mn-lt"/>
              </a:defRPr>
            </a:pPr>
            <a:endParaRPr lang="en-US"/>
          </a:p>
        </c:txPr>
        <c:crossAx val="2094734552"/>
        <c:crosses val="autoZero"/>
        <c:auto val="1"/>
        <c:lblAlgn val="ctr"/>
        <c:noMultiLvlLbl val="1"/>
      </c:catAx>
      <c:valAx>
        <c:axId val="2094734552"/>
        <c:scaling>
          <c:orientation val="minMax"/>
          <c:max val="120"/>
          <c:min val="0"/>
        </c:scaling>
        <c:delete val="0"/>
        <c:axPos val="b"/>
        <c:majorGridlines>
          <c:spPr>
            <a:ln w="9525" cap="flat">
              <a:solidFill>
                <a:srgbClr val="E3E7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2606A"/>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The photo is the robot in the lab, Aug 2026, UV lamp arm raised. Everything in this deck is read from the repository: code, launch files, parameter files, and the session handoffs that record what was measured on the robot.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Geometry: l1 0.403 m, l2 0.333 m, half-track d 0.15769 m, wheel radius 0.0762 m (firmware constants, aislebot_esp32.ino). The asymmetric layout is why the kinematics on slide 15 are not the textbook mecanum equations.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Solid band: starts at boot from systemd. Dashed band: started on demand, mapping from the dashboard MAP button, Nav2 by hand. Line colours: blue manual drive, orange autonomous drive, black the merged command to the wheels, green feedback and odometry, purple LiDAR and map, grey operator and control, dashed grey TF.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per wheel turn: front GTK08 encoders 1000 PPR x 4 x 46.566 gear ratio = 186,264; rear RMCS-2086 encoders 500 lines, so 93,132. The Pi starts 11 processes at boot (aislebot_full.launch.py); mapping and Nav2 add about 15 more when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from the firmware: the script reads the GPIO numbers and direction signs out of aislebot_esp32.ino, and the shifter channels out of Bench_Test_Map.md, and refuses to draw if they disagree. Encoders run at 5 V; the 8-channel BSS138 shifter brings them to 3.3 V. Driver inputs take 3.3 V logic directly. Front and rear encoders use different wire colours for A and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Master_Reference.md sections 2.5, 3.1 and 3.2 for the rails and ground bus; Hardware_Roadmap.md for the E-stop and the VIN fix, both listed there as not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systemd runs start_aislebot.sh, which sets ROS domain 42 and Cyclone DDS on loopback, waits for the USB devices, then launches aislebot_full.launch.py. Mapping starts from the dashboard MAP button. Nav2 is started by hand after the map is running; the other order makes the global costmap reject the map until one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these start at boot. twist_mux settings: config/twist_mux.yaml. Speed limits passed at launch: 0.15 m/s and 0.30 rad/s. The dashboard is one Python file: a FastAPI web server and a ROS node on its own thread.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odometry_publisher: lateral scale 0.92 corrects roller scrub when strafing (measured on the floor at the zero mark; 0.80 on another floor). The LiDAR sits at (0, 0.27, 0.275) m from base_link in the URDF.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scan_relay: the sensor reports bearing as 270 degrees minus the true bearing; the masked arc is -135 to -45 degrees, 107 beams, set to NaN so it neither marks nor clears. All ten of its parameters can be changed live from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Nav2 1.3.12. Parameters: src/mecanum_navigation/config/nav2_params.yaml. BackUp as a left strafe was read from the Nav2 source on 30 Sep and seen in the 1 Oct log (0.31 m to the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on the way to the wheels: controller or behavior server, velocity_smoother, collision_monitor, cmd_vel_axis_adapter, twist_mux. The adapter is last so that everything before it, the collision polygon included, works in the same axes as the footprint.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wins while it publishes and loses 0.5 s after the last message. Four watchdogs stack. The dashboard E-STOP zeroes the drive command, sends &lt;S&gt; to the ESP32 (latched in firmware), stops the arm, cancels any Nav2 goal and stops mapping.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FreeRTOS tasks: comms on core 0, PID on core 1 at 100 Hz with vTaskDelayUntil. Velocity is an EMA of encoder deltas, alpha 0.4. Feedforward was fitted in air, not under load. Trips: watchdog 750 ms, overspeed 1.3 x the 5.2 rad/s limit for 300 ms, runaway 500 ms, stall at PWM 250 or more with under 0.15 rad/s for 2 s. All gains can be changed over serial without reflashing.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Integration uses the Pi's arrival time for dt, at 20 Hz, from EMA-filtered wheel speeds. The published frame is rotated 90 degrees so +Y reads forward, to match the map's convention. The 0.229 m figure is from StageG_Deploy.md; on the same drive, odometry plus the scan matcher closed 0.706 m (next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LiDAR driver publishes BEST_EFFORT; slam_toolbox and the costmaps subscribe RELIABLE, so without scan_relay nothing arrives. TF: slam_toolbox owns map to odom, odometry_publisher owns odom to base_link, robot_state_publisher owns base_link to laser_frame.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system/slam_nodom_stageB.yaml (the file running on the robot, matched by hash), StageG_Deploy.md for the 0.229 m and 0.706 m closure and the ray-flip measurement, Project_Status.md for the mapping gate figures. Unknown-cell coverage is the open mapping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autonomous reaches the wheels without passing velocity_smoother and collision_monitor. Not started on purpose: route_server and opennav_docking (no route graph, no dock) and robot_localization (no IMU).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MPPI is a sampling-based model predictive controller. The weights favour following the path's direction (PathAlign 14) over everything else. gamma is 0.015. Acceleration limits in the committed file: 0.3 m/s² up, 0.5 down (x and y), 0.6 rad/s² in yaw. PathAngle and PreferForward critics were dropped because they assume +X is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10 s window, MPPI's mean output was 4.4, 5.1, 3.8 and 4.4 mm/s, and the same at every later stage. Peak motor PWM during the stall was about 29 of 255. The collision monitor changed state only during recoveries. Source: Session_Handoff_2026-10-01.md, Part 2. The live limit change is lost when Nav2 restarts; the repo file still says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Mapping figures are from 15 Sep (Project_Status.md); odometry from the 3 Sep Stage G drive; MPPI and planner from 1 Oct (Session_Handoff_2026-10-01.md).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Encoder frequency: 5.2 rad/s is 0.83 wheel turns per second; times the 46.566 gear ratio is 38.5 motor turns per second; times 1000 pulses per turn is 38.5 kHz on each of the A and B channels. The rear encoders, at 500 lines, see half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Dense on purpose: zoom in on the iPad. Every edge here was checked against the source; see docs/flowcharts/QA_2026-10-02.md. The red dashed line is a latent fault: teleop_asym also listens to /joy and could drive the wheels without going through twist_mux if a gamepad were plugged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72126"/>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13232"/>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437376"/>
            <a:ext cx="7315200" cy="274320"/>
          </a:xfrm>
          <a:prstGeom prst="rect">
            <a:avLst/>
          </a:prstGeom>
          <a:noFill/>
          <a:ln/>
        </p:spPr>
        <p:txBody>
          <a:bodyPr wrap="square" lIns="0" tIns="0" rIns="0" bIns="0" rtlCol="0" anchor="ctr"/>
          <a:lstStyle/>
          <a:p>
            <a:pPr indent="0" marL="0">
              <a:buNone/>
            </a:pPr>
            <a:r>
              <a:rPr lang="en-US" sz="1000" dirty="0">
                <a:solidFill>
                  <a:schemeClr val="tx2"/>
                </a:solidFill>
              </a:rPr>
              <a:t>NarrowAisleBot  |  ROS 2 architecture  |  October 2026</a:t>
            </a:r>
            <a:endParaRPr lang="en-US" sz="1000" dirty="0"/>
          </a:p>
        </p:txBody>
      </p:sp>
      <p:sp>
        <p:nvSpPr>
          <p:cNvPr id="25" name="Slide Number Placeholder 0"/>
          <p:cNvSpPr>
            <a:spLocks noGrp="1"/>
          </p:cNvSpPr>
          <p:nvPr>
            <p:ph type="sldNum" sz="quarter" idx="4294967295"/>
          </p:nvPr>
        </p:nvSpPr>
        <p:spPr>
          <a:xfrm>
            <a:off x="11094415"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user/NarrowAisleBot/docs/presentation/img/title_robot.jpg">    </p:cNvPr>
          <p:cNvPicPr>
            <a:picLocks noChangeAspect="1"/>
          </p:cNvPicPr>
          <p:nvPr/>
        </p:nvPicPr>
        <p:blipFill>
          <a:blip r:embed="rId1"/>
          <a:srcRect l="0" r="0" t="0" b="0"/>
          <a:stretch/>
        </p:blipFill>
        <p:spPr>
          <a:xfrm>
            <a:off x="9174175" y="0"/>
            <a:ext cx="3017520" cy="6858000"/>
          </a:xfrm>
          <a:prstGeom prst="rect">
            <a:avLst/>
          </a:prstGeom>
        </p:spPr>
      </p:pic>
      <p:sp>
        <p:nvSpPr>
          <p:cNvPr id="3" name="Text 0"/>
          <p:cNvSpPr txBox="1"/>
          <p:nvPr/>
        </p:nvSpPr>
        <p:spPr>
          <a:xfrm>
            <a:off x="640080" y="1463040"/>
            <a:ext cx="8046720" cy="868680"/>
          </a:xfrm>
          <a:prstGeom prst="rect">
            <a:avLst/>
          </a:prstGeom>
          <a:noFill/>
          <a:ln/>
        </p:spPr>
        <p:txBody>
          <a:bodyPr wrap="square" lIns="0" tIns="0" rIns="0" bIns="0" rtlCol="0" anchor="ctr"/>
          <a:lstStyle/>
          <a:p>
            <a:pPr indent="0" marL="0">
              <a:buNone/>
            </a:pPr>
            <a:r>
              <a:rPr lang="en-US" sz="4600" b="1" dirty="0">
                <a:solidFill>
                  <a:schemeClr val="bg1"/>
                </a:solidFill>
              </a:rPr>
              <a:t>NarrowAisleBot</a:t>
            </a:r>
            <a:endParaRPr lang="en-US" sz="4600" dirty="0"/>
          </a:p>
        </p:txBody>
      </p:sp>
      <p:sp>
        <p:nvSpPr>
          <p:cNvPr id="4" name="Text 1"/>
          <p:cNvSpPr txBox="1"/>
          <p:nvPr/>
        </p:nvSpPr>
        <p:spPr>
          <a:xfrm>
            <a:off x="640080" y="2423160"/>
            <a:ext cx="7863840" cy="1005840"/>
          </a:xfrm>
          <a:prstGeom prst="rect">
            <a:avLst/>
          </a:prstGeom>
          <a:noFill/>
          <a:ln/>
        </p:spPr>
        <p:txBody>
          <a:bodyPr wrap="square" lIns="0" tIns="0" rIns="0" bIns="0" rtlCol="0" anchor="t"/>
          <a:lstStyle/>
          <a:p>
            <a:pPr indent="0" marL="0">
              <a:buNone/>
            </a:pPr>
            <a:r>
              <a:rPr lang="en-US" sz="2400" dirty="0">
                <a:solidFill>
                  <a:schemeClr val="bg1"/>
                </a:solidFill>
              </a:rPr>
              <a:t>The ROS 2 software on the robot: every node, what it does, and why it is there</a:t>
            </a:r>
            <a:endParaRPr lang="en-US" sz="2400" dirty="0"/>
          </a:p>
        </p:txBody>
      </p:sp>
      <p:sp>
        <p:nvSpPr>
          <p:cNvPr id="5" name="Text 2"/>
          <p:cNvSpPr txBox="1"/>
          <p:nvPr/>
        </p:nvSpPr>
        <p:spPr>
          <a:xfrm>
            <a:off x="640080" y="3520440"/>
            <a:ext cx="7863840" cy="457200"/>
          </a:xfrm>
          <a:prstGeom prst="rect">
            <a:avLst/>
          </a:prstGeom>
          <a:noFill/>
          <a:ln/>
        </p:spPr>
        <p:txBody>
          <a:bodyPr wrap="square" lIns="0" tIns="0" rIns="0" bIns="0" rtlCol="0" anchor="ctr"/>
          <a:lstStyle/>
          <a:p>
            <a:pPr indent="0" marL="0">
              <a:buNone/>
            </a:pPr>
            <a:r>
              <a:rPr lang="en-US" sz="1700" dirty="0">
                <a:solidFill>
                  <a:srgbClr val="C9D3D6"/>
                </a:solidFill>
              </a:rPr>
              <a:t>With the current mapping (slam_toolbox), Nav2 and MPPI controller status</a:t>
            </a:r>
            <a:endParaRPr lang="en-US" sz="1700" dirty="0"/>
          </a:p>
        </p:txBody>
      </p:sp>
      <p:sp>
        <p:nvSpPr>
          <p:cNvPr id="6" name="Text 3"/>
          <p:cNvSpPr txBox="1"/>
          <p:nvPr/>
        </p:nvSpPr>
        <p:spPr>
          <a:xfrm>
            <a:off x="640080" y="4892040"/>
            <a:ext cx="7315200" cy="1097280"/>
          </a:xfrm>
          <a:prstGeom prst="rect">
            <a:avLst/>
          </a:prstGeom>
          <a:noFill/>
          <a:ln/>
        </p:spPr>
        <p:txBody>
          <a:bodyPr wrap="square" lIns="0" tIns="0" rIns="0" bIns="0" rtlCol="0" anchor="t"/>
          <a:lstStyle/>
          <a:p>
            <a:pPr indent="0" marL="0">
              <a:spcAft>
                <a:spcPts val="400"/>
              </a:spcAft>
              <a:buNone/>
            </a:pPr>
            <a:r>
              <a:rPr lang="en-US" sz="1500" b="1" dirty="0">
                <a:solidFill>
                  <a:schemeClr val="bg1"/>
                </a:solidFill>
              </a:rPr>
              <a:t>Aritra Das</a:t>
            </a:r>
            <a:endParaRPr lang="en-US" sz="1500" dirty="0"/>
          </a:p>
          <a:p>
            <a:pPr indent="0" marL="0">
              <a:spcAft>
                <a:spcPts val="400"/>
              </a:spcAft>
              <a:buNone/>
            </a:pPr>
            <a:r>
              <a:rPr lang="en-US" sz="1500" dirty="0">
                <a:solidFill>
                  <a:schemeClr val="bg1"/>
                </a:solidFill>
              </a:rPr>
              <a:t>IIT Bombay  |  October 2026</a:t>
            </a:r>
            <a:endParaRPr lang="en-US" sz="1500" dirty="0"/>
          </a:p>
          <a:p>
            <a:pPr indent="0" marL="0">
              <a:spcAft>
                <a:spcPts val="400"/>
              </a:spcAft>
              <a:buNone/>
            </a:pPr>
            <a:r>
              <a:rPr lang="en-US" sz="1500" dirty="0">
                <a:solidFill>
                  <a:srgbClr val="9FAEB4"/>
                </a:solidFill>
              </a:rPr>
              <a:t>Robot measurements as of 1 Oct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13232"/>
          </a:xfrm>
          <a:prstGeom prst="rect">
            <a:avLst/>
          </a:prstGeom>
          <a:noFill/>
          <a:ln/>
        </p:spPr>
        <p:txBody>
          <a:bodyPr wrap="square" lIns="0" tIns="0" rIns="0" bIns="0" rtlCol="0" anchor="ctr"/>
          <a:lstStyle/>
          <a:p>
            <a:pPr algn="l" indent="0" marL="0">
              <a:buNone/>
            </a:pPr>
            <a:r>
              <a:rPr lang="en-US" sz="3000" b="1" dirty="0">
                <a:solidFill>
                  <a:schemeClr val="tx1"/>
                </a:solidFill>
              </a:rPr>
              <a:t>What the robot is, and what the software has to do</a:t>
            </a:r>
            <a:endParaRPr lang="en-US" sz="3000" dirty="0"/>
          </a:p>
        </p:txBody>
      </p:sp>
      <p:pic>
        <p:nvPicPr>
          <p:cNvPr id="3" name="Image 0" descr="/home/user/NarrowAisleBot/docs/presentation/img/dims_schematic.png">    </p:cNvPr>
          <p:cNvPicPr>
            <a:picLocks noChangeAspect="1"/>
          </p:cNvPicPr>
          <p:nvPr/>
        </p:nvPicPr>
        <p:blipFill>
          <a:blip r:embed="rId1"/>
          <a:stretch>
            <a:fillRect/>
          </a:stretch>
        </p:blipFill>
        <p:spPr>
          <a:xfrm>
            <a:off x="548640" y="1325880"/>
            <a:ext cx="6035040" cy="2878250"/>
          </a:xfrm>
          <a:prstGeom prst="rect">
            <a:avLst/>
          </a:prstGeom>
        </p:spPr>
      </p:pic>
      <p:sp>
        <p:nvSpPr>
          <p:cNvPr id="4" name="Text 1"/>
          <p:cNvSpPr txBox="1"/>
          <p:nvPr/>
        </p:nvSpPr>
        <p:spPr>
          <a:xfrm>
            <a:off x="548640" y="4434840"/>
            <a:ext cx="6035040" cy="822960"/>
          </a:xfrm>
          <a:prstGeom prst="rect">
            <a:avLst/>
          </a:prstGeom>
          <a:noFill/>
          <a:ln/>
        </p:spPr>
        <p:txBody>
          <a:bodyPr wrap="square" lIns="0" tIns="0" rIns="0" bIns="0" rtlCol="0" anchor="t"/>
          <a:lstStyle/>
          <a:p>
            <a:pPr indent="0" marL="0">
              <a:buNone/>
            </a:pPr>
            <a:r>
              <a:rPr lang="en-US" sz="1300" dirty="0">
                <a:solidFill>
                  <a:schemeClr val="tx2"/>
                </a:solidFill>
              </a:rPr>
              <a:t>Wheel layout from the CAD model. Outer wheels (FR, RL) sit 403 mm from the centre, inner wheels (FL, RR) 333 mm. The chassis is 252 mm wide without wheels, about 360 mm across them.</a:t>
            </a:r>
            <a:endParaRPr lang="en-US" sz="1300" dirty="0"/>
          </a:p>
        </p:txBody>
      </p:sp>
      <p:sp>
        <p:nvSpPr>
          <p:cNvPr id="5" name="Text 2"/>
          <p:cNvSpPr txBox="1"/>
          <p:nvPr/>
        </p:nvSpPr>
        <p:spPr>
          <a:xfrm>
            <a:off x="6995160" y="1371600"/>
            <a:ext cx="4647895" cy="475488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Why the wheelbase is asymmetric</a:t>
            </a:r>
            <a:endParaRPr lang="en-US" sz="1500" dirty="0"/>
          </a:p>
          <a:p>
            <a:pPr indent="0" marL="0">
              <a:spcAft>
                <a:spcPts val="600"/>
              </a:spcAft>
              <a:buNone/>
            </a:pPr>
            <a:r>
              <a:rPr lang="en-US" sz="1500" dirty="0">
                <a:solidFill>
                  <a:schemeClr val="tx1"/>
                </a:solidFill>
              </a:rPr>
              <a:t>Staggering the wheel pairs lets the chassis be narrow enough for aisles a conventional mecanum platform cannot enter.</a:t>
            </a:r>
            <a:endParaRPr lang="en-US" sz="1500" dirty="0"/>
          </a:p>
          <a:p>
            <a:pPr indent="0" marL="0">
              <a:spcAft>
                <a:spcPts val="600"/>
              </a:spcAft>
              <a:buNone/>
            </a:pPr>
            <a:r>
              <a:rPr lang="en-US" sz="600" dirty="0">
                <a:solidFill>
                  <a:schemeClr val="tx1"/>
                </a:solidFill>
              </a:rPr>
              <a:t> </a:t>
            </a:r>
            <a:endParaRPr lang="en-US" sz="1500" dirty="0"/>
          </a:p>
          <a:p>
            <a:pPr indent="0" marL="0">
              <a:spcAft>
                <a:spcPts val="600"/>
              </a:spcAft>
              <a:buNone/>
            </a:pPr>
            <a:r>
              <a:rPr lang="en-US" sz="1500" b="1" dirty="0">
                <a:solidFill>
                  <a:schemeClr val="tx1"/>
                </a:solidFill>
              </a:rPr>
              <a:t>What the software must do</a:t>
            </a:r>
            <a:endParaRPr lang="en-US" sz="1500" dirty="0"/>
          </a:p>
          <a:p>
            <a:pPr indent="0" marL="0">
              <a:spcAft>
                <a:spcPts val="600"/>
              </a:spcAft>
              <a:buNone/>
            </a:pPr>
            <a:r>
              <a:rPr lang="en-US" sz="1500" dirty="0">
                <a:solidFill>
                  <a:schemeClr val="tx1"/>
                </a:solidFill>
              </a:rPr>
              <a:t>Drive in any direction, sideways and in reverse included, from a phone and on its own in unknown space, while carrying a UV lamp arm.</a:t>
            </a:r>
            <a:endParaRPr lang="en-US" sz="1500" dirty="0"/>
          </a:p>
          <a:p>
            <a:pPr indent="0" marL="0">
              <a:spcAft>
                <a:spcPts val="600"/>
              </a:spcAft>
              <a:buNone/>
            </a:pPr>
            <a:r>
              <a:rPr lang="en-US" sz="600" dirty="0">
                <a:solidFill>
                  <a:schemeClr val="tx1"/>
                </a:solidFill>
              </a:rPr>
              <a:t> </a:t>
            </a:r>
            <a:endParaRPr lang="en-US" sz="1500" dirty="0"/>
          </a:p>
          <a:p>
            <a:pPr indent="0" marL="0">
              <a:spcAft>
                <a:spcPts val="600"/>
              </a:spcAft>
              <a:buNone/>
            </a:pPr>
            <a:r>
              <a:rPr lang="en-US" sz="1500" b="1" dirty="0">
                <a:solidFill>
                  <a:schemeClr val="tx1"/>
                </a:solidFill>
              </a:rPr>
              <a:t>How the work is split</a:t>
            </a:r>
            <a:endParaRPr lang="en-US" sz="1500" dirty="0"/>
          </a:p>
          <a:p>
            <a:pPr indent="0" marL="0">
              <a:spcAft>
                <a:spcPts val="600"/>
              </a:spcAft>
              <a:buNone/>
            </a:pPr>
            <a:r>
              <a:rPr lang="en-US" sz="1500" dirty="0">
                <a:solidFill>
                  <a:schemeClr val="tx1"/>
                </a:solidFill>
              </a:rPr>
              <a:t>A 100 Hz wheel-speed loop on an ESP32, the arm on an Arduino Mega, and everything else as ROS 2 nodes on a Raspberry Pi 5.</a:t>
            </a:r>
            <a:endParaRPr lang="en-US" sz="1500" dirty="0"/>
          </a:p>
        </p:txBody>
      </p:sp>
      <p:sp>
        <p:nvSpPr>
          <p:cNvPr id="25" name="Slide Number Placeholder 0"/>
          <p:cNvSpPr>
            <a:spLocks noGrp="1"/>
          </p:cNvSpPr>
          <p:nvPr>
            <p:ph type="sldNum" sz="quarter" idx="4294967295"/>
          </p:nvPr>
        </p:nvSpPr>
        <p:spPr>
          <a:xfrm>
            <a:off x="11094415"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13232"/>
          </a:xfrm>
          <a:prstGeom prst="rect">
            <a:avLst/>
          </a:prstGeom>
          <a:noFill/>
          <a:ln/>
        </p:spPr>
        <p:txBody>
          <a:bodyPr wrap="square" lIns="0" tIns="0" rIns="0" bIns="0" rtlCol="0" anchor="ctr"/>
          <a:lstStyle/>
          <a:p>
            <a:pPr algn="l" indent="0" marL="0">
              <a:buNone/>
            </a:pPr>
            <a:r>
              <a:rPr lang="en-US" sz="3000" b="1" dirty="0">
                <a:solidFill>
                  <a:schemeClr val="tx1"/>
                </a:solidFill>
              </a:rPr>
              <a:t>The whole system on one page</a:t>
            </a:r>
            <a:endParaRPr lang="en-US" sz="3000" dirty="0"/>
          </a:p>
        </p:txBody>
      </p:sp>
      <p:pic>
        <p:nvPicPr>
          <p:cNvPr id="3" name="Image 0" descr="/home/user/NarrowAisleBot/docs/flowcharts/png/s1_system_overview_slide.png">    </p:cNvPr>
          <p:cNvPicPr>
            <a:picLocks noChangeAspect="1"/>
          </p:cNvPicPr>
          <p:nvPr/>
        </p:nvPicPr>
        <p:blipFill>
          <a:blip r:embed="rId1"/>
          <a:stretch>
            <a:fillRect/>
          </a:stretch>
        </p:blipFill>
        <p:spPr>
          <a:xfrm>
            <a:off x="1503528" y="1097280"/>
            <a:ext cx="9184640" cy="5166360"/>
          </a:xfrm>
          <a:prstGeom prst="rect">
            <a:avLst/>
          </a:prstGeom>
        </p:spPr>
      </p:pic>
      <p:sp>
        <p:nvSpPr>
          <p:cNvPr id="25" name="Slide Number Placeholder 0"/>
          <p:cNvSpPr>
            <a:spLocks noGrp="1"/>
          </p:cNvSpPr>
          <p:nvPr>
            <p:ph type="sldNum" sz="quarter" idx="4294967295"/>
          </p:nvPr>
        </p:nvSpPr>
        <p:spPr>
          <a:xfrm>
            <a:off x="11094415"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13232"/>
          </a:xfrm>
          <a:prstGeom prst="rect">
            <a:avLst/>
          </a:prstGeom>
          <a:noFill/>
          <a:ln/>
        </p:spPr>
        <p:txBody>
          <a:bodyPr wrap="square" lIns="0" tIns="0" rIns="0" bIns="0" rtlCol="0" anchor="ctr"/>
          <a:lstStyle/>
          <a:p>
            <a:pPr algn="l" indent="0" marL="0">
              <a:buNone/>
            </a:pPr>
            <a:r>
              <a:rPr lang="en-US" sz="3000" b="1" dirty="0">
                <a:solidFill>
                  <a:schemeClr val="tx1"/>
                </a:solidFill>
              </a:rPr>
              <a:t>Three computers, each with one job</a:t>
            </a:r>
            <a:endParaRPr lang="en-US" sz="3000" dirty="0"/>
          </a:p>
        </p:txBody>
      </p:sp>
      <p:sp>
        <p:nvSpPr>
          <p:cNvPr id="3" name="Shape 1"/>
          <p:cNvSpPr/>
          <p:nvPr/>
        </p:nvSpPr>
        <p:spPr>
          <a:xfrm>
            <a:off x="548640" y="1234440"/>
            <a:ext cx="3515258" cy="4983480"/>
          </a:xfrm>
          <a:prstGeom prst="rect">
            <a:avLst/>
          </a:prstGeom>
          <a:solidFill>
            <a:schemeClr val="bg2"/>
          </a:solidFill>
          <a:ln w="12700">
            <a:solidFill>
              <a:schemeClr val="bg2"/>
            </a:solidFill>
            <a:prstDash val="solid"/>
          </a:ln>
        </p:spPr>
      </p:sp>
      <p:sp>
        <p:nvSpPr>
          <p:cNvPr id="4" name="Text 2"/>
          <p:cNvSpPr txBox="1"/>
          <p:nvPr/>
        </p:nvSpPr>
        <p:spPr>
          <a:xfrm>
            <a:off x="822960" y="1490472"/>
            <a:ext cx="2966618" cy="411480"/>
          </a:xfrm>
          <a:prstGeom prst="rect">
            <a:avLst/>
          </a:prstGeom>
          <a:noFill/>
          <a:ln/>
        </p:spPr>
        <p:txBody>
          <a:bodyPr wrap="square" lIns="0" tIns="0" rIns="0" bIns="0" rtlCol="0" anchor="ctr"/>
          <a:lstStyle/>
          <a:p>
            <a:pPr indent="0" marL="0">
              <a:buNone/>
            </a:pPr>
            <a:r>
              <a:rPr lang="en-US" sz="2000" b="1" dirty="0">
                <a:solidFill>
                  <a:schemeClr val="tx1"/>
                </a:solidFill>
              </a:rPr>
              <a:t>Raspberry Pi 5</a:t>
            </a:r>
            <a:endParaRPr lang="en-US" sz="2000" dirty="0"/>
          </a:p>
        </p:txBody>
      </p:sp>
      <p:sp>
        <p:nvSpPr>
          <p:cNvPr id="5" name="Text 3"/>
          <p:cNvSpPr txBox="1"/>
          <p:nvPr/>
        </p:nvSpPr>
        <p:spPr>
          <a:xfrm>
            <a:off x="822960" y="1892808"/>
            <a:ext cx="2966618" cy="320040"/>
          </a:xfrm>
          <a:prstGeom prst="rect">
            <a:avLst/>
          </a:prstGeom>
          <a:noFill/>
          <a:ln/>
        </p:spPr>
        <p:txBody>
          <a:bodyPr wrap="square" lIns="0" tIns="0" rIns="0" bIns="0" rtlCol="0" anchor="ctr"/>
          <a:lstStyle/>
          <a:p>
            <a:pPr indent="0" marL="0">
              <a:buNone/>
            </a:pPr>
            <a:r>
              <a:rPr lang="en-US" sz="1300" dirty="0">
                <a:solidFill>
                  <a:schemeClr val="tx2"/>
                </a:solidFill>
              </a:rPr>
              <a:t>Ubuntu 24.04, ROS 2 Jazzy</a:t>
            </a:r>
            <a:endParaRPr lang="en-US" sz="1300" dirty="0"/>
          </a:p>
        </p:txBody>
      </p:sp>
      <p:sp>
        <p:nvSpPr>
          <p:cNvPr id="6" name="Text 4"/>
          <p:cNvSpPr txBox="1"/>
          <p:nvPr/>
        </p:nvSpPr>
        <p:spPr>
          <a:xfrm>
            <a:off x="822960" y="2331720"/>
            <a:ext cx="2966618" cy="777240"/>
          </a:xfrm>
          <a:prstGeom prst="rect">
            <a:avLst/>
          </a:prstGeom>
          <a:noFill/>
          <a:ln/>
        </p:spPr>
        <p:txBody>
          <a:bodyPr wrap="square" lIns="0" tIns="0" rIns="0" bIns="0" rtlCol="0" anchor="ctr"/>
          <a:lstStyle/>
          <a:p>
            <a:pPr indent="0" marL="0">
              <a:buNone/>
            </a:pPr>
            <a:r>
              <a:rPr lang="en-US" sz="4400" b="1" dirty="0">
                <a:solidFill>
                  <a:schemeClr val="accent1"/>
                </a:solidFill>
              </a:rPr>
              <a:t>11</a:t>
            </a:r>
            <a:endParaRPr lang="en-US" sz="4400" dirty="0"/>
          </a:p>
        </p:txBody>
      </p:sp>
      <p:sp>
        <p:nvSpPr>
          <p:cNvPr id="7" name="Text 5"/>
          <p:cNvSpPr txBox="1"/>
          <p:nvPr/>
        </p:nvSpPr>
        <p:spPr>
          <a:xfrm>
            <a:off x="822960" y="3081528"/>
            <a:ext cx="2966618" cy="320040"/>
          </a:xfrm>
          <a:prstGeom prst="rect">
            <a:avLst/>
          </a:prstGeom>
          <a:noFill/>
          <a:ln/>
        </p:spPr>
        <p:txBody>
          <a:bodyPr wrap="square" lIns="0" tIns="0" rIns="0" bIns="0" rtlCol="0" anchor="ctr"/>
          <a:lstStyle/>
          <a:p>
            <a:pPr indent="0" marL="0">
              <a:buNone/>
            </a:pPr>
            <a:r>
              <a:rPr lang="en-US" sz="1300" dirty="0">
                <a:solidFill>
                  <a:schemeClr val="tx2"/>
                </a:solidFill>
              </a:rPr>
              <a:t>processes at boot, more on demand</a:t>
            </a:r>
            <a:endParaRPr lang="en-US" sz="1300" dirty="0"/>
          </a:p>
        </p:txBody>
      </p:sp>
      <p:sp>
        <p:nvSpPr>
          <p:cNvPr id="8" name="Text 6"/>
          <p:cNvSpPr txBox="1"/>
          <p:nvPr/>
        </p:nvSpPr>
        <p:spPr>
          <a:xfrm>
            <a:off x="822960" y="3566160"/>
            <a:ext cx="2966618" cy="16002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Operator interface, kinematics, odometry, mapping and planning</a:t>
            </a:r>
            <a:endParaRPr lang="en-US" sz="1300" dirty="0"/>
          </a:p>
          <a:p>
            <a:pPr marL="342900" indent="-342900">
              <a:spcAft>
                <a:spcPts val="500"/>
              </a:spcAft>
              <a:buSzPct val="100000"/>
              <a:buChar char="•"/>
            </a:pPr>
            <a:r>
              <a:rPr lang="en-US" sz="1300" dirty="0">
                <a:solidFill>
                  <a:schemeClr val="tx1"/>
                </a:solidFill>
              </a:rPr>
              <a:t>Runs its own Wi-Fi access point for the phone</a:t>
            </a:r>
            <a:endParaRPr lang="en-US" sz="1300" dirty="0"/>
          </a:p>
          <a:p>
            <a:pPr marL="342900" indent="-342900">
              <a:spcAft>
                <a:spcPts val="500"/>
              </a:spcAft>
              <a:buSzPct val="100000"/>
              <a:buChar char="•"/>
            </a:pPr>
            <a:r>
              <a:rPr lang="en-US" sz="1300" dirty="0">
                <a:solidFill>
                  <a:schemeClr val="tx1"/>
                </a:solidFill>
              </a:rPr>
              <a:t>Talks to both microcontrollers over USB serial</a:t>
            </a:r>
            <a:endParaRPr lang="en-US" sz="1300" dirty="0"/>
          </a:p>
        </p:txBody>
      </p:sp>
      <p:sp>
        <p:nvSpPr>
          <p:cNvPr id="9" name="Text 7"/>
          <p:cNvSpPr txBox="1"/>
          <p:nvPr/>
        </p:nvSpPr>
        <p:spPr>
          <a:xfrm>
            <a:off x="822960" y="5212080"/>
            <a:ext cx="2966618" cy="777240"/>
          </a:xfrm>
          <a:prstGeom prst="rect">
            <a:avLst/>
          </a:prstGeom>
          <a:noFill/>
          <a:ln/>
        </p:spPr>
        <p:txBody>
          <a:bodyPr wrap="square" lIns="0" tIns="0" rIns="0" bIns="0" rtlCol="0" anchor="t"/>
          <a:lstStyle/>
          <a:p>
            <a:pPr indent="0" marL="0">
              <a:buNone/>
            </a:pPr>
            <a:r>
              <a:rPr lang="en-US" sz="1300" b="1" dirty="0">
                <a:solidFill>
                  <a:schemeClr val="tx1"/>
                </a:solidFill>
              </a:rPr>
              <a:t>Why: </a:t>
            </a:r>
            <a:pPr indent="0" marL="0">
              <a:buNone/>
            </a:pPr>
            <a:r>
              <a:rPr lang="en-US" sz="1300" dirty="0">
                <a:solidFill>
                  <a:schemeClr val="tx1"/>
                </a:solidFill>
              </a:rPr>
              <a:t>Gives the libraries (Nav2, slam_toolbox) but cannot promise a 10 ms loop.</a:t>
            </a:r>
            <a:endParaRPr lang="en-US" sz="1300" dirty="0"/>
          </a:p>
        </p:txBody>
      </p:sp>
      <p:sp>
        <p:nvSpPr>
          <p:cNvPr id="10" name="Shape 8"/>
          <p:cNvSpPr/>
          <p:nvPr/>
        </p:nvSpPr>
        <p:spPr>
          <a:xfrm>
            <a:off x="4338218" y="1234440"/>
            <a:ext cx="3515258" cy="4983480"/>
          </a:xfrm>
          <a:prstGeom prst="rect">
            <a:avLst/>
          </a:prstGeom>
          <a:solidFill>
            <a:schemeClr val="bg2"/>
          </a:solidFill>
          <a:ln w="12700">
            <a:solidFill>
              <a:schemeClr val="bg2"/>
            </a:solidFill>
            <a:prstDash val="solid"/>
          </a:ln>
        </p:spPr>
      </p:sp>
      <p:sp>
        <p:nvSpPr>
          <p:cNvPr id="11" name="Text 9"/>
          <p:cNvSpPr txBox="1"/>
          <p:nvPr/>
        </p:nvSpPr>
        <p:spPr>
          <a:xfrm>
            <a:off x="4612538" y="1490472"/>
            <a:ext cx="2966618" cy="411480"/>
          </a:xfrm>
          <a:prstGeom prst="rect">
            <a:avLst/>
          </a:prstGeom>
          <a:noFill/>
          <a:ln/>
        </p:spPr>
        <p:txBody>
          <a:bodyPr wrap="square" lIns="0" tIns="0" rIns="0" bIns="0" rtlCol="0" anchor="ctr"/>
          <a:lstStyle/>
          <a:p>
            <a:pPr indent="0" marL="0">
              <a:buNone/>
            </a:pPr>
            <a:r>
              <a:rPr lang="en-US" sz="2000" b="1" dirty="0">
                <a:solidFill>
                  <a:schemeClr val="tx1"/>
                </a:solidFill>
              </a:rPr>
              <a:t>ESP32-WROOM-32</a:t>
            </a:r>
            <a:endParaRPr lang="en-US" sz="2000" dirty="0"/>
          </a:p>
        </p:txBody>
      </p:sp>
      <p:sp>
        <p:nvSpPr>
          <p:cNvPr id="12" name="Text 10"/>
          <p:cNvSpPr txBox="1"/>
          <p:nvPr/>
        </p:nvSpPr>
        <p:spPr>
          <a:xfrm>
            <a:off x="4612538" y="1892808"/>
            <a:ext cx="2966618" cy="320040"/>
          </a:xfrm>
          <a:prstGeom prst="rect">
            <a:avLst/>
          </a:prstGeom>
          <a:noFill/>
          <a:ln/>
        </p:spPr>
        <p:txBody>
          <a:bodyPr wrap="square" lIns="0" tIns="0" rIns="0" bIns="0" rtlCol="0" anchor="ctr"/>
          <a:lstStyle/>
          <a:p>
            <a:pPr indent="0" marL="0">
              <a:buNone/>
            </a:pPr>
            <a:r>
              <a:rPr lang="en-US" sz="1300" dirty="0">
                <a:solidFill>
                  <a:schemeClr val="tx2"/>
                </a:solidFill>
              </a:rPr>
              <a:t>Drive controller, firmware v3.0</a:t>
            </a:r>
            <a:endParaRPr lang="en-US" sz="1300" dirty="0"/>
          </a:p>
        </p:txBody>
      </p:sp>
      <p:sp>
        <p:nvSpPr>
          <p:cNvPr id="13" name="Text 11"/>
          <p:cNvSpPr txBox="1"/>
          <p:nvPr/>
        </p:nvSpPr>
        <p:spPr>
          <a:xfrm>
            <a:off x="4612538" y="2331720"/>
            <a:ext cx="2966618" cy="777240"/>
          </a:xfrm>
          <a:prstGeom prst="rect">
            <a:avLst/>
          </a:prstGeom>
          <a:noFill/>
          <a:ln/>
        </p:spPr>
        <p:txBody>
          <a:bodyPr wrap="square" lIns="0" tIns="0" rIns="0" bIns="0" rtlCol="0" anchor="ctr"/>
          <a:lstStyle/>
          <a:p>
            <a:pPr indent="0" marL="0">
              <a:buNone/>
            </a:pPr>
            <a:r>
              <a:rPr lang="en-US" sz="4400" b="1" dirty="0">
                <a:solidFill>
                  <a:schemeClr val="accent1"/>
                </a:solidFill>
              </a:rPr>
              <a:t>100 Hz</a:t>
            </a:r>
            <a:endParaRPr lang="en-US" sz="4400" dirty="0"/>
          </a:p>
        </p:txBody>
      </p:sp>
      <p:sp>
        <p:nvSpPr>
          <p:cNvPr id="14" name="Text 12"/>
          <p:cNvSpPr txBox="1"/>
          <p:nvPr/>
        </p:nvSpPr>
        <p:spPr>
          <a:xfrm>
            <a:off x="4612538" y="3081528"/>
            <a:ext cx="2966618" cy="320040"/>
          </a:xfrm>
          <a:prstGeom prst="rect">
            <a:avLst/>
          </a:prstGeom>
          <a:noFill/>
          <a:ln/>
        </p:spPr>
        <p:txBody>
          <a:bodyPr wrap="square" lIns="0" tIns="0" rIns="0" bIns="0" rtlCol="0" anchor="ctr"/>
          <a:lstStyle/>
          <a:p>
            <a:pPr indent="0" marL="0">
              <a:buNone/>
            </a:pPr>
            <a:r>
              <a:rPr lang="en-US" sz="1300" dirty="0">
                <a:solidFill>
                  <a:schemeClr val="tx2"/>
                </a:solidFill>
              </a:rPr>
              <a:t>wheel-speed PID on four motors</a:t>
            </a:r>
            <a:endParaRPr lang="en-US" sz="1300" dirty="0"/>
          </a:p>
        </p:txBody>
      </p:sp>
      <p:sp>
        <p:nvSpPr>
          <p:cNvPr id="15" name="Text 13"/>
          <p:cNvSpPr txBox="1"/>
          <p:nvPr/>
        </p:nvSpPr>
        <p:spPr>
          <a:xfrm>
            <a:off x="4612538" y="3566160"/>
            <a:ext cx="2966618" cy="16002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Counts encoders in hardware (PCNT), 186,264 counts per front wheel turn</a:t>
            </a:r>
            <a:endParaRPr lang="en-US" sz="1300" dirty="0"/>
          </a:p>
          <a:p>
            <a:pPr marL="342900" indent="-342900">
              <a:spcAft>
                <a:spcPts val="500"/>
              </a:spcAft>
              <a:buSzPct val="100000"/>
              <a:buChar char="•"/>
            </a:pPr>
            <a:r>
              <a:rPr lang="en-US" sz="1300" dirty="0">
                <a:solidFill>
                  <a:schemeClr val="tx1"/>
                </a:solidFill>
              </a:rPr>
              <a:t>Latching E-STOP; overspeed, runaway and stall trips</a:t>
            </a:r>
            <a:endParaRPr lang="en-US" sz="1300" dirty="0"/>
          </a:p>
          <a:p>
            <a:pPr marL="342900" indent="-342900">
              <a:spcAft>
                <a:spcPts val="500"/>
              </a:spcAft>
              <a:buSzPct val="100000"/>
              <a:buChar char="•"/>
            </a:pPr>
            <a:r>
              <a:rPr lang="en-US" sz="1300" dirty="0">
                <a:solidFill>
                  <a:schemeClr val="tx1"/>
                </a:solidFill>
              </a:rPr>
              <a:t>921,600 baud link to the Pi</a:t>
            </a:r>
            <a:endParaRPr lang="en-US" sz="1300" dirty="0"/>
          </a:p>
        </p:txBody>
      </p:sp>
      <p:sp>
        <p:nvSpPr>
          <p:cNvPr id="16" name="Text 14"/>
          <p:cNvSpPr txBox="1"/>
          <p:nvPr/>
        </p:nvSpPr>
        <p:spPr>
          <a:xfrm>
            <a:off x="4612538" y="5212080"/>
            <a:ext cx="2966618" cy="777240"/>
          </a:xfrm>
          <a:prstGeom prst="rect">
            <a:avLst/>
          </a:prstGeom>
          <a:noFill/>
          <a:ln/>
        </p:spPr>
        <p:txBody>
          <a:bodyPr wrap="square" lIns="0" tIns="0" rIns="0" bIns="0" rtlCol="0" anchor="t"/>
          <a:lstStyle/>
          <a:p>
            <a:pPr indent="0" marL="0">
              <a:buNone/>
            </a:pPr>
            <a:r>
              <a:rPr lang="en-US" sz="1300" b="1" dirty="0">
                <a:solidFill>
                  <a:schemeClr val="tx1"/>
                </a:solidFill>
              </a:rPr>
              <a:t>Why: </a:t>
            </a:r>
            <a:pPr indent="0" marL="0">
              <a:buNone/>
            </a:pPr>
            <a:r>
              <a:rPr lang="en-US" sz="1300" dirty="0">
                <a:solidFill>
                  <a:schemeClr val="tx1"/>
                </a:solidFill>
              </a:rPr>
              <a:t>Timing and safety that do not depend on Linux being responsive.</a:t>
            </a:r>
            <a:endParaRPr lang="en-US" sz="1300" dirty="0"/>
          </a:p>
        </p:txBody>
      </p:sp>
      <p:sp>
        <p:nvSpPr>
          <p:cNvPr id="17" name="Shape 15"/>
          <p:cNvSpPr/>
          <p:nvPr/>
        </p:nvSpPr>
        <p:spPr>
          <a:xfrm>
            <a:off x="8127797" y="1234440"/>
            <a:ext cx="3515258" cy="4983480"/>
          </a:xfrm>
          <a:prstGeom prst="rect">
            <a:avLst/>
          </a:prstGeom>
          <a:solidFill>
            <a:schemeClr val="bg2"/>
          </a:solidFill>
          <a:ln w="12700">
            <a:solidFill>
              <a:schemeClr val="bg2"/>
            </a:solidFill>
            <a:prstDash val="solid"/>
          </a:ln>
        </p:spPr>
      </p:sp>
      <p:sp>
        <p:nvSpPr>
          <p:cNvPr id="18" name="Text 16"/>
          <p:cNvSpPr txBox="1"/>
          <p:nvPr/>
        </p:nvSpPr>
        <p:spPr>
          <a:xfrm>
            <a:off x="8402117" y="1490472"/>
            <a:ext cx="2966618" cy="411480"/>
          </a:xfrm>
          <a:prstGeom prst="rect">
            <a:avLst/>
          </a:prstGeom>
          <a:noFill/>
          <a:ln/>
        </p:spPr>
        <p:txBody>
          <a:bodyPr wrap="square" lIns="0" tIns="0" rIns="0" bIns="0" rtlCol="0" anchor="ctr"/>
          <a:lstStyle/>
          <a:p>
            <a:pPr indent="0" marL="0">
              <a:buNone/>
            </a:pPr>
            <a:r>
              <a:rPr lang="en-US" sz="2000" b="1" dirty="0">
                <a:solidFill>
                  <a:schemeClr val="tx1"/>
                </a:solidFill>
              </a:rPr>
              <a:t>Arduino Mega 2560</a:t>
            </a:r>
            <a:endParaRPr lang="en-US" sz="2000" dirty="0"/>
          </a:p>
        </p:txBody>
      </p:sp>
      <p:sp>
        <p:nvSpPr>
          <p:cNvPr id="19" name="Text 17"/>
          <p:cNvSpPr txBox="1"/>
          <p:nvPr/>
        </p:nvSpPr>
        <p:spPr>
          <a:xfrm>
            <a:off x="8402117" y="1892808"/>
            <a:ext cx="2966618" cy="320040"/>
          </a:xfrm>
          <a:prstGeom prst="rect">
            <a:avLst/>
          </a:prstGeom>
          <a:noFill/>
          <a:ln/>
        </p:spPr>
        <p:txBody>
          <a:bodyPr wrap="square" lIns="0" tIns="0" rIns="0" bIns="0" rtlCol="0" anchor="ctr"/>
          <a:lstStyle/>
          <a:p>
            <a:pPr indent="0" marL="0">
              <a:buNone/>
            </a:pPr>
            <a:r>
              <a:rPr lang="en-US" sz="1300" dirty="0">
                <a:solidFill>
                  <a:schemeClr val="tx2"/>
                </a:solidFill>
              </a:rPr>
              <a:t>Arm and UV controller, firmware v8</a:t>
            </a:r>
            <a:endParaRPr lang="en-US" sz="1300" dirty="0"/>
          </a:p>
        </p:txBody>
      </p:sp>
      <p:sp>
        <p:nvSpPr>
          <p:cNvPr id="20" name="Text 18"/>
          <p:cNvSpPr txBox="1"/>
          <p:nvPr/>
        </p:nvSpPr>
        <p:spPr>
          <a:xfrm>
            <a:off x="8402117" y="2331720"/>
            <a:ext cx="2966618" cy="777240"/>
          </a:xfrm>
          <a:prstGeom prst="rect">
            <a:avLst/>
          </a:prstGeom>
          <a:noFill/>
          <a:ln/>
        </p:spPr>
        <p:txBody>
          <a:bodyPr wrap="square" lIns="0" tIns="0" rIns="0" bIns="0" rtlCol="0" anchor="ctr"/>
          <a:lstStyle/>
          <a:p>
            <a:pPr indent="0" marL="0">
              <a:buNone/>
            </a:pPr>
            <a:r>
              <a:rPr lang="en-US" sz="4400" b="1" dirty="0">
                <a:solidFill>
                  <a:schemeClr val="accent1"/>
                </a:solidFill>
              </a:rPr>
              <a:t>3</a:t>
            </a:r>
            <a:endParaRPr lang="en-US" sz="4400" dirty="0"/>
          </a:p>
        </p:txBody>
      </p:sp>
      <p:sp>
        <p:nvSpPr>
          <p:cNvPr id="21" name="Text 19"/>
          <p:cNvSpPr txBox="1"/>
          <p:nvPr/>
        </p:nvSpPr>
        <p:spPr>
          <a:xfrm>
            <a:off x="8402117" y="3081528"/>
            <a:ext cx="2966618" cy="320040"/>
          </a:xfrm>
          <a:prstGeom prst="rect">
            <a:avLst/>
          </a:prstGeom>
          <a:noFill/>
          <a:ln/>
        </p:spPr>
        <p:txBody>
          <a:bodyPr wrap="square" lIns="0" tIns="0" rIns="0" bIns="0" rtlCol="0" anchor="ctr"/>
          <a:lstStyle/>
          <a:p>
            <a:pPr indent="0" marL="0">
              <a:buNone/>
            </a:pPr>
            <a:r>
              <a:rPr lang="en-US" sz="1300" dirty="0">
                <a:solidFill>
                  <a:schemeClr val="tx2"/>
                </a:solidFill>
              </a:rPr>
              <a:t>stepper axes: two arms and a lift</a:t>
            </a:r>
            <a:endParaRPr lang="en-US" sz="1300" dirty="0"/>
          </a:p>
        </p:txBody>
      </p:sp>
      <p:sp>
        <p:nvSpPr>
          <p:cNvPr id="22" name="Text 20"/>
          <p:cNvSpPr txBox="1"/>
          <p:nvPr/>
        </p:nvSpPr>
        <p:spPr>
          <a:xfrm>
            <a:off x="8402117" y="3566160"/>
            <a:ext cx="2966618" cy="16002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Three UV tubes on relays, switched on in stages</a:t>
            </a:r>
            <a:endParaRPr lang="en-US" sz="1300" dirty="0"/>
          </a:p>
          <a:p>
            <a:pPr marL="342900" indent="-342900">
              <a:spcAft>
                <a:spcPts val="500"/>
              </a:spcAft>
              <a:buSzPct val="100000"/>
              <a:buChar char="•"/>
            </a:pPr>
            <a:r>
              <a:rPr lang="en-US" sz="1300" dirty="0">
                <a:solidFill>
                  <a:schemeClr val="tx1"/>
                </a:solidFill>
              </a:rPr>
              <a:t>500 ms watchdog on arm motion</a:t>
            </a:r>
            <a:endParaRPr lang="en-US" sz="1300" dirty="0"/>
          </a:p>
          <a:p>
            <a:pPr marL="342900" indent="-342900">
              <a:spcAft>
                <a:spcPts val="500"/>
              </a:spcAft>
              <a:buSzPct val="100000"/>
              <a:buChar char="•"/>
            </a:pPr>
            <a:r>
              <a:rPr lang="en-US" sz="1300" dirty="0">
                <a:solidFill>
                  <a:schemeClr val="tx1"/>
                </a:solidFill>
              </a:rPr>
              <a:t>115,200 baud link to the Pi</a:t>
            </a:r>
            <a:endParaRPr lang="en-US" sz="1300" dirty="0"/>
          </a:p>
        </p:txBody>
      </p:sp>
      <p:sp>
        <p:nvSpPr>
          <p:cNvPr id="23" name="Text 21"/>
          <p:cNvSpPr txBox="1"/>
          <p:nvPr/>
        </p:nvSpPr>
        <p:spPr>
          <a:xfrm>
            <a:off x="8402117" y="5212080"/>
            <a:ext cx="2966618" cy="777240"/>
          </a:xfrm>
          <a:prstGeom prst="rect">
            <a:avLst/>
          </a:prstGeom>
          <a:noFill/>
          <a:ln/>
        </p:spPr>
        <p:txBody>
          <a:bodyPr wrap="square" lIns="0" tIns="0" rIns="0" bIns="0" rtlCol="0" anchor="t"/>
          <a:lstStyle/>
          <a:p>
            <a:pPr indent="0" marL="0">
              <a:buNone/>
            </a:pPr>
            <a:r>
              <a:rPr lang="en-US" sz="1300" b="1" dirty="0">
                <a:solidFill>
                  <a:schemeClr val="tx1"/>
                </a:solidFill>
              </a:rPr>
              <a:t>Why: </a:t>
            </a:r>
            <a:pPr indent="0" marL="0">
              <a:buNone/>
            </a:pPr>
            <a:r>
              <a:rPr lang="en-US" sz="1300" dirty="0">
                <a:solidFill>
                  <a:schemeClr val="tx1"/>
                </a:solidFill>
              </a:rPr>
              <a:t>Step pulses and relay switching stay off the Pi.</a:t>
            </a:r>
            <a:endParaRPr lang="en-US" sz="1300" dirty="0"/>
          </a:p>
        </p:txBody>
      </p:sp>
      <p:sp>
        <p:nvSpPr>
          <p:cNvPr id="25" name="Slide Number Placeholder 0"/>
          <p:cNvSpPr>
            <a:spLocks noGrp="1"/>
          </p:cNvSpPr>
          <p:nvPr>
            <p:ph type="sldNum" sz="quarter" idx="4294967295"/>
          </p:nvPr>
        </p:nvSpPr>
        <p:spPr>
          <a:xfrm>
            <a:off x="11094415"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13232"/>
          </a:xfrm>
          <a:prstGeom prst="rect">
            <a:avLst/>
          </a:prstGeom>
          <a:noFill/>
          <a:ln/>
        </p:spPr>
        <p:txBody>
          <a:bodyPr wrap="square" lIns="0" tIns="0" rIns="0" bIns="0" rtlCol="0" anchor="ctr"/>
          <a:lstStyle/>
          <a:p>
            <a:pPr algn="l" indent="0" marL="0">
              <a:buNone/>
            </a:pPr>
            <a:r>
              <a:rPr lang="en-US" sz="3000" b="1" dirty="0">
                <a:solidFill>
                  <a:schemeClr val="tx1"/>
                </a:solidFill>
              </a:rPr>
              <a:t>How the ESP32 is wired</a:t>
            </a:r>
            <a:endParaRPr lang="en-US" sz="3000" dirty="0"/>
          </a:p>
        </p:txBody>
      </p:sp>
      <p:pic>
        <p:nvPicPr>
          <p:cNvPr id="3" name="Image 0" descr="/home/user/NarrowAisleBot/docs/hardware/esp32_pin_circuit.png">    </p:cNvPr>
          <p:cNvPicPr>
            <a:picLocks noChangeAspect="1"/>
          </p:cNvPicPr>
          <p:nvPr/>
        </p:nvPicPr>
        <p:blipFill>
          <a:blip r:embed="rId1"/>
          <a:stretch>
            <a:fillRect/>
          </a:stretch>
        </p:blipFill>
        <p:spPr>
          <a:xfrm>
            <a:off x="1486644" y="1097280"/>
            <a:ext cx="9218407" cy="5166360"/>
          </a:xfrm>
          <a:prstGeom prst="rect">
            <a:avLst/>
          </a:prstGeom>
        </p:spPr>
      </p:pic>
      <p:sp>
        <p:nvSpPr>
          <p:cNvPr id="25" name="Slide Number Placeholder 0"/>
          <p:cNvSpPr>
            <a:spLocks noGrp="1"/>
          </p:cNvSpPr>
          <p:nvPr>
            <p:ph type="sldNum" sz="quarter" idx="4294967295"/>
          </p:nvPr>
        </p:nvSpPr>
        <p:spPr>
          <a:xfrm>
            <a:off x="11094415"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13232"/>
          </a:xfrm>
          <a:prstGeom prst="rect">
            <a:avLst/>
          </a:prstGeom>
          <a:noFill/>
          <a:ln/>
        </p:spPr>
        <p:txBody>
          <a:bodyPr wrap="square" lIns="0" tIns="0" rIns="0" bIns="0" rtlCol="0" anchor="ctr"/>
          <a:lstStyle/>
          <a:p>
            <a:pPr algn="l" indent="0" marL="0">
              <a:buNone/>
            </a:pPr>
            <a:r>
              <a:rPr lang="en-US" sz="3000" b="1" dirty="0">
                <a:solidFill>
                  <a:schemeClr val="tx1"/>
                </a:solidFill>
              </a:rPr>
              <a:t>Power rails and grounding</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6675120" cy="914400"/>
        </p:xfrm>
        <a:graphic>
          <a:graphicData uri="http://schemas.openxmlformats.org/drawingml/2006/table">
            <a:tbl>
              <a:tblPr/>
              <a:tblGrid>
                <a:gridCol w="1005840"/>
                <a:gridCol w="3291840"/>
                <a:gridCol w="2377440"/>
              </a:tblGrid>
              <a:tr h="566928">
                <a:tc>
                  <a:txBody>
                    <a:bodyPr/>
                    <a:lstStyle/>
                    <a:p>
                      <a:pPr indent="0" marL="0">
                        <a:buNone/>
                      </a:pPr>
                      <a:r>
                        <a:rPr lang="en-US" sz="1300" b="1" dirty="0">
                          <a:solidFill>
                            <a:schemeClr val="bg1"/>
                          </a:solidFill>
                        </a:rPr>
                        <a:t>Rail</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Source</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Feeds</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chemeClr val="tx1"/>
                    </a:solidFill>
                  </a:tcPr>
                </a:tc>
              </a:tr>
              <a:tr h="566928">
                <a:tc>
                  <a:txBody>
                    <a:bodyPr/>
                    <a:lstStyle/>
                    <a:p>
                      <a:pPr indent="0" marL="0">
                        <a:buNone/>
                      </a:pPr>
                      <a:r>
                        <a:rPr lang="en-US" sz="1300" dirty="0">
                          <a:solidFill>
                            <a:schemeClr val="tx1"/>
                          </a:solidFill>
                        </a:rPr>
                        <a:t>12.8 V</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300" dirty="0">
                          <a:solidFill>
                            <a:schemeClr val="tx1"/>
                          </a:solidFill>
                        </a:rPr>
                        <a:t>LiFePO4 battery, 30 Ah, through an SSR-50DD solid-state relay</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300" dirty="0">
                          <a:solidFill>
                            <a:schemeClr val="tx1"/>
                          </a:solidFill>
                        </a:rPr>
                        <a:t>Boost and buck converters</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566928">
                <a:tc>
                  <a:txBody>
                    <a:bodyPr/>
                    <a:lstStyle/>
                    <a:p>
                      <a:pPr indent="0" marL="0">
                        <a:buNone/>
                      </a:pPr>
                      <a:r>
                        <a:rPr lang="en-US" sz="1300" dirty="0">
                          <a:solidFill>
                            <a:schemeClr val="tx1"/>
                          </a:solidFill>
                        </a:rPr>
                        <a:t>24 V</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300" dirty="0">
                          <a:solidFill>
                            <a:schemeClr val="tx1"/>
                          </a:solidFill>
                        </a:rPr>
                        <a:t>1200 W boost converter</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300" dirty="0">
                          <a:solidFill>
                            <a:schemeClr val="tx1"/>
                          </a:solidFill>
                        </a:rPr>
                        <a:t>Both Cytron MDD20A motor drivers</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566928">
                <a:tc>
                  <a:txBody>
                    <a:bodyPr/>
                    <a:lstStyle/>
                    <a:p>
                      <a:pPr indent="0" marL="0">
                        <a:buNone/>
                      </a:pPr>
                      <a:r>
                        <a:rPr lang="en-US" sz="1300" dirty="0">
                          <a:solidFill>
                            <a:schemeClr val="tx1"/>
                          </a:solidFill>
                        </a:rPr>
                        <a:t>5 V</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300" dirty="0">
                          <a:solidFill>
                            <a:schemeClr val="tx1"/>
                          </a:solidFill>
                        </a:rPr>
                        <a:t>DFRobot 60 W buck converter</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300" dirty="0">
                          <a:solidFill>
                            <a:schemeClr val="tx1"/>
                          </a:solidFill>
                        </a:rPr>
                        <a:t>Four encoders, level shifter high side</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566928">
                <a:tc>
                  <a:txBody>
                    <a:bodyPr/>
                    <a:lstStyle/>
                    <a:p>
                      <a:pPr indent="0" marL="0">
                        <a:buNone/>
                      </a:pPr>
                      <a:r>
                        <a:rPr lang="en-US" sz="1300" dirty="0">
                          <a:solidFill>
                            <a:schemeClr val="tx1"/>
                          </a:solidFill>
                        </a:rPr>
                        <a:t>3.3 V</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300" dirty="0">
                          <a:solidFill>
                            <a:schemeClr val="tx1"/>
                          </a:solidFill>
                        </a:rPr>
                        <a:t>ESP32 on-board regulator</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300" dirty="0">
                          <a:solidFill>
                            <a:schemeClr val="tx1"/>
                          </a:solidFill>
                        </a:rPr>
                        <a:t>Level shifter low side</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566928">
                <a:tc>
                  <a:txBody>
                    <a:bodyPr/>
                    <a:lstStyle/>
                    <a:p>
                      <a:pPr indent="0" marL="0">
                        <a:buNone/>
                      </a:pPr>
                      <a:r>
                        <a:rPr lang="en-US" sz="1300" dirty="0">
                          <a:solidFill>
                            <a:schemeClr val="tx1"/>
                          </a:solidFill>
                        </a:rPr>
                        <a:t>USB 5 V</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300" dirty="0">
                          <a:solidFill>
                            <a:schemeClr val="tx1"/>
                          </a:solidFill>
                        </a:rPr>
                        <a:t>Raspberry Pi 5</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300" dirty="0">
                          <a:solidFill>
                            <a:schemeClr val="tx1"/>
                          </a:solidFill>
                        </a:rPr>
                        <a:t>ESP32, power and data together</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bl>
          </a:graphicData>
        </a:graphic>
      </p:graphicFrame>
      <p:sp>
        <p:nvSpPr>
          <p:cNvPr id="4" name="Shape 1"/>
          <p:cNvSpPr/>
          <p:nvPr/>
        </p:nvSpPr>
        <p:spPr>
          <a:xfrm>
            <a:off x="7589520" y="1280160"/>
            <a:ext cx="4053535" cy="1691640"/>
          </a:xfrm>
          <a:prstGeom prst="rect">
            <a:avLst/>
          </a:prstGeom>
          <a:solidFill>
            <a:schemeClr val="bg2"/>
          </a:solidFill>
          <a:ln w="12700">
            <a:solidFill>
              <a:schemeClr val="bg2"/>
            </a:solidFill>
            <a:prstDash val="solid"/>
          </a:ln>
        </p:spPr>
      </p:sp>
      <p:sp>
        <p:nvSpPr>
          <p:cNvPr id="5" name="Text 2"/>
          <p:cNvSpPr txBox="1"/>
          <p:nvPr/>
        </p:nvSpPr>
        <p:spPr>
          <a:xfrm>
            <a:off x="7863840" y="1463040"/>
            <a:ext cx="3504895" cy="141732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One ground bus</a:t>
            </a:r>
            <a:endParaRPr lang="en-US" sz="1400" dirty="0"/>
          </a:p>
          <a:p>
            <a:pPr indent="0" marL="0">
              <a:spcAft>
                <a:spcPts val="400"/>
              </a:spcAft>
              <a:buNone/>
            </a:pPr>
            <a:r>
              <a:rPr lang="en-US" sz="1400" dirty="0">
                <a:solidFill>
                  <a:schemeClr val="tx1"/>
                </a:solidFill>
              </a:rPr>
              <a:t>ESP32, buck, boost, both driver logic grounds, the shifter and all four encoder black wires. The Pi's ground arrives through the USB cable.</a:t>
            </a:r>
            <a:endParaRPr lang="en-US" sz="1400" dirty="0"/>
          </a:p>
        </p:txBody>
      </p:sp>
      <p:sp>
        <p:nvSpPr>
          <p:cNvPr id="6" name="Shape 3"/>
          <p:cNvSpPr/>
          <p:nvPr/>
        </p:nvSpPr>
        <p:spPr>
          <a:xfrm>
            <a:off x="7589520" y="3200400"/>
            <a:ext cx="4053535" cy="2514600"/>
          </a:xfrm>
          <a:prstGeom prst="rect">
            <a:avLst/>
          </a:prstGeom>
          <a:solidFill>
            <a:srgbClr val="FBEDEA"/>
          </a:solidFill>
          <a:ln w="12700">
            <a:solidFill>
              <a:schemeClr val="bg2"/>
            </a:solidFill>
            <a:prstDash val="solid"/>
          </a:ln>
        </p:spPr>
      </p:sp>
      <p:sp>
        <p:nvSpPr>
          <p:cNvPr id="7" name="Text 4"/>
          <p:cNvSpPr txBox="1"/>
          <p:nvPr/>
        </p:nvSpPr>
        <p:spPr>
          <a:xfrm>
            <a:off x="7863840" y="3383280"/>
            <a:ext cx="3504895" cy="2194560"/>
          </a:xfrm>
          <a:prstGeom prst="rect">
            <a:avLst/>
          </a:prstGeom>
          <a:noFill/>
          <a:ln/>
        </p:spPr>
        <p:txBody>
          <a:bodyPr wrap="square" lIns="0" tIns="0" rIns="0" bIns="0" rtlCol="0" anchor="t"/>
          <a:lstStyle/>
          <a:p>
            <a:pPr indent="0" marL="0">
              <a:spcAft>
                <a:spcPts val="400"/>
              </a:spcAft>
              <a:buNone/>
            </a:pPr>
            <a:r>
              <a:rPr lang="en-US" sz="1400" b="1" dirty="0">
                <a:solidFill>
                  <a:schemeClr val="accent6"/>
                </a:solidFill>
              </a:rPr>
              <a:t>Not done yet</a:t>
            </a:r>
            <a:endParaRPr lang="en-US" sz="1400" dirty="0"/>
          </a:p>
          <a:p>
            <a:pPr indent="0" marL="0">
              <a:spcAft>
                <a:spcPts val="400"/>
              </a:spcAft>
              <a:buNone/>
            </a:pPr>
            <a:r>
              <a:rPr lang="en-US" sz="1400" dirty="0">
                <a:solidFill>
                  <a:schemeClr val="tx1"/>
                </a:solidFill>
              </a:rPr>
              <a:t>No hardware E-stop. Every stop path is software today. A latching normally-closed button in series with the SSR trigger is planned.</a:t>
            </a:r>
            <a:endParaRPr lang="en-US" sz="1400" dirty="0"/>
          </a:p>
          <a:p>
            <a:pPr indent="0" marL="0">
              <a:spcAft>
                <a:spcPts val="400"/>
              </a:spcAft>
              <a:buNone/>
            </a:pPr>
            <a:r>
              <a:rPr lang="en-US" sz="600" dirty="0">
                <a:solidFill>
                  <a:schemeClr val="tx1"/>
                </a:solidFill>
              </a:rPr>
              <a:t> </a:t>
            </a:r>
            <a:endParaRPr lang="en-US" sz="1400" dirty="0"/>
          </a:p>
          <a:p>
            <a:pPr indent="0" marL="0">
              <a:spcAft>
                <a:spcPts val="400"/>
              </a:spcAft>
              <a:buNone/>
            </a:pPr>
            <a:r>
              <a:rPr lang="en-US" sz="1400" dirty="0">
                <a:solidFill>
                  <a:schemeClr val="tx1"/>
                </a:solidFill>
              </a:rPr>
              <a:t>The ESP32 is still powered from the Pi's USB. Feeding its VIN from the 5 V buck and cutting VBUS is planned, to keep motor ground noise out of the encoder counts.</a:t>
            </a:r>
            <a:endParaRPr lang="en-US" sz="1400" dirty="0"/>
          </a:p>
        </p:txBody>
      </p:sp>
      <p:sp>
        <p:nvSpPr>
          <p:cNvPr id="25" name="Slide Number Placeholder 0"/>
          <p:cNvSpPr>
            <a:spLocks noGrp="1"/>
          </p:cNvSpPr>
          <p:nvPr>
            <p:ph type="sldNum" sz="quarter" idx="4294967295"/>
          </p:nvPr>
        </p:nvSpPr>
        <p:spPr>
          <a:xfrm>
            <a:off x="11094415"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13232"/>
          </a:xfrm>
          <a:prstGeom prst="rect">
            <a:avLst/>
          </a:prstGeom>
          <a:noFill/>
          <a:ln/>
        </p:spPr>
        <p:txBody>
          <a:bodyPr wrap="square" lIns="0" tIns="0" rIns="0" bIns="0" rtlCol="0" anchor="ctr"/>
          <a:lstStyle/>
          <a:p>
            <a:pPr algn="l" indent="0" marL="0">
              <a:buNone/>
            </a:pPr>
            <a:r>
              <a:rPr lang="en-US" sz="3000" b="1" dirty="0">
                <a:solidFill>
                  <a:schemeClr val="tx1"/>
                </a:solidFill>
              </a:rPr>
              <a:t>What starts, and when</a:t>
            </a:r>
            <a:endParaRPr lang="en-US" sz="3000" dirty="0"/>
          </a:p>
        </p:txBody>
      </p:sp>
      <p:pic>
        <p:nvPicPr>
          <p:cNvPr id="3" name="Image 0" descr="/home/user/NarrowAisleBot/docs/flowcharts/png/s6_boot_and_launch_slide.png">    </p:cNvPr>
          <p:cNvPicPr>
            <a:picLocks noChangeAspect="1"/>
          </p:cNvPicPr>
          <p:nvPr/>
        </p:nvPicPr>
        <p:blipFill>
          <a:blip r:embed="rId1"/>
          <a:stretch>
            <a:fillRect/>
          </a:stretch>
        </p:blipFill>
        <p:spPr>
          <a:xfrm>
            <a:off x="1503528" y="1097280"/>
            <a:ext cx="9184640" cy="5166360"/>
          </a:xfrm>
          <a:prstGeom prst="rect">
            <a:avLst/>
          </a:prstGeom>
        </p:spPr>
      </p:pic>
      <p:sp>
        <p:nvSpPr>
          <p:cNvPr id="25" name="Slide Number Placeholder 0"/>
          <p:cNvSpPr>
            <a:spLocks noGrp="1"/>
          </p:cNvSpPr>
          <p:nvPr>
            <p:ph type="sldNum" sz="quarter" idx="4294967295"/>
          </p:nvPr>
        </p:nvSpPr>
        <p:spPr>
          <a:xfrm>
            <a:off x="11094415"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13232"/>
          </a:xfrm>
          <a:prstGeom prst="rect">
            <a:avLst/>
          </a:prstGeom>
          <a:noFill/>
          <a:ln/>
        </p:spPr>
        <p:txBody>
          <a:bodyPr wrap="square" lIns="0" tIns="0" rIns="0" bIns="0" rtlCol="0" anchor="ctr"/>
          <a:lstStyle/>
          <a:p>
            <a:pPr algn="l" indent="0" marL="0">
              <a:buNone/>
            </a:pPr>
            <a:r>
              <a:rPr lang="en-US" sz="3000" b="1" dirty="0">
                <a:solidFill>
                  <a:schemeClr val="tx1"/>
                </a:solidFill>
              </a:rPr>
              <a:t>Running at boot: operator side and drive chain</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2606040"/>
                <a:gridCol w="4892040"/>
                <a:gridCol w="3566160"/>
              </a:tblGrid>
              <a:tr h="0">
                <a:tc>
                  <a:txBody>
                    <a:bodyPr/>
                    <a:lstStyle/>
                    <a:p>
                      <a:pPr indent="0" marL="0">
                        <a:buNone/>
                      </a:pPr>
                      <a:r>
                        <a:rPr lang="en-US" sz="1500" b="1" dirty="0">
                          <a:solidFill>
                            <a:schemeClr val="bg1"/>
                          </a:solidFill>
                        </a:rPr>
                        <a:t>Node</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What it does</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Why it is there</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chemeClr val="tx1"/>
                    </a:solidFill>
                  </a:tcPr>
                </a:tc>
              </a:tr>
              <a:tr h="0">
                <a:tc>
                  <a:txBody>
                    <a:bodyPr/>
                    <a:lstStyle/>
                    <a:p>
                      <a:pPr indent="0" marL="0">
                        <a:buNone/>
                      </a:pPr>
                      <a:r>
                        <a:rPr lang="en-US" sz="1500" b="1" dirty="0">
                          <a:solidFill>
                            <a:schemeClr val="tx1"/>
                          </a:solidFill>
                        </a:rPr>
                        <a:t>phone_dashboard</a:t>
                      </a:r>
                      <a:endParaRPr lang="en-US" sz="1500" dirty="0"/>
                    </a:p>
                    <a:p>
                      <a:pPr indent="0" marL="0">
                        <a:buNone/>
                      </a:pPr>
                      <a:r>
                        <a:rPr lang="en-US" sz="1200" b="1" dirty="0">
                          <a:solidFill>
                            <a:schemeClr val="accent1"/>
                          </a:solidFill>
                        </a:rPr>
                        <a:t>written for this robot</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Web page served to the phone over the robot's own Wi-Fi: joystick, E-STOP, arm and UV buttons, live map and scan, tap-to-goal, start and stop mapping, CSV logs.</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The phone is the operator console. No laptop or gamepad is needed on the floor.</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0">
                <a:tc>
                  <a:txBody>
                    <a:bodyPr/>
                    <a:lstStyle/>
                    <a:p>
                      <a:pPr indent="0" marL="0">
                        <a:buNone/>
                      </a:pPr>
                      <a:r>
                        <a:rPr lang="en-US" sz="1500" b="1" dirty="0">
                          <a:solidFill>
                            <a:schemeClr val="tx1"/>
                          </a:solidFill>
                        </a:rPr>
                        <a:t>joy_node, joy_to_aislebot</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Read a USB gamepad and turn sticks and buttons into drive and arm commands.</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Backup control path. No gamepad is fitted at present.</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0">
                <a:tc>
                  <a:txBody>
                    <a:bodyPr/>
                    <a:lstStyle/>
                    <a:p>
                      <a:pPr indent="0" marL="0">
                        <a:buNone/>
                      </a:pPr>
                      <a:r>
                        <a:rPr lang="en-US" sz="1500" b="1" dirty="0">
                          <a:solidFill>
                            <a:schemeClr val="tx1"/>
                          </a:solidFill>
                        </a:rPr>
                        <a:t>twist_mux</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Chooses between manual and Nav2 commands. Manual has priority 100, Nav2 10; each source is dropped after 0.5 s of silence.</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Manual control must always beat the planner, with no fighting over the wheels.</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0">
                <a:tc>
                  <a:txBody>
                    <a:bodyPr/>
                    <a:lstStyle/>
                    <a:p>
                      <a:pPr indent="0" marL="0">
                        <a:buNone/>
                      </a:pPr>
                      <a:r>
                        <a:rPr lang="en-US" sz="1500" b="1" dirty="0">
                          <a:solidFill>
                            <a:schemeClr val="tx1"/>
                          </a:solidFill>
                        </a:rPr>
                        <a:t>teleop_asym</a:t>
                      </a:r>
                      <a:endParaRPr lang="en-US" sz="1500" dirty="0"/>
                    </a:p>
                    <a:p>
                      <a:pPr indent="0" marL="0">
                        <a:buNone/>
                      </a:pPr>
                      <a:r>
                        <a:rPr lang="en-US" sz="1200" b="1" dirty="0">
                          <a:solidFill>
                            <a:schemeClr val="accent1"/>
                          </a:solidFill>
                        </a:rPr>
                        <a:t>written for this robot</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Inverse kinematics for the asymmetric base: body velocity (vx, vy, wz) to four wheel speeds.</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The wheelbase is not a rectangle, so the stock mecanum equations would be wrong.</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0">
                <a:tc>
                  <a:txBody>
                    <a:bodyPr/>
                    <a:lstStyle/>
                    <a:p>
                      <a:pPr indent="0" marL="0">
                        <a:buNone/>
                      </a:pPr>
                      <a:r>
                        <a:rPr lang="en-US" sz="1500" b="1" dirty="0">
                          <a:solidFill>
                            <a:schemeClr val="tx1"/>
                          </a:solidFill>
                        </a:rPr>
                        <a:t>esp32_bridge</a:t>
                      </a:r>
                      <a:endParaRPr lang="en-US" sz="1500" dirty="0"/>
                    </a:p>
                    <a:p>
                      <a:pPr indent="0" marL="0">
                        <a:buNone/>
                      </a:pPr>
                      <a:r>
                        <a:rPr lang="en-US" sz="1200" b="1" dirty="0">
                          <a:solidFill>
                            <a:schemeClr val="accent1"/>
                          </a:solidFill>
                        </a:rPr>
                        <a:t>written for this robot</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Serial link to the ESP32: sends wheel-speed setpoints, reads 20 Hz telemetry, forwards E-STOP. Sends zero speeds after 0.5 s without input.</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Keeps the real-time loop on the microcontroller and everything else in ROS.</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13232"/>
          </a:xfrm>
          <a:prstGeom prst="rect">
            <a:avLst/>
          </a:prstGeom>
          <a:noFill/>
          <a:ln/>
        </p:spPr>
        <p:txBody>
          <a:bodyPr wrap="square" lIns="0" tIns="0" rIns="0" bIns="0" rtlCol="0" anchor="ctr"/>
          <a:lstStyle/>
          <a:p>
            <a:pPr algn="l" indent="0" marL="0">
              <a:buNone/>
            </a:pPr>
            <a:r>
              <a:rPr lang="en-US" sz="3000" b="1" dirty="0">
                <a:solidFill>
                  <a:schemeClr val="tx1"/>
                </a:solidFill>
              </a:rPr>
              <a:t>Running at boot: pose, arm and support</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2606040"/>
                <a:gridCol w="4892040"/>
                <a:gridCol w="3566160"/>
              </a:tblGrid>
              <a:tr h="0">
                <a:tc>
                  <a:txBody>
                    <a:bodyPr/>
                    <a:lstStyle/>
                    <a:p>
                      <a:pPr indent="0" marL="0">
                        <a:buNone/>
                      </a:pPr>
                      <a:r>
                        <a:rPr lang="en-US" sz="1500" b="1" dirty="0">
                          <a:solidFill>
                            <a:schemeClr val="bg1"/>
                          </a:solidFill>
                        </a:rPr>
                        <a:t>Node</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What it does</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Why it is there</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chemeClr val="tx1"/>
                    </a:solidFill>
                  </a:tcPr>
                </a:tc>
              </a:tr>
              <a:tr h="0">
                <a:tc>
                  <a:txBody>
                    <a:bodyPr/>
                    <a:lstStyle/>
                    <a:p>
                      <a:pPr indent="0" marL="0">
                        <a:buNone/>
                      </a:pPr>
                      <a:r>
                        <a:rPr lang="en-US" sz="1500" b="1" dirty="0">
                          <a:solidFill>
                            <a:schemeClr val="tx1"/>
                          </a:solidFill>
                        </a:rPr>
                        <a:t>odometry_publisher</a:t>
                      </a:r>
                      <a:endParaRPr lang="en-US" sz="1500" dirty="0"/>
                    </a:p>
                    <a:p>
                      <a:pPr indent="0" marL="0">
                        <a:buNone/>
                      </a:pPr>
                      <a:r>
                        <a:rPr lang="en-US" sz="1200" b="1" dirty="0">
                          <a:solidFill>
                            <a:schemeClr val="accent1"/>
                          </a:solidFill>
                        </a:rPr>
                        <a:t>written for this robot</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Integrates measured wheel speeds into position and heading. Publishes /wheel_odom and the odom to base_link transform.</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The only pose source on the robot. There is no IMU, and SLAM scan matching is off.</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0">
                <a:tc>
                  <a:txBody>
                    <a:bodyPr/>
                    <a:lstStyle/>
                    <a:p>
                      <a:pPr indent="0" marL="0">
                        <a:buNone/>
                      </a:pPr>
                      <a:r>
                        <a:rPr lang="en-US" sz="1500" b="1" dirty="0">
                          <a:solidFill>
                            <a:schemeClr val="tx1"/>
                          </a:solidFill>
                        </a:rPr>
                        <a:t>arm_bridge</a:t>
                      </a:r>
                      <a:endParaRPr lang="en-US" sz="1500" dirty="0"/>
                    </a:p>
                    <a:p>
                      <a:pPr indent="0" marL="0">
                        <a:buNone/>
                      </a:pPr>
                      <a:r>
                        <a:rPr lang="en-US" sz="1200" b="1" dirty="0">
                          <a:solidFill>
                            <a:schemeClr val="accent1"/>
                          </a:solidFill>
                        </a:rPr>
                        <a:t>written for this robot</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Serial link to the Mega: arm and lift velocity, homing, the UV tube sequence. Its own 300 ms watchdog.</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Stepper timing and relay switching stay off the Pi.</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0">
                <a:tc>
                  <a:txBody>
                    <a:bodyPr/>
                    <a:lstStyle/>
                    <a:p>
                      <a:pPr indent="0" marL="0">
                        <a:buNone/>
                      </a:pPr>
                      <a:r>
                        <a:rPr lang="en-US" sz="1500" b="1" dirty="0">
                          <a:solidFill>
                            <a:schemeClr val="tx1"/>
                          </a:solidFill>
                        </a:rPr>
                        <a:t>lcd_display</a:t>
                      </a:r>
                      <a:endParaRPr lang="en-US" sz="1500" dirty="0"/>
                    </a:p>
                    <a:p>
                      <a:pPr indent="0" marL="0">
                        <a:buNone/>
                      </a:pPr>
                      <a:r>
                        <a:rPr lang="en-US" sz="1200" b="1" dirty="0">
                          <a:solidFill>
                            <a:schemeClr val="accent1"/>
                          </a:solidFill>
                        </a:rPr>
                        <a:t>written for this robot</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Shows the Pi's IP address and network mode on the 16x2 LCD every 2 s.</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The robot runs headless; this is how you find it on the network.</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0">
                <a:tc>
                  <a:txBody>
                    <a:bodyPr/>
                    <a:lstStyle/>
                    <a:p>
                      <a:pPr indent="0" marL="0">
                        <a:buNone/>
                      </a:pPr>
                      <a:r>
                        <a:rPr lang="en-US" sz="1500" b="1" dirty="0">
                          <a:solidFill>
                            <a:schemeClr val="tx1"/>
                          </a:solidFill>
                        </a:rPr>
                        <a:t>robot_state_publisher</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Publishes the fixed transforms in the URDF, including where the LiDAR sits on the body.</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SLAM and Nav2 need the sensor's position relative to the robot centre.</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0">
                <a:tc>
                  <a:txBody>
                    <a:bodyPr/>
                    <a:lstStyle/>
                    <a:p>
                      <a:pPr indent="0" marL="0">
                        <a:buNone/>
                      </a:pPr>
                      <a:r>
                        <a:rPr lang="en-US" sz="1500" b="1" dirty="0">
                          <a:solidFill>
                            <a:schemeClr val="tx1"/>
                          </a:solidFill>
                        </a:rPr>
                        <a:t>foxglove_bridge</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Streams every topic to Foxglove Studio on a laptop over a WebSocket.</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Debug only: the one place to see costmaps, the plan and the collision monitor live.</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13232"/>
          </a:xfrm>
          <a:prstGeom prst="rect">
            <a:avLst/>
          </a:prstGeom>
          <a:noFill/>
          <a:ln/>
        </p:spPr>
        <p:txBody>
          <a:bodyPr wrap="square" lIns="0" tIns="0" rIns="0" bIns="0" rtlCol="0" anchor="ctr"/>
          <a:lstStyle/>
          <a:p>
            <a:pPr algn="l" indent="0" marL="0">
              <a:buNone/>
            </a:pPr>
            <a:r>
              <a:rPr lang="en-US" sz="3000" b="1" dirty="0">
                <a:solidFill>
                  <a:schemeClr val="tx1"/>
                </a:solidFill>
              </a:rPr>
              <a:t>Started with mapping: LiDAR and slam_toolbox</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2606040"/>
                <a:gridCol w="4892040"/>
                <a:gridCol w="3566160"/>
              </a:tblGrid>
              <a:tr h="0">
                <a:tc>
                  <a:txBody>
                    <a:bodyPr/>
                    <a:lstStyle/>
                    <a:p>
                      <a:pPr indent="0" marL="0">
                        <a:buNone/>
                      </a:pPr>
                      <a:r>
                        <a:rPr lang="en-US" sz="1500" b="1" dirty="0">
                          <a:solidFill>
                            <a:schemeClr val="bg1"/>
                          </a:solidFill>
                        </a:rPr>
                        <a:t>Node</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What it does</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Why it is there</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chemeClr val="tx1"/>
                    </a:solidFill>
                  </a:tcPr>
                </a:tc>
              </a:tr>
              <a:tr h="0">
                <a:tc>
                  <a:txBody>
                    <a:bodyPr/>
                    <a:lstStyle/>
                    <a:p>
                      <a:pPr indent="0" marL="0">
                        <a:buNone/>
                      </a:pPr>
                      <a:r>
                        <a:rPr lang="en-US" sz="1500" b="1" dirty="0">
                          <a:solidFill>
                            <a:schemeClr val="tx1"/>
                          </a:solidFill>
                        </a:rPr>
                        <a:t>ydlidar driver</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Talks to the YDLIDAR X4 Pro over USB and publishes /scan, measured at about 11.4 Hz.</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Vendor driver, used as supplied.</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0">
                <a:tc>
                  <a:txBody>
                    <a:bodyPr/>
                    <a:lstStyle/>
                    <a:p>
                      <a:pPr indent="0" marL="0">
                        <a:buNone/>
                      </a:pPr>
                      <a:r>
                        <a:rPr lang="en-US" sz="1500" b="1" dirty="0">
                          <a:solidFill>
                            <a:schemeClr val="tx1"/>
                          </a:solidFill>
                        </a:rPr>
                        <a:t>scan_relay</a:t>
                      </a:r>
                      <a:endParaRPr lang="en-US" sz="1500" dirty="0"/>
                    </a:p>
                    <a:p>
                      <a:pPr indent="0" marL="0">
                        <a:buNone/>
                      </a:pPr>
                      <a:r>
                        <a:rPr lang="en-US" sz="1200" b="1" dirty="0">
                          <a:solidFill>
                            <a:schemeClr val="accent1"/>
                          </a:solidFill>
                        </a:rPr>
                        <a:t>written for this robot</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Undoes the sensor's mirrored bearing, blanks the 90 degree arc hidden by the rear mast, and republishes the scan as RELIABLE.</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Without it the map comes out mirrored, the mast appears as an obstacle, and SLAM and the costmaps (which subscribe RELIABLE) receive nothing.</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0">
                <a:tc>
                  <a:txBody>
                    <a:bodyPr/>
                    <a:lstStyle/>
                    <a:p>
                      <a:pPr indent="0" marL="0">
                        <a:buNone/>
                      </a:pPr>
                      <a:r>
                        <a:rPr lang="en-US" sz="1500" b="1" dirty="0">
                          <a:solidFill>
                            <a:schemeClr val="tx1"/>
                          </a:solidFill>
                        </a:rPr>
                        <a:t>slam_toolbox</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Builds the occupancy-grid map from scans and odometry; publishes /map and the map to odom correction.</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The robot works in unknown space and needs a map to plan on.</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0">
                <a:tc>
                  <a:txBody>
                    <a:bodyPr/>
                    <a:lstStyle/>
                    <a:p>
                      <a:pPr indent="0" marL="0">
                        <a:buNone/>
                      </a:pPr>
                      <a:r>
                        <a:rPr lang="en-US" sz="1500" b="1" dirty="0">
                          <a:solidFill>
                            <a:schemeClr val="tx1"/>
                          </a:solidFill>
                        </a:rPr>
                        <a:t>zero_point_tf</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Static marker at the map origin.</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A repeatable start position for every test.</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13232"/>
          </a:xfrm>
          <a:prstGeom prst="rect">
            <a:avLst/>
          </a:prstGeom>
          <a:noFill/>
          <a:ln/>
        </p:spPr>
        <p:txBody>
          <a:bodyPr wrap="square" lIns="0" tIns="0" rIns="0" bIns="0" rtlCol="0" anchor="ctr"/>
          <a:lstStyle/>
          <a:p>
            <a:pPr algn="l" indent="0" marL="0">
              <a:buNone/>
            </a:pPr>
            <a:r>
              <a:rPr lang="en-US" sz="3000" b="1" dirty="0">
                <a:solidFill>
                  <a:schemeClr val="tx1"/>
                </a:solidFill>
              </a:rPr>
              <a:t>Started with Nav2: planning and control</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2606040"/>
                <a:gridCol w="4892040"/>
                <a:gridCol w="3566160"/>
              </a:tblGrid>
              <a:tr h="0">
                <a:tc>
                  <a:txBody>
                    <a:bodyPr/>
                    <a:lstStyle/>
                    <a:p>
                      <a:pPr indent="0" marL="0">
                        <a:buNone/>
                      </a:pPr>
                      <a:r>
                        <a:rPr lang="en-US" sz="1500" b="1" dirty="0">
                          <a:solidFill>
                            <a:schemeClr val="bg1"/>
                          </a:solidFill>
                        </a:rPr>
                        <a:t>Node</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What it does</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Why it is there</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chemeClr val="tx1"/>
                    </a:solidFill>
                  </a:tcPr>
                </a:tc>
              </a:tr>
              <a:tr h="0">
                <a:tc>
                  <a:txBody>
                    <a:bodyPr/>
                    <a:lstStyle/>
                    <a:p>
                      <a:pPr indent="0" marL="0">
                        <a:buNone/>
                      </a:pPr>
                      <a:r>
                        <a:rPr lang="en-US" sz="1500" b="1" dirty="0">
                          <a:solidFill>
                            <a:schemeClr val="tx1"/>
                          </a:solidFill>
                        </a:rPr>
                        <a:t>bt_navigator</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Runs Nav2's stock behaviour tree: plan, follow, and on failure clear the costmaps, spin, back up, retry.</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Standard Nav2, unmodified.</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0">
                <a:tc>
                  <a:txBody>
                    <a:bodyPr/>
                    <a:lstStyle/>
                    <a:p>
                      <a:pPr indent="0" marL="0">
                        <a:buNone/>
                      </a:pPr>
                      <a:r>
                        <a:rPr lang="en-US" sz="1500" b="1" dirty="0">
                          <a:solidFill>
                            <a:schemeClr val="tx1"/>
                          </a:solidFill>
                        </a:rPr>
                        <a:t>planner_server</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NavFn with A* on the global costmap. Plans the whole route and may cross unknown cells.</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The map grows while the robot drives, so the planner has to accept unknown space.</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0">
                <a:tc>
                  <a:txBody>
                    <a:bodyPr/>
                    <a:lstStyle/>
                    <a:p>
                      <a:pPr indent="0" marL="0">
                        <a:buNone/>
                      </a:pPr>
                      <a:r>
                        <a:rPr lang="en-US" sz="1500" b="1" dirty="0">
                          <a:solidFill>
                            <a:schemeClr val="tx1"/>
                          </a:solidFill>
                        </a:rPr>
                        <a:t>controller_server</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MPPI on a 3 x 3 m rolling local costmap. Turns the path into velocity commands.</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Its Omni motion model samples sideways velocity directly, which a mecanum base needs.</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0">
                <a:tc>
                  <a:txBody>
                    <a:bodyPr/>
                    <a:lstStyle/>
                    <a:p>
                      <a:pPr indent="0" marL="0">
                        <a:buNone/>
                      </a:pPr>
                      <a:r>
                        <a:rPr lang="en-US" sz="1500" b="1" dirty="0">
                          <a:solidFill>
                            <a:schemeClr val="tx1"/>
                          </a:solidFill>
                        </a:rPr>
                        <a:t>behavior_server</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Recovery moves: Spin, BackUp, Wait.</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On this robot BackUp is a 0.30 m strafe to the left, because Nav2 assumes +X is forward and here +X is right.</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0">
                <a:tc>
                  <a:txBody>
                    <a:bodyPr/>
                    <a:lstStyle/>
                    <a:p>
                      <a:pPr indent="0" marL="0">
                        <a:buNone/>
                      </a:pPr>
                      <a:r>
                        <a:rPr lang="en-US" sz="1500" b="1" dirty="0">
                          <a:solidFill>
                            <a:schemeClr val="tx1"/>
                          </a:solidFill>
                        </a:rPr>
                        <a:t>smoother_server, waypoint_follower, lifecycle_manager</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Path smoothing, multi-goal runs, and bringing the Nav2 servers up in order.</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Part of the standard set; not used much yet.</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13232"/>
          </a:xfrm>
          <a:prstGeom prst="rect">
            <a:avLst/>
          </a:prstGeom>
          <a:noFill/>
          <a:ln/>
        </p:spPr>
        <p:txBody>
          <a:bodyPr wrap="square" lIns="0" tIns="0" rIns="0" bIns="0" rtlCol="0" anchor="ctr"/>
          <a:lstStyle/>
          <a:p>
            <a:pPr algn="l" indent="0" marL="0">
              <a:buNone/>
            </a:pPr>
            <a:r>
              <a:rPr lang="en-US" sz="3000" b="1" dirty="0">
                <a:solidFill>
                  <a:schemeClr val="tx1"/>
                </a:solidFill>
              </a:rPr>
              <a:t>Started with Nav2: the safety chain and two adapters</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2606040"/>
                <a:gridCol w="4892040"/>
                <a:gridCol w="3566160"/>
              </a:tblGrid>
              <a:tr h="0">
                <a:tc>
                  <a:txBody>
                    <a:bodyPr/>
                    <a:lstStyle/>
                    <a:p>
                      <a:pPr indent="0" marL="0">
                        <a:buNone/>
                      </a:pPr>
                      <a:r>
                        <a:rPr lang="en-US" sz="1500" b="1" dirty="0">
                          <a:solidFill>
                            <a:schemeClr val="bg1"/>
                          </a:solidFill>
                        </a:rPr>
                        <a:t>Node</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What it does</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Why it is there</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chemeClr val="tx1"/>
                    </a:solidFill>
                  </a:tcPr>
                </a:tc>
              </a:tr>
              <a:tr h="0">
                <a:tc>
                  <a:txBody>
                    <a:bodyPr/>
                    <a:lstStyle/>
                    <a:p>
                      <a:pPr indent="0" marL="0">
                        <a:buNone/>
                      </a:pPr>
                      <a:r>
                        <a:rPr lang="en-US" sz="1500" b="1" dirty="0">
                          <a:solidFill>
                            <a:schemeClr val="tx1"/>
                          </a:solidFill>
                        </a:rPr>
                        <a:t>velocity_smoother</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Caps speed at 0.12 m/s and 0.30 rad/s, limits acceleration to 0.3 m/s² up and 0.5 m/s² down, stops after 1 s without input.</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Smooth, bounded commands whatever the controller asks for.</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0">
                <a:tc>
                  <a:txBody>
                    <a:bodyPr/>
                    <a:lstStyle/>
                    <a:p>
                      <a:pPr indent="0" marL="0">
                        <a:buNone/>
                      </a:pPr>
                      <a:r>
                        <a:rPr lang="en-US" sz="1500" b="1" dirty="0">
                          <a:solidFill>
                            <a:schemeClr val="tx1"/>
                          </a:solidFill>
                        </a:rPr>
                        <a:t>collision_monitor</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Projects the robot's footprint 1.2 s ahead along the command and slows or stops if laser points fall inside.</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A last check before the wheels that uses the live scan, not the map.</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0">
                <a:tc>
                  <a:txBody>
                    <a:bodyPr/>
                    <a:lstStyle/>
                    <a:p>
                      <a:pPr indent="0" marL="0">
                        <a:buNone/>
                      </a:pPr>
                      <a:r>
                        <a:rPr lang="en-US" sz="1500" b="1" dirty="0">
                          <a:solidFill>
                            <a:schemeClr val="tx1"/>
                          </a:solidFill>
                        </a:rPr>
                        <a:t>cmd_vel_axis_adapter</a:t>
                      </a:r>
                      <a:endParaRPr lang="en-US" sz="1500" dirty="0"/>
                    </a:p>
                    <a:p>
                      <a:pPr indent="0" marL="0">
                        <a:buNone/>
                      </a:pPr>
                      <a:r>
                        <a:rPr lang="en-US" sz="1200" b="1" dirty="0">
                          <a:solidFill>
                            <a:schemeClr val="accent1"/>
                          </a:solidFill>
                        </a:rPr>
                        <a:t>written for this robot</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Rotates the command from the map's axes (+X right, +Y forward) to the wheels' axes (+X forward, +Y left).</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Everything upstream uses one axis convention and the wheel kinematics another.</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0">
                <a:tc>
                  <a:txBody>
                    <a:bodyPr/>
                    <a:lstStyle/>
                    <a:p>
                      <a:pPr indent="0" marL="0">
                        <a:buNone/>
                      </a:pPr>
                      <a:r>
                        <a:rPr lang="en-US" sz="1500" b="1" dirty="0">
                          <a:solidFill>
                            <a:schemeClr val="tx1"/>
                          </a:solidFill>
                        </a:rPr>
                        <a:t>goal_pose_adapter</a:t>
                      </a:r>
                      <a:endParaRPr lang="en-US" sz="1500" dirty="0"/>
                    </a:p>
                    <a:p>
                      <a:pPr indent="0" marL="0">
                        <a:buNone/>
                      </a:pPr>
                      <a:r>
                        <a:rPr lang="en-US" sz="1200" b="1" dirty="0">
                          <a:solidFill>
                            <a:schemeClr val="accent1"/>
                          </a:solidFill>
                        </a:rPr>
                        <a:t>written for this robot</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Turns a tap on the dashboard map into a Nav2 goal.</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500" dirty="0">
                          <a:solidFill>
                            <a:schemeClr val="tx1"/>
                          </a:solidFill>
                        </a:rPr>
                        <a:t>Lets the phone set goals.</a:t>
                      </a:r>
                      <a:endParaRPr lang="en-US" sz="1500" dirty="0"/>
                    </a:p>
                  </a:txBody>
                  <a:tcPr marL="127000" marR="127000" marT="114300" marB="114300" anchor="t">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13232"/>
          </a:xfrm>
          <a:prstGeom prst="rect">
            <a:avLst/>
          </a:prstGeom>
          <a:noFill/>
          <a:ln/>
        </p:spPr>
        <p:txBody>
          <a:bodyPr wrap="square" lIns="0" tIns="0" rIns="0" bIns="0" rtlCol="0" anchor="ctr"/>
          <a:lstStyle/>
          <a:p>
            <a:pPr algn="l" indent="0" marL="0">
              <a:buNone/>
            </a:pPr>
            <a:r>
              <a:rPr lang="en-US" sz="3000" b="1" dirty="0">
                <a:solidFill>
                  <a:schemeClr val="tx1"/>
                </a:solidFill>
              </a:rPr>
              <a:t>Drive commands: two sources, one path to the wheels</a:t>
            </a:r>
            <a:endParaRPr lang="en-US" sz="3000" dirty="0"/>
          </a:p>
        </p:txBody>
      </p:sp>
      <p:pic>
        <p:nvPicPr>
          <p:cNvPr id="3" name="Image 0" descr="/home/user/NarrowAisleBot/docs/flowcharts/png/s2_drive_command_path_slide.png">    </p:cNvPr>
          <p:cNvPicPr>
            <a:picLocks noChangeAspect="1"/>
          </p:cNvPicPr>
          <p:nvPr/>
        </p:nvPicPr>
        <p:blipFill>
          <a:blip r:embed="rId1"/>
          <a:stretch>
            <a:fillRect/>
          </a:stretch>
        </p:blipFill>
        <p:spPr>
          <a:xfrm>
            <a:off x="1503528" y="1097280"/>
            <a:ext cx="9184640" cy="5166360"/>
          </a:xfrm>
          <a:prstGeom prst="rect">
            <a:avLst/>
          </a:prstGeom>
        </p:spPr>
      </p:pic>
      <p:sp>
        <p:nvSpPr>
          <p:cNvPr id="25" name="Slide Number Placeholder 0"/>
          <p:cNvSpPr>
            <a:spLocks noGrp="1"/>
          </p:cNvSpPr>
          <p:nvPr>
            <p:ph type="sldNum" sz="quarter" idx="4294967295"/>
          </p:nvPr>
        </p:nvSpPr>
        <p:spPr>
          <a:xfrm>
            <a:off x="11094415"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13232"/>
          </a:xfrm>
          <a:prstGeom prst="rect">
            <a:avLst/>
          </a:prstGeom>
          <a:noFill/>
          <a:ln/>
        </p:spPr>
        <p:txBody>
          <a:bodyPr wrap="square" lIns="0" tIns="0" rIns="0" bIns="0" rtlCol="0" anchor="ctr"/>
          <a:lstStyle/>
          <a:p>
            <a:pPr algn="l" indent="0" marL="0">
              <a:buNone/>
            </a:pPr>
            <a:r>
              <a:rPr lang="en-US" sz="3000" b="1" dirty="0">
                <a:solidFill>
                  <a:schemeClr val="tx1"/>
                </a:solidFill>
              </a:rPr>
              <a:t>Inside the ESP32 drive firmware</a:t>
            </a:r>
            <a:endParaRPr lang="en-US" sz="3000" dirty="0"/>
          </a:p>
        </p:txBody>
      </p:sp>
      <p:pic>
        <p:nvPicPr>
          <p:cNvPr id="3" name="Image 0" descr="/home/user/NarrowAisleBot/docs/flowcharts/png/s5_esp32_firmware_slide.png">    </p:cNvPr>
          <p:cNvPicPr>
            <a:picLocks noChangeAspect="1"/>
          </p:cNvPicPr>
          <p:nvPr/>
        </p:nvPicPr>
        <p:blipFill>
          <a:blip r:embed="rId1"/>
          <a:stretch>
            <a:fillRect/>
          </a:stretch>
        </p:blipFill>
        <p:spPr>
          <a:xfrm>
            <a:off x="1503528" y="1097280"/>
            <a:ext cx="9184640" cy="5166360"/>
          </a:xfrm>
          <a:prstGeom prst="rect">
            <a:avLst/>
          </a:prstGeom>
        </p:spPr>
      </p:pic>
      <p:sp>
        <p:nvSpPr>
          <p:cNvPr id="25" name="Slide Number Placeholder 0"/>
          <p:cNvSpPr>
            <a:spLocks noGrp="1"/>
          </p:cNvSpPr>
          <p:nvPr>
            <p:ph type="sldNum" sz="quarter" idx="4294967295"/>
          </p:nvPr>
        </p:nvSpPr>
        <p:spPr>
          <a:xfrm>
            <a:off x="11094415"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13232"/>
          </a:xfrm>
          <a:prstGeom prst="rect">
            <a:avLst/>
          </a:prstGeom>
          <a:noFill/>
          <a:ln/>
        </p:spPr>
        <p:txBody>
          <a:bodyPr wrap="square" lIns="0" tIns="0" rIns="0" bIns="0" rtlCol="0" anchor="ctr"/>
          <a:lstStyle/>
          <a:p>
            <a:pPr algn="l" indent="0" marL="0">
              <a:buNone/>
            </a:pPr>
            <a:r>
              <a:rPr lang="en-US" sz="3000" b="1" dirty="0">
                <a:solidFill>
                  <a:schemeClr val="tx1"/>
                </a:solidFill>
              </a:rPr>
              <a:t>Odometry: the only source of pose</a:t>
            </a:r>
            <a:endParaRPr lang="en-US" sz="3000" dirty="0"/>
          </a:p>
        </p:txBody>
      </p:sp>
      <p:sp>
        <p:nvSpPr>
          <p:cNvPr id="3" name="Shape 1"/>
          <p:cNvSpPr/>
          <p:nvPr/>
        </p:nvSpPr>
        <p:spPr>
          <a:xfrm>
            <a:off x="548640" y="1234440"/>
            <a:ext cx="6400800" cy="2240280"/>
          </a:xfrm>
          <a:prstGeom prst="rect">
            <a:avLst/>
          </a:prstGeom>
          <a:solidFill>
            <a:schemeClr val="bg2"/>
          </a:solidFill>
          <a:ln w="12700">
            <a:solidFill>
              <a:schemeClr val="bg2"/>
            </a:solidFill>
            <a:prstDash val="solid"/>
          </a:ln>
        </p:spPr>
      </p:sp>
      <p:sp>
        <p:nvSpPr>
          <p:cNvPr id="4" name="Text 2"/>
          <p:cNvSpPr txBox="1"/>
          <p:nvPr/>
        </p:nvSpPr>
        <p:spPr>
          <a:xfrm>
            <a:off x="822960" y="1371600"/>
            <a:ext cx="5852160" cy="320040"/>
          </a:xfrm>
          <a:prstGeom prst="rect">
            <a:avLst/>
          </a:prstGeom>
          <a:noFill/>
          <a:ln/>
        </p:spPr>
        <p:txBody>
          <a:bodyPr wrap="square" lIns="0" tIns="0" rIns="0" bIns="0" rtlCol="0" anchor="ctr"/>
          <a:lstStyle/>
          <a:p>
            <a:pPr indent="0" marL="0">
              <a:buNone/>
            </a:pPr>
            <a:r>
              <a:rPr lang="en-US" sz="1400" b="1" dirty="0">
                <a:solidFill>
                  <a:schemeClr val="tx1"/>
                </a:solidFill>
              </a:rPr>
              <a:t>Inverse kinematics (teleop_asym and the ESP32)</a:t>
            </a:r>
            <a:endParaRPr lang="en-US" sz="1400" dirty="0"/>
          </a:p>
        </p:txBody>
      </p:sp>
      <p:sp>
        <p:nvSpPr>
          <p:cNvPr id="5" name="Text 3"/>
          <p:cNvSpPr txBox="1"/>
          <p:nvPr/>
        </p:nvSpPr>
        <p:spPr>
          <a:xfrm>
            <a:off x="822960" y="1755648"/>
            <a:ext cx="5852160" cy="1600200"/>
          </a:xfrm>
          <a:prstGeom prst="rect">
            <a:avLst/>
          </a:prstGeom>
          <a:noFill/>
          <a:ln/>
        </p:spPr>
        <p:txBody>
          <a:bodyPr wrap="square" lIns="0" tIns="0" rIns="0" bIns="0" rtlCol="0" anchor="t"/>
          <a:lstStyle/>
          <a:p>
            <a:pPr indent="0" marL="0">
              <a:spcAft>
                <a:spcPts val="300"/>
              </a:spcAft>
              <a:buNone/>
            </a:pPr>
            <a:r>
              <a:rPr lang="en-US" sz="1600" dirty="0">
                <a:solidFill>
                  <a:schemeClr val="tx1"/>
                </a:solidFill>
                <a:latin typeface="Cambria" pitchFamily="34" charset="0"/>
                <a:ea typeface="Cambria" pitchFamily="34" charset="-122"/>
                <a:cs typeface="Cambria" pitchFamily="34" charset="-120"/>
              </a:rPr>
              <a:t>ω</a:t>
            </a:r>
            <a:pPr indent="0" marL="0">
              <a:spcAft>
                <a:spcPts val="300"/>
              </a:spcAft>
              <a:buNone/>
            </a:pPr>
            <a:r>
              <a:rPr lang="en-US" sz="1600" baseline="-40000" dirty="0">
                <a:solidFill>
                  <a:schemeClr val="tx1"/>
                </a:solidFill>
                <a:latin typeface="Cambria" pitchFamily="34" charset="0"/>
                <a:ea typeface="Cambria" pitchFamily="34" charset="-122"/>
                <a:cs typeface="Cambria" pitchFamily="34" charset="-120"/>
              </a:rPr>
              <a:t>FR</a:t>
            </a:r>
            <a:pPr indent="0" marL="0">
              <a:spcAft>
                <a:spcPts val="300"/>
              </a:spcAft>
              <a:buNone/>
            </a:pPr>
            <a:r>
              <a:rPr lang="en-US" sz="1600" dirty="0">
                <a:solidFill>
                  <a:schemeClr val="tx1"/>
                </a:solidFill>
                <a:latin typeface="Cambria" pitchFamily="34" charset="0"/>
                <a:ea typeface="Cambria" pitchFamily="34" charset="-122"/>
                <a:cs typeface="Cambria" pitchFamily="34" charset="-120"/>
              </a:rPr>
              <a:t> = (vx + vy + K</a:t>
            </a:r>
            <a:pPr indent="0" marL="0">
              <a:spcAft>
                <a:spcPts val="300"/>
              </a:spcAft>
              <a:buNone/>
            </a:pPr>
            <a:r>
              <a:rPr lang="en-US" sz="1600" baseline="-40000" dirty="0">
                <a:solidFill>
                  <a:schemeClr val="tx1"/>
                </a:solidFill>
                <a:latin typeface="Cambria" pitchFamily="34" charset="0"/>
                <a:ea typeface="Cambria" pitchFamily="34" charset="-122"/>
                <a:cs typeface="Cambria" pitchFamily="34" charset="-120"/>
              </a:rPr>
              <a:t>out</a:t>
            </a:r>
            <a:pPr indent="0" marL="0">
              <a:spcAft>
                <a:spcPts val="300"/>
              </a:spcAft>
              <a:buNone/>
            </a:pPr>
            <a:r>
              <a:rPr lang="en-US" sz="1600" dirty="0">
                <a:solidFill>
                  <a:schemeClr val="tx1"/>
                </a:solidFill>
                <a:latin typeface="Cambria" pitchFamily="34" charset="0"/>
                <a:ea typeface="Cambria" pitchFamily="34" charset="-122"/>
                <a:cs typeface="Cambria" pitchFamily="34" charset="-120"/>
              </a:rPr>
              <a:t>·ωz) / r</a:t>
            </a:r>
            <a:endParaRPr lang="en-US" sz="1600" dirty="0"/>
          </a:p>
          <a:p>
            <a:pPr indent="0" marL="0">
              <a:spcAft>
                <a:spcPts val="300"/>
              </a:spcAft>
              <a:buNone/>
            </a:pPr>
            <a:r>
              <a:rPr lang="en-US" sz="1600" dirty="0">
                <a:solidFill>
                  <a:schemeClr val="tx1"/>
                </a:solidFill>
                <a:latin typeface="Cambria" pitchFamily="34" charset="0"/>
                <a:ea typeface="Cambria" pitchFamily="34" charset="-122"/>
                <a:cs typeface="Cambria" pitchFamily="34" charset="-120"/>
              </a:rPr>
              <a:t>ω</a:t>
            </a:r>
            <a:pPr indent="0" marL="0">
              <a:spcAft>
                <a:spcPts val="300"/>
              </a:spcAft>
              <a:buNone/>
            </a:pPr>
            <a:r>
              <a:rPr lang="en-US" sz="1600" baseline="-40000" dirty="0">
                <a:solidFill>
                  <a:schemeClr val="tx1"/>
                </a:solidFill>
                <a:latin typeface="Cambria" pitchFamily="34" charset="0"/>
                <a:ea typeface="Cambria" pitchFamily="34" charset="-122"/>
                <a:cs typeface="Cambria" pitchFamily="34" charset="-120"/>
              </a:rPr>
              <a:t>FL</a:t>
            </a:r>
            <a:pPr indent="0" marL="0">
              <a:spcAft>
                <a:spcPts val="300"/>
              </a:spcAft>
              <a:buNone/>
            </a:pPr>
            <a:r>
              <a:rPr lang="en-US" sz="1600" dirty="0">
                <a:solidFill>
                  <a:schemeClr val="tx1"/>
                </a:solidFill>
                <a:latin typeface="Cambria" pitchFamily="34" charset="0"/>
                <a:ea typeface="Cambria" pitchFamily="34" charset="-122"/>
                <a:cs typeface="Cambria" pitchFamily="34" charset="-120"/>
              </a:rPr>
              <a:t> = (vx − vy − K</a:t>
            </a:r>
            <a:pPr indent="0" marL="0">
              <a:spcAft>
                <a:spcPts val="300"/>
              </a:spcAft>
              <a:buNone/>
            </a:pPr>
            <a:r>
              <a:rPr lang="en-US" sz="1600" baseline="-40000" dirty="0">
                <a:solidFill>
                  <a:schemeClr val="tx1"/>
                </a:solidFill>
                <a:latin typeface="Cambria" pitchFamily="34" charset="0"/>
                <a:ea typeface="Cambria" pitchFamily="34" charset="-122"/>
                <a:cs typeface="Cambria" pitchFamily="34" charset="-120"/>
              </a:rPr>
              <a:t>in</a:t>
            </a:r>
            <a:pPr indent="0" marL="0">
              <a:spcAft>
                <a:spcPts val="300"/>
              </a:spcAft>
              <a:buNone/>
            </a:pPr>
            <a:r>
              <a:rPr lang="en-US" sz="1600" dirty="0">
                <a:solidFill>
                  <a:schemeClr val="tx1"/>
                </a:solidFill>
                <a:latin typeface="Cambria" pitchFamily="34" charset="0"/>
                <a:ea typeface="Cambria" pitchFamily="34" charset="-122"/>
                <a:cs typeface="Cambria" pitchFamily="34" charset="-120"/>
              </a:rPr>
              <a:t>·ωz) / r</a:t>
            </a:r>
            <a:endParaRPr lang="en-US" sz="1600" dirty="0"/>
          </a:p>
          <a:p>
            <a:pPr indent="0" marL="0">
              <a:spcAft>
                <a:spcPts val="300"/>
              </a:spcAft>
              <a:buNone/>
            </a:pPr>
            <a:r>
              <a:rPr lang="en-US" sz="1600" dirty="0">
                <a:solidFill>
                  <a:schemeClr val="tx1"/>
                </a:solidFill>
                <a:latin typeface="Cambria" pitchFamily="34" charset="0"/>
                <a:ea typeface="Cambria" pitchFamily="34" charset="-122"/>
                <a:cs typeface="Cambria" pitchFamily="34" charset="-120"/>
              </a:rPr>
              <a:t>ω</a:t>
            </a:r>
            <a:pPr indent="0" marL="0">
              <a:spcAft>
                <a:spcPts val="300"/>
              </a:spcAft>
              <a:buNone/>
            </a:pPr>
            <a:r>
              <a:rPr lang="en-US" sz="1600" baseline="-40000" dirty="0">
                <a:solidFill>
                  <a:schemeClr val="tx1"/>
                </a:solidFill>
                <a:latin typeface="Cambria" pitchFamily="34" charset="0"/>
                <a:ea typeface="Cambria" pitchFamily="34" charset="-122"/>
                <a:cs typeface="Cambria" pitchFamily="34" charset="-120"/>
              </a:rPr>
              <a:t>RR</a:t>
            </a:r>
            <a:pPr indent="0" marL="0">
              <a:spcAft>
                <a:spcPts val="300"/>
              </a:spcAft>
              <a:buNone/>
            </a:pPr>
            <a:r>
              <a:rPr lang="en-US" sz="1600" dirty="0">
                <a:solidFill>
                  <a:schemeClr val="tx1"/>
                </a:solidFill>
                <a:latin typeface="Cambria" pitchFamily="34" charset="0"/>
                <a:ea typeface="Cambria" pitchFamily="34" charset="-122"/>
                <a:cs typeface="Cambria" pitchFamily="34" charset="-120"/>
              </a:rPr>
              <a:t> = (vx − vy + K</a:t>
            </a:r>
            <a:pPr indent="0" marL="0">
              <a:spcAft>
                <a:spcPts val="300"/>
              </a:spcAft>
              <a:buNone/>
            </a:pPr>
            <a:r>
              <a:rPr lang="en-US" sz="1600" baseline="-40000" dirty="0">
                <a:solidFill>
                  <a:schemeClr val="tx1"/>
                </a:solidFill>
                <a:latin typeface="Cambria" pitchFamily="34" charset="0"/>
                <a:ea typeface="Cambria" pitchFamily="34" charset="-122"/>
                <a:cs typeface="Cambria" pitchFamily="34" charset="-120"/>
              </a:rPr>
              <a:t>in</a:t>
            </a:r>
            <a:pPr indent="0" marL="0">
              <a:spcAft>
                <a:spcPts val="300"/>
              </a:spcAft>
              <a:buNone/>
            </a:pPr>
            <a:r>
              <a:rPr lang="en-US" sz="1600" dirty="0">
                <a:solidFill>
                  <a:schemeClr val="tx1"/>
                </a:solidFill>
                <a:latin typeface="Cambria" pitchFamily="34" charset="0"/>
                <a:ea typeface="Cambria" pitchFamily="34" charset="-122"/>
                <a:cs typeface="Cambria" pitchFamily="34" charset="-120"/>
              </a:rPr>
              <a:t>·ωz) / r</a:t>
            </a:r>
            <a:endParaRPr lang="en-US" sz="1600" dirty="0"/>
          </a:p>
          <a:p>
            <a:pPr indent="0" marL="0">
              <a:spcAft>
                <a:spcPts val="300"/>
              </a:spcAft>
              <a:buNone/>
            </a:pPr>
            <a:r>
              <a:rPr lang="en-US" sz="1600" dirty="0">
                <a:solidFill>
                  <a:schemeClr val="tx1"/>
                </a:solidFill>
                <a:latin typeface="Cambria" pitchFamily="34" charset="0"/>
                <a:ea typeface="Cambria" pitchFamily="34" charset="-122"/>
                <a:cs typeface="Cambria" pitchFamily="34" charset="-120"/>
              </a:rPr>
              <a:t>ω</a:t>
            </a:r>
            <a:pPr indent="0" marL="0">
              <a:spcAft>
                <a:spcPts val="300"/>
              </a:spcAft>
              <a:buNone/>
            </a:pPr>
            <a:r>
              <a:rPr lang="en-US" sz="1600" baseline="-40000" dirty="0">
                <a:solidFill>
                  <a:schemeClr val="tx1"/>
                </a:solidFill>
                <a:latin typeface="Cambria" pitchFamily="34" charset="0"/>
                <a:ea typeface="Cambria" pitchFamily="34" charset="-122"/>
                <a:cs typeface="Cambria" pitchFamily="34" charset="-120"/>
              </a:rPr>
              <a:t>RL</a:t>
            </a:r>
            <a:pPr indent="0" marL="0">
              <a:spcAft>
                <a:spcPts val="300"/>
              </a:spcAft>
              <a:buNone/>
            </a:pPr>
            <a:r>
              <a:rPr lang="en-US" sz="1600" dirty="0">
                <a:solidFill>
                  <a:schemeClr val="tx1"/>
                </a:solidFill>
                <a:latin typeface="Cambria" pitchFamily="34" charset="0"/>
                <a:ea typeface="Cambria" pitchFamily="34" charset="-122"/>
                <a:cs typeface="Cambria" pitchFamily="34" charset="-120"/>
              </a:rPr>
              <a:t> = (vx + vy − K</a:t>
            </a:r>
            <a:pPr indent="0" marL="0">
              <a:spcAft>
                <a:spcPts val="300"/>
              </a:spcAft>
              <a:buNone/>
            </a:pPr>
            <a:r>
              <a:rPr lang="en-US" sz="1600" baseline="-40000" dirty="0">
                <a:solidFill>
                  <a:schemeClr val="tx1"/>
                </a:solidFill>
                <a:latin typeface="Cambria" pitchFamily="34" charset="0"/>
                <a:ea typeface="Cambria" pitchFamily="34" charset="-122"/>
                <a:cs typeface="Cambria" pitchFamily="34" charset="-120"/>
              </a:rPr>
              <a:t>out</a:t>
            </a:r>
            <a:pPr indent="0" marL="0">
              <a:spcAft>
                <a:spcPts val="300"/>
              </a:spcAft>
              <a:buNone/>
            </a:pPr>
            <a:r>
              <a:rPr lang="en-US" sz="1600" dirty="0">
                <a:solidFill>
                  <a:schemeClr val="tx1"/>
                </a:solidFill>
                <a:latin typeface="Cambria" pitchFamily="34" charset="0"/>
                <a:ea typeface="Cambria" pitchFamily="34" charset="-122"/>
                <a:cs typeface="Cambria" pitchFamily="34" charset="-120"/>
              </a:rPr>
              <a:t>·ωz) / r</a:t>
            </a:r>
            <a:endParaRPr lang="en-US" sz="1600" dirty="0"/>
          </a:p>
        </p:txBody>
      </p:sp>
      <p:sp>
        <p:nvSpPr>
          <p:cNvPr id="6" name="Shape 4"/>
          <p:cNvSpPr/>
          <p:nvPr/>
        </p:nvSpPr>
        <p:spPr>
          <a:xfrm>
            <a:off x="548640" y="3611880"/>
            <a:ext cx="6400800" cy="1920240"/>
          </a:xfrm>
          <a:prstGeom prst="rect">
            <a:avLst/>
          </a:prstGeom>
          <a:solidFill>
            <a:schemeClr val="bg2"/>
          </a:solidFill>
          <a:ln w="12700">
            <a:solidFill>
              <a:schemeClr val="bg2"/>
            </a:solidFill>
            <a:prstDash val="solid"/>
          </a:ln>
        </p:spPr>
      </p:sp>
      <p:sp>
        <p:nvSpPr>
          <p:cNvPr id="7" name="Text 5"/>
          <p:cNvSpPr txBox="1"/>
          <p:nvPr/>
        </p:nvSpPr>
        <p:spPr>
          <a:xfrm>
            <a:off x="822960" y="3749040"/>
            <a:ext cx="5852160" cy="320040"/>
          </a:xfrm>
          <a:prstGeom prst="rect">
            <a:avLst/>
          </a:prstGeom>
          <a:noFill/>
          <a:ln/>
        </p:spPr>
        <p:txBody>
          <a:bodyPr wrap="square" lIns="0" tIns="0" rIns="0" bIns="0" rtlCol="0" anchor="ctr"/>
          <a:lstStyle/>
          <a:p>
            <a:pPr indent="0" marL="0">
              <a:buNone/>
            </a:pPr>
            <a:r>
              <a:rPr lang="en-US" sz="1400" b="1" dirty="0">
                <a:solidFill>
                  <a:schemeClr val="tx1"/>
                </a:solidFill>
              </a:rPr>
              <a:t>Forward kinematics (odometry_publisher)</a:t>
            </a:r>
            <a:endParaRPr lang="en-US" sz="1400" dirty="0"/>
          </a:p>
        </p:txBody>
      </p:sp>
      <p:sp>
        <p:nvSpPr>
          <p:cNvPr id="8" name="Text 6"/>
          <p:cNvSpPr txBox="1"/>
          <p:nvPr/>
        </p:nvSpPr>
        <p:spPr>
          <a:xfrm>
            <a:off x="822960" y="4133088"/>
            <a:ext cx="6035040" cy="1280160"/>
          </a:xfrm>
          <a:prstGeom prst="rect">
            <a:avLst/>
          </a:prstGeom>
          <a:noFill/>
          <a:ln/>
        </p:spPr>
        <p:txBody>
          <a:bodyPr wrap="square" lIns="0" tIns="0" rIns="0" bIns="0" rtlCol="0" anchor="t"/>
          <a:lstStyle/>
          <a:p>
            <a:pPr indent="0" marL="0">
              <a:spcAft>
                <a:spcPts val="300"/>
              </a:spcAft>
              <a:buNone/>
            </a:pPr>
            <a:r>
              <a:rPr lang="en-US" sz="1600" dirty="0">
                <a:solidFill>
                  <a:schemeClr val="tx1"/>
                </a:solidFill>
                <a:latin typeface="Cambria" pitchFamily="34" charset="0"/>
                <a:ea typeface="Cambria" pitchFamily="34" charset="-122"/>
                <a:cs typeface="Cambria" pitchFamily="34" charset="-120"/>
              </a:rPr>
              <a:t>vx = (r/4)(ω</a:t>
            </a:r>
            <a:pPr indent="0" marL="0">
              <a:spcAft>
                <a:spcPts val="300"/>
              </a:spcAft>
              <a:buNone/>
            </a:pPr>
            <a:r>
              <a:rPr lang="en-US" sz="1600" baseline="-40000" dirty="0">
                <a:solidFill>
                  <a:schemeClr val="tx1"/>
                </a:solidFill>
                <a:latin typeface="Cambria" pitchFamily="34" charset="0"/>
                <a:ea typeface="Cambria" pitchFamily="34" charset="-122"/>
                <a:cs typeface="Cambria" pitchFamily="34" charset="-120"/>
              </a:rPr>
              <a:t>FR</a:t>
            </a:r>
            <a:pPr indent="0" marL="0">
              <a:spcAft>
                <a:spcPts val="300"/>
              </a:spcAft>
              <a:buNone/>
            </a:pPr>
            <a:r>
              <a:rPr lang="en-US" sz="1600" dirty="0">
                <a:solidFill>
                  <a:schemeClr val="tx1"/>
                </a:solidFill>
                <a:latin typeface="Cambria" pitchFamily="34" charset="0"/>
                <a:ea typeface="Cambria" pitchFamily="34" charset="-122"/>
                <a:cs typeface="Cambria" pitchFamily="34" charset="-120"/>
              </a:rPr>
              <a:t> + ω</a:t>
            </a:r>
            <a:pPr indent="0" marL="0">
              <a:spcAft>
                <a:spcPts val="300"/>
              </a:spcAft>
              <a:buNone/>
            </a:pPr>
            <a:r>
              <a:rPr lang="en-US" sz="1600" baseline="-40000" dirty="0">
                <a:solidFill>
                  <a:schemeClr val="tx1"/>
                </a:solidFill>
                <a:latin typeface="Cambria" pitchFamily="34" charset="0"/>
                <a:ea typeface="Cambria" pitchFamily="34" charset="-122"/>
                <a:cs typeface="Cambria" pitchFamily="34" charset="-120"/>
              </a:rPr>
              <a:t>FL</a:t>
            </a:r>
            <a:pPr indent="0" marL="0">
              <a:spcAft>
                <a:spcPts val="300"/>
              </a:spcAft>
              <a:buNone/>
            </a:pPr>
            <a:r>
              <a:rPr lang="en-US" sz="1600" dirty="0">
                <a:solidFill>
                  <a:schemeClr val="tx1"/>
                </a:solidFill>
                <a:latin typeface="Cambria" pitchFamily="34" charset="0"/>
                <a:ea typeface="Cambria" pitchFamily="34" charset="-122"/>
                <a:cs typeface="Cambria" pitchFamily="34" charset="-120"/>
              </a:rPr>
              <a:t> + ω</a:t>
            </a:r>
            <a:pPr indent="0" marL="0">
              <a:spcAft>
                <a:spcPts val="300"/>
              </a:spcAft>
              <a:buNone/>
            </a:pPr>
            <a:r>
              <a:rPr lang="en-US" sz="1600" baseline="-40000" dirty="0">
                <a:solidFill>
                  <a:schemeClr val="tx1"/>
                </a:solidFill>
                <a:latin typeface="Cambria" pitchFamily="34" charset="0"/>
                <a:ea typeface="Cambria" pitchFamily="34" charset="-122"/>
                <a:cs typeface="Cambria" pitchFamily="34" charset="-120"/>
              </a:rPr>
              <a:t>RR</a:t>
            </a:r>
            <a:pPr indent="0" marL="0">
              <a:spcAft>
                <a:spcPts val="300"/>
              </a:spcAft>
              <a:buNone/>
            </a:pPr>
            <a:r>
              <a:rPr lang="en-US" sz="1600" dirty="0">
                <a:solidFill>
                  <a:schemeClr val="tx1"/>
                </a:solidFill>
                <a:latin typeface="Cambria" pitchFamily="34" charset="0"/>
                <a:ea typeface="Cambria" pitchFamily="34" charset="-122"/>
                <a:cs typeface="Cambria" pitchFamily="34" charset="-120"/>
              </a:rPr>
              <a:t> + ω</a:t>
            </a:r>
            <a:pPr indent="0" marL="0">
              <a:spcAft>
                <a:spcPts val="300"/>
              </a:spcAft>
              <a:buNone/>
            </a:pPr>
            <a:r>
              <a:rPr lang="en-US" sz="1600" baseline="-40000" dirty="0">
                <a:solidFill>
                  <a:schemeClr val="tx1"/>
                </a:solidFill>
                <a:latin typeface="Cambria" pitchFamily="34" charset="0"/>
                <a:ea typeface="Cambria" pitchFamily="34" charset="-122"/>
                <a:cs typeface="Cambria" pitchFamily="34" charset="-120"/>
              </a:rPr>
              <a:t>RL</a:t>
            </a:r>
            <a:pPr indent="0" marL="0">
              <a:spcAft>
                <a:spcPts val="300"/>
              </a:spcAft>
              <a:buNone/>
            </a:pPr>
            <a:r>
              <a:rPr lang="en-US" sz="1600" dirty="0">
                <a:solidFill>
                  <a:schemeClr val="tx1"/>
                </a:solidFill>
                <a:latin typeface="Cambria" pitchFamily="34" charset="0"/>
                <a:ea typeface="Cambria" pitchFamily="34" charset="-122"/>
                <a:cs typeface="Cambria" pitchFamily="34" charset="-120"/>
              </a:rPr>
              <a:t>)</a:t>
            </a:r>
            <a:endParaRPr lang="en-US" sz="1600" dirty="0"/>
          </a:p>
          <a:p>
            <a:pPr indent="0" marL="0">
              <a:spcAft>
                <a:spcPts val="300"/>
              </a:spcAft>
              <a:buNone/>
            </a:pPr>
            <a:r>
              <a:rPr lang="en-US" sz="1600" dirty="0">
                <a:solidFill>
                  <a:schemeClr val="tx1"/>
                </a:solidFill>
                <a:latin typeface="Cambria" pitchFamily="34" charset="0"/>
                <a:ea typeface="Cambria" pitchFamily="34" charset="-122"/>
                <a:cs typeface="Cambria" pitchFamily="34" charset="-120"/>
              </a:rPr>
              <a:t>vy = (r/4)(ω</a:t>
            </a:r>
            <a:pPr indent="0" marL="0">
              <a:spcAft>
                <a:spcPts val="300"/>
              </a:spcAft>
              <a:buNone/>
            </a:pPr>
            <a:r>
              <a:rPr lang="en-US" sz="1600" baseline="-40000" dirty="0">
                <a:solidFill>
                  <a:schemeClr val="tx1"/>
                </a:solidFill>
                <a:latin typeface="Cambria" pitchFamily="34" charset="0"/>
                <a:ea typeface="Cambria" pitchFamily="34" charset="-122"/>
                <a:cs typeface="Cambria" pitchFamily="34" charset="-120"/>
              </a:rPr>
              <a:t>FR</a:t>
            </a:r>
            <a:pPr indent="0" marL="0">
              <a:spcAft>
                <a:spcPts val="300"/>
              </a:spcAft>
              <a:buNone/>
            </a:pPr>
            <a:r>
              <a:rPr lang="en-US" sz="1600" dirty="0">
                <a:solidFill>
                  <a:schemeClr val="tx1"/>
                </a:solidFill>
                <a:latin typeface="Cambria" pitchFamily="34" charset="0"/>
                <a:ea typeface="Cambria" pitchFamily="34" charset="-122"/>
                <a:cs typeface="Cambria" pitchFamily="34" charset="-120"/>
              </a:rPr>
              <a:t> − ω</a:t>
            </a:r>
            <a:pPr indent="0" marL="0">
              <a:spcAft>
                <a:spcPts val="300"/>
              </a:spcAft>
              <a:buNone/>
            </a:pPr>
            <a:r>
              <a:rPr lang="en-US" sz="1600" baseline="-40000" dirty="0">
                <a:solidFill>
                  <a:schemeClr val="tx1"/>
                </a:solidFill>
                <a:latin typeface="Cambria" pitchFamily="34" charset="0"/>
                <a:ea typeface="Cambria" pitchFamily="34" charset="-122"/>
                <a:cs typeface="Cambria" pitchFamily="34" charset="-120"/>
              </a:rPr>
              <a:t>FL</a:t>
            </a:r>
            <a:pPr indent="0" marL="0">
              <a:spcAft>
                <a:spcPts val="300"/>
              </a:spcAft>
              <a:buNone/>
            </a:pPr>
            <a:r>
              <a:rPr lang="en-US" sz="1600" dirty="0">
                <a:solidFill>
                  <a:schemeClr val="tx1"/>
                </a:solidFill>
                <a:latin typeface="Cambria" pitchFamily="34" charset="0"/>
                <a:ea typeface="Cambria" pitchFamily="34" charset="-122"/>
                <a:cs typeface="Cambria" pitchFamily="34" charset="-120"/>
              </a:rPr>
              <a:t> − ω</a:t>
            </a:r>
            <a:pPr indent="0" marL="0">
              <a:spcAft>
                <a:spcPts val="300"/>
              </a:spcAft>
              <a:buNone/>
            </a:pPr>
            <a:r>
              <a:rPr lang="en-US" sz="1600" baseline="-40000" dirty="0">
                <a:solidFill>
                  <a:schemeClr val="tx1"/>
                </a:solidFill>
                <a:latin typeface="Cambria" pitchFamily="34" charset="0"/>
                <a:ea typeface="Cambria" pitchFamily="34" charset="-122"/>
                <a:cs typeface="Cambria" pitchFamily="34" charset="-120"/>
              </a:rPr>
              <a:t>RR</a:t>
            </a:r>
            <a:pPr indent="0" marL="0">
              <a:spcAft>
                <a:spcPts val="300"/>
              </a:spcAft>
              <a:buNone/>
            </a:pPr>
            <a:r>
              <a:rPr lang="en-US" sz="1600" dirty="0">
                <a:solidFill>
                  <a:schemeClr val="tx1"/>
                </a:solidFill>
                <a:latin typeface="Cambria" pitchFamily="34" charset="0"/>
                <a:ea typeface="Cambria" pitchFamily="34" charset="-122"/>
                <a:cs typeface="Cambria" pitchFamily="34" charset="-120"/>
              </a:rPr>
              <a:t> + ω</a:t>
            </a:r>
            <a:pPr indent="0" marL="0">
              <a:spcAft>
                <a:spcPts val="300"/>
              </a:spcAft>
              <a:buNone/>
            </a:pPr>
            <a:r>
              <a:rPr lang="en-US" sz="1600" baseline="-40000" dirty="0">
                <a:solidFill>
                  <a:schemeClr val="tx1"/>
                </a:solidFill>
                <a:latin typeface="Cambria" pitchFamily="34" charset="0"/>
                <a:ea typeface="Cambria" pitchFamily="34" charset="-122"/>
                <a:cs typeface="Cambria" pitchFamily="34" charset="-120"/>
              </a:rPr>
              <a:t>RL</a:t>
            </a:r>
            <a:pPr indent="0" marL="0">
              <a:spcAft>
                <a:spcPts val="300"/>
              </a:spcAft>
              <a:buNone/>
            </a:pPr>
            <a:r>
              <a:rPr lang="en-US" sz="1600" dirty="0">
                <a:solidFill>
                  <a:schemeClr val="tx1"/>
                </a:solidFill>
                <a:latin typeface="Cambria" pitchFamily="34" charset="0"/>
                <a:ea typeface="Cambria" pitchFamily="34" charset="-122"/>
                <a:cs typeface="Cambria" pitchFamily="34" charset="-120"/>
              </a:rPr>
              <a:t>) × 0.92</a:t>
            </a:r>
            <a:endParaRPr lang="en-US" sz="1600" dirty="0"/>
          </a:p>
          <a:p>
            <a:pPr indent="0" marL="0">
              <a:spcAft>
                <a:spcPts val="300"/>
              </a:spcAft>
              <a:buNone/>
            </a:pPr>
            <a:r>
              <a:rPr lang="en-US" sz="1600" dirty="0">
                <a:solidFill>
                  <a:schemeClr val="tx1"/>
                </a:solidFill>
                <a:latin typeface="Cambria" pitchFamily="34" charset="0"/>
                <a:ea typeface="Cambria" pitchFamily="34" charset="-122"/>
                <a:cs typeface="Cambria" pitchFamily="34" charset="-120"/>
              </a:rPr>
              <a:t>ωz = (r/4)(ω</a:t>
            </a:r>
            <a:pPr indent="0" marL="0">
              <a:spcAft>
                <a:spcPts val="300"/>
              </a:spcAft>
              <a:buNone/>
            </a:pPr>
            <a:r>
              <a:rPr lang="en-US" sz="1600" baseline="-40000" dirty="0">
                <a:solidFill>
                  <a:schemeClr val="tx1"/>
                </a:solidFill>
                <a:latin typeface="Cambria" pitchFamily="34" charset="0"/>
                <a:ea typeface="Cambria" pitchFamily="34" charset="-122"/>
                <a:cs typeface="Cambria" pitchFamily="34" charset="-120"/>
              </a:rPr>
              <a:t>FR</a:t>
            </a:r>
            <a:pPr indent="0" marL="0">
              <a:spcAft>
                <a:spcPts val="300"/>
              </a:spcAft>
              <a:buNone/>
            </a:pPr>
            <a:r>
              <a:rPr lang="en-US" sz="1600" dirty="0">
                <a:solidFill>
                  <a:schemeClr val="tx1"/>
                </a:solidFill>
                <a:latin typeface="Cambria" pitchFamily="34" charset="0"/>
                <a:ea typeface="Cambria" pitchFamily="34" charset="-122"/>
                <a:cs typeface="Cambria" pitchFamily="34" charset="-120"/>
              </a:rPr>
              <a:t>/K</a:t>
            </a:r>
            <a:pPr indent="0" marL="0">
              <a:spcAft>
                <a:spcPts val="300"/>
              </a:spcAft>
              <a:buNone/>
            </a:pPr>
            <a:r>
              <a:rPr lang="en-US" sz="1600" baseline="-40000" dirty="0">
                <a:solidFill>
                  <a:schemeClr val="tx1"/>
                </a:solidFill>
                <a:latin typeface="Cambria" pitchFamily="34" charset="0"/>
                <a:ea typeface="Cambria" pitchFamily="34" charset="-122"/>
                <a:cs typeface="Cambria" pitchFamily="34" charset="-120"/>
              </a:rPr>
              <a:t>out</a:t>
            </a:r>
            <a:pPr indent="0" marL="0">
              <a:spcAft>
                <a:spcPts val="300"/>
              </a:spcAft>
              <a:buNone/>
            </a:pPr>
            <a:r>
              <a:rPr lang="en-US" sz="1600" dirty="0">
                <a:solidFill>
                  <a:schemeClr val="tx1"/>
                </a:solidFill>
                <a:latin typeface="Cambria" pitchFamily="34" charset="0"/>
                <a:ea typeface="Cambria" pitchFamily="34" charset="-122"/>
                <a:cs typeface="Cambria" pitchFamily="34" charset="-120"/>
              </a:rPr>
              <a:t> − ω</a:t>
            </a:r>
            <a:pPr indent="0" marL="0">
              <a:spcAft>
                <a:spcPts val="300"/>
              </a:spcAft>
              <a:buNone/>
            </a:pPr>
            <a:r>
              <a:rPr lang="en-US" sz="1600" baseline="-40000" dirty="0">
                <a:solidFill>
                  <a:schemeClr val="tx1"/>
                </a:solidFill>
                <a:latin typeface="Cambria" pitchFamily="34" charset="0"/>
                <a:ea typeface="Cambria" pitchFamily="34" charset="-122"/>
                <a:cs typeface="Cambria" pitchFamily="34" charset="-120"/>
              </a:rPr>
              <a:t>FL</a:t>
            </a:r>
            <a:pPr indent="0" marL="0">
              <a:spcAft>
                <a:spcPts val="300"/>
              </a:spcAft>
              <a:buNone/>
            </a:pPr>
            <a:r>
              <a:rPr lang="en-US" sz="1600" dirty="0">
                <a:solidFill>
                  <a:schemeClr val="tx1"/>
                </a:solidFill>
                <a:latin typeface="Cambria" pitchFamily="34" charset="0"/>
                <a:ea typeface="Cambria" pitchFamily="34" charset="-122"/>
                <a:cs typeface="Cambria" pitchFamily="34" charset="-120"/>
              </a:rPr>
              <a:t>/K</a:t>
            </a:r>
            <a:pPr indent="0" marL="0">
              <a:spcAft>
                <a:spcPts val="300"/>
              </a:spcAft>
              <a:buNone/>
            </a:pPr>
            <a:r>
              <a:rPr lang="en-US" sz="1600" baseline="-40000" dirty="0">
                <a:solidFill>
                  <a:schemeClr val="tx1"/>
                </a:solidFill>
                <a:latin typeface="Cambria" pitchFamily="34" charset="0"/>
                <a:ea typeface="Cambria" pitchFamily="34" charset="-122"/>
                <a:cs typeface="Cambria" pitchFamily="34" charset="-120"/>
              </a:rPr>
              <a:t>in</a:t>
            </a:r>
            <a:pPr indent="0" marL="0">
              <a:spcAft>
                <a:spcPts val="300"/>
              </a:spcAft>
              <a:buNone/>
            </a:pPr>
            <a:r>
              <a:rPr lang="en-US" sz="1600" dirty="0">
                <a:solidFill>
                  <a:schemeClr val="tx1"/>
                </a:solidFill>
                <a:latin typeface="Cambria" pitchFamily="34" charset="0"/>
                <a:ea typeface="Cambria" pitchFamily="34" charset="-122"/>
                <a:cs typeface="Cambria" pitchFamily="34" charset="-120"/>
              </a:rPr>
              <a:t> + ω</a:t>
            </a:r>
            <a:pPr indent="0" marL="0">
              <a:spcAft>
                <a:spcPts val="300"/>
              </a:spcAft>
              <a:buNone/>
            </a:pPr>
            <a:r>
              <a:rPr lang="en-US" sz="1600" baseline="-40000" dirty="0">
                <a:solidFill>
                  <a:schemeClr val="tx1"/>
                </a:solidFill>
                <a:latin typeface="Cambria" pitchFamily="34" charset="0"/>
                <a:ea typeface="Cambria" pitchFamily="34" charset="-122"/>
                <a:cs typeface="Cambria" pitchFamily="34" charset="-120"/>
              </a:rPr>
              <a:t>RR</a:t>
            </a:r>
            <a:pPr indent="0" marL="0">
              <a:spcAft>
                <a:spcPts val="300"/>
              </a:spcAft>
              <a:buNone/>
            </a:pPr>
            <a:r>
              <a:rPr lang="en-US" sz="1600" dirty="0">
                <a:solidFill>
                  <a:schemeClr val="tx1"/>
                </a:solidFill>
                <a:latin typeface="Cambria" pitchFamily="34" charset="0"/>
                <a:ea typeface="Cambria" pitchFamily="34" charset="-122"/>
                <a:cs typeface="Cambria" pitchFamily="34" charset="-120"/>
              </a:rPr>
              <a:t>/K</a:t>
            </a:r>
            <a:pPr indent="0" marL="0">
              <a:spcAft>
                <a:spcPts val="300"/>
              </a:spcAft>
              <a:buNone/>
            </a:pPr>
            <a:r>
              <a:rPr lang="en-US" sz="1600" baseline="-40000" dirty="0">
                <a:solidFill>
                  <a:schemeClr val="tx1"/>
                </a:solidFill>
                <a:latin typeface="Cambria" pitchFamily="34" charset="0"/>
                <a:ea typeface="Cambria" pitchFamily="34" charset="-122"/>
                <a:cs typeface="Cambria" pitchFamily="34" charset="-120"/>
              </a:rPr>
              <a:t>in</a:t>
            </a:r>
            <a:pPr indent="0" marL="0">
              <a:spcAft>
                <a:spcPts val="300"/>
              </a:spcAft>
              <a:buNone/>
            </a:pPr>
            <a:r>
              <a:rPr lang="en-US" sz="1600" dirty="0">
                <a:solidFill>
                  <a:schemeClr val="tx1"/>
                </a:solidFill>
                <a:latin typeface="Cambria" pitchFamily="34" charset="0"/>
                <a:ea typeface="Cambria" pitchFamily="34" charset="-122"/>
                <a:cs typeface="Cambria" pitchFamily="34" charset="-120"/>
              </a:rPr>
              <a:t> − ω</a:t>
            </a:r>
            <a:pPr indent="0" marL="0">
              <a:spcAft>
                <a:spcPts val="300"/>
              </a:spcAft>
              <a:buNone/>
            </a:pPr>
            <a:r>
              <a:rPr lang="en-US" sz="1600" baseline="-40000" dirty="0">
                <a:solidFill>
                  <a:schemeClr val="tx1"/>
                </a:solidFill>
                <a:latin typeface="Cambria" pitchFamily="34" charset="0"/>
                <a:ea typeface="Cambria" pitchFamily="34" charset="-122"/>
                <a:cs typeface="Cambria" pitchFamily="34" charset="-120"/>
              </a:rPr>
              <a:t>RL</a:t>
            </a:r>
            <a:pPr indent="0" marL="0">
              <a:spcAft>
                <a:spcPts val="300"/>
              </a:spcAft>
              <a:buNone/>
            </a:pPr>
            <a:r>
              <a:rPr lang="en-US" sz="1600" dirty="0">
                <a:solidFill>
                  <a:schemeClr val="tx1"/>
                </a:solidFill>
                <a:latin typeface="Cambria" pitchFamily="34" charset="0"/>
                <a:ea typeface="Cambria" pitchFamily="34" charset="-122"/>
                <a:cs typeface="Cambria" pitchFamily="34" charset="-120"/>
              </a:rPr>
              <a:t>/K</a:t>
            </a:r>
            <a:pPr indent="0" marL="0">
              <a:spcAft>
                <a:spcPts val="300"/>
              </a:spcAft>
              <a:buNone/>
            </a:pPr>
            <a:r>
              <a:rPr lang="en-US" sz="1600" baseline="-40000" dirty="0">
                <a:solidFill>
                  <a:schemeClr val="tx1"/>
                </a:solidFill>
                <a:latin typeface="Cambria" pitchFamily="34" charset="0"/>
                <a:ea typeface="Cambria" pitchFamily="34" charset="-122"/>
                <a:cs typeface="Cambria" pitchFamily="34" charset="-120"/>
              </a:rPr>
              <a:t>out</a:t>
            </a:r>
            <a:pPr indent="0" marL="0">
              <a:spcAft>
                <a:spcPts val="300"/>
              </a:spcAft>
              <a:buNone/>
            </a:pPr>
            <a:r>
              <a:rPr lang="en-US" sz="1600" dirty="0">
                <a:solidFill>
                  <a:schemeClr val="tx1"/>
                </a:solidFill>
                <a:latin typeface="Cambria" pitchFamily="34" charset="0"/>
                <a:ea typeface="Cambria" pitchFamily="34" charset="-122"/>
                <a:cs typeface="Cambria" pitchFamily="34" charset="-120"/>
              </a:rPr>
              <a:t>)</a:t>
            </a:r>
            <a:endParaRPr lang="en-US" sz="1600" dirty="0"/>
          </a:p>
        </p:txBody>
      </p:sp>
      <p:sp>
        <p:nvSpPr>
          <p:cNvPr id="9" name="Text 7"/>
          <p:cNvSpPr txBox="1"/>
          <p:nvPr/>
        </p:nvSpPr>
        <p:spPr>
          <a:xfrm>
            <a:off x="548640" y="5669280"/>
            <a:ext cx="6400800" cy="457200"/>
          </a:xfrm>
          <a:prstGeom prst="rect">
            <a:avLst/>
          </a:prstGeom>
          <a:noFill/>
          <a:ln/>
        </p:spPr>
        <p:txBody>
          <a:bodyPr wrap="square" lIns="0" tIns="0" rIns="0" bIns="0" rtlCol="0" anchor="ctr"/>
          <a:lstStyle/>
          <a:p>
            <a:pPr indent="0" marL="0">
              <a:buNone/>
            </a:pPr>
            <a:r>
              <a:rPr lang="en-US" sz="1200" dirty="0">
                <a:solidFill>
                  <a:schemeClr val="tx2"/>
                </a:solidFill>
              </a:rPr>
              <a:t>K</a:t>
            </a:r>
            <a:pPr indent="0" marL="0">
              <a:buNone/>
            </a:pPr>
            <a:r>
              <a:rPr lang="en-US" sz="1200" baseline="-40000" dirty="0">
                <a:solidFill>
                  <a:schemeClr val="tx2"/>
                </a:solidFill>
              </a:rPr>
              <a:t>out</a:t>
            </a:r>
            <a:pPr indent="0" marL="0">
              <a:buNone/>
            </a:pPr>
            <a:r>
              <a:rPr lang="en-US" sz="1200" dirty="0">
                <a:solidFill>
                  <a:schemeClr val="tx2"/>
                </a:solidFill>
              </a:rPr>
              <a:t> = l</a:t>
            </a:r>
            <a:pPr indent="0" marL="0">
              <a:buNone/>
            </a:pPr>
            <a:r>
              <a:rPr lang="en-US" sz="1200" baseline="-40000" dirty="0">
                <a:solidFill>
                  <a:schemeClr val="tx2"/>
                </a:solidFill>
              </a:rPr>
              <a:t>1</a:t>
            </a:r>
            <a:pPr indent="0" marL="0">
              <a:buNone/>
            </a:pPr>
            <a:r>
              <a:rPr lang="en-US" sz="1200" dirty="0">
                <a:solidFill>
                  <a:schemeClr val="tx2"/>
                </a:solidFill>
              </a:rPr>
              <a:t> + d = 0.561 m,  K</a:t>
            </a:r>
            <a:pPr indent="0" marL="0">
              <a:buNone/>
            </a:pPr>
            <a:r>
              <a:rPr lang="en-US" sz="1200" baseline="-40000" dirty="0">
                <a:solidFill>
                  <a:schemeClr val="tx2"/>
                </a:solidFill>
              </a:rPr>
              <a:t>in</a:t>
            </a:r>
            <a:pPr indent="0" marL="0">
              <a:buNone/>
            </a:pPr>
            <a:r>
              <a:rPr lang="en-US" sz="1200" dirty="0">
                <a:solidFill>
                  <a:schemeClr val="tx2"/>
                </a:solidFill>
              </a:rPr>
              <a:t> = l</a:t>
            </a:r>
            <a:pPr indent="0" marL="0">
              <a:buNone/>
            </a:pPr>
            <a:r>
              <a:rPr lang="en-US" sz="1200" baseline="-40000" dirty="0">
                <a:solidFill>
                  <a:schemeClr val="tx2"/>
                </a:solidFill>
              </a:rPr>
              <a:t>2</a:t>
            </a:r>
            <a:pPr indent="0" marL="0">
              <a:buNone/>
            </a:pPr>
            <a:r>
              <a:rPr lang="en-US" sz="1200" dirty="0">
                <a:solidFill>
                  <a:schemeClr val="tx2"/>
                </a:solidFill>
              </a:rPr>
              <a:t> + d = 0.491 m,  r = 0.0762 m.  Axes: x forward, y left.</a:t>
            </a:r>
            <a:endParaRPr lang="en-US" sz="1200" dirty="0"/>
          </a:p>
        </p:txBody>
      </p:sp>
      <p:sp>
        <p:nvSpPr>
          <p:cNvPr id="10" name="Text 8"/>
          <p:cNvSpPr txBox="1"/>
          <p:nvPr/>
        </p:nvSpPr>
        <p:spPr>
          <a:xfrm>
            <a:off x="7498080" y="1234440"/>
            <a:ext cx="4144975" cy="777240"/>
          </a:xfrm>
          <a:prstGeom prst="rect">
            <a:avLst/>
          </a:prstGeom>
          <a:noFill/>
          <a:ln/>
        </p:spPr>
        <p:txBody>
          <a:bodyPr wrap="square" lIns="0" tIns="0" rIns="0" bIns="0" rtlCol="0" anchor="ctr"/>
          <a:lstStyle/>
          <a:p>
            <a:pPr indent="0" marL="0">
              <a:buNone/>
            </a:pPr>
            <a:r>
              <a:rPr lang="en-US" sz="4400" b="1" dirty="0">
                <a:solidFill>
                  <a:schemeClr val="accent3"/>
                </a:solidFill>
              </a:rPr>
              <a:t>0.229 m</a:t>
            </a:r>
            <a:endParaRPr lang="en-US" sz="4400" dirty="0"/>
          </a:p>
        </p:txBody>
      </p:sp>
      <p:sp>
        <p:nvSpPr>
          <p:cNvPr id="11" name="Text 9"/>
          <p:cNvSpPr txBox="1"/>
          <p:nvPr/>
        </p:nvSpPr>
        <p:spPr>
          <a:xfrm>
            <a:off x="7498080" y="2011680"/>
            <a:ext cx="4144975" cy="594360"/>
          </a:xfrm>
          <a:prstGeom prst="rect">
            <a:avLst/>
          </a:prstGeom>
          <a:noFill/>
          <a:ln/>
        </p:spPr>
        <p:txBody>
          <a:bodyPr wrap="square" lIns="0" tIns="0" rIns="0" bIns="0" rtlCol="0" anchor="t"/>
          <a:lstStyle/>
          <a:p>
            <a:pPr indent="0" marL="0">
              <a:buNone/>
            </a:pPr>
            <a:r>
              <a:rPr lang="en-US" sz="1300" dirty="0">
                <a:solidFill>
                  <a:schemeClr val="tx2"/>
                </a:solidFill>
              </a:rPr>
              <a:t>closure error after a 21.85 m drive, wheel odometry alone (3 Sep)</a:t>
            </a:r>
            <a:endParaRPr lang="en-US" sz="1300" dirty="0"/>
          </a:p>
        </p:txBody>
      </p:sp>
      <p:sp>
        <p:nvSpPr>
          <p:cNvPr id="12" name="Text 10"/>
          <p:cNvSpPr txBox="1"/>
          <p:nvPr/>
        </p:nvSpPr>
        <p:spPr>
          <a:xfrm>
            <a:off x="7498080" y="2788920"/>
            <a:ext cx="4144975" cy="777240"/>
          </a:xfrm>
          <a:prstGeom prst="rect">
            <a:avLst/>
          </a:prstGeom>
          <a:noFill/>
          <a:ln/>
        </p:spPr>
        <p:txBody>
          <a:bodyPr wrap="square" lIns="0" tIns="0" rIns="0" bIns="0" rtlCol="0" anchor="ctr"/>
          <a:lstStyle/>
          <a:p>
            <a:pPr indent="0" marL="0">
              <a:buNone/>
            </a:pPr>
            <a:r>
              <a:rPr lang="en-US" sz="4400" b="1" dirty="0">
                <a:solidFill>
                  <a:schemeClr val="accent3"/>
                </a:solidFill>
              </a:rPr>
              <a:t>0.92</a:t>
            </a:r>
            <a:endParaRPr lang="en-US" sz="4400" dirty="0"/>
          </a:p>
        </p:txBody>
      </p:sp>
      <p:sp>
        <p:nvSpPr>
          <p:cNvPr id="13" name="Text 11"/>
          <p:cNvSpPr txBox="1"/>
          <p:nvPr/>
        </p:nvSpPr>
        <p:spPr>
          <a:xfrm>
            <a:off x="7498080" y="3566160"/>
            <a:ext cx="4144975" cy="594360"/>
          </a:xfrm>
          <a:prstGeom prst="rect">
            <a:avLst/>
          </a:prstGeom>
          <a:noFill/>
          <a:ln/>
        </p:spPr>
        <p:txBody>
          <a:bodyPr wrap="square" lIns="0" tIns="0" rIns="0" bIns="0" rtlCol="0" anchor="t"/>
          <a:lstStyle/>
          <a:p>
            <a:pPr indent="0" marL="0">
              <a:buNone/>
            </a:pPr>
            <a:r>
              <a:rPr lang="en-US" sz="1300" dirty="0">
                <a:solidFill>
                  <a:schemeClr val="tx2"/>
                </a:solidFill>
              </a:rPr>
              <a:t>lateral scale factor: the rollers scrub when strafing. It was 0.80 on a different floor.</a:t>
            </a:r>
            <a:endParaRPr lang="en-US" sz="1300" dirty="0"/>
          </a:p>
        </p:txBody>
      </p:sp>
      <p:sp>
        <p:nvSpPr>
          <p:cNvPr id="14" name="Text 12"/>
          <p:cNvSpPr txBox="1"/>
          <p:nvPr/>
        </p:nvSpPr>
        <p:spPr>
          <a:xfrm>
            <a:off x="7498080" y="4434840"/>
            <a:ext cx="4144975" cy="146304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No IMU and no filter. Heading drift and strafe error are not corrected by anything at present, and the forward equations are the exact inverse of the ones the ESP32 drives with.</a:t>
            </a:r>
            <a:endParaRPr lang="en-US" sz="1400" dirty="0"/>
          </a:p>
        </p:txBody>
      </p:sp>
      <p:sp>
        <p:nvSpPr>
          <p:cNvPr id="25" name="Slide Number Placeholder 0"/>
          <p:cNvSpPr>
            <a:spLocks noGrp="1"/>
          </p:cNvSpPr>
          <p:nvPr>
            <p:ph type="sldNum" sz="quarter" idx="4294967295"/>
          </p:nvPr>
        </p:nvSpPr>
        <p:spPr>
          <a:xfrm>
            <a:off x="11094415"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13232"/>
          </a:xfrm>
          <a:prstGeom prst="rect">
            <a:avLst/>
          </a:prstGeom>
          <a:noFill/>
          <a:ln/>
        </p:spPr>
        <p:txBody>
          <a:bodyPr wrap="square" lIns="0" tIns="0" rIns="0" bIns="0" rtlCol="0" anchor="ctr"/>
          <a:lstStyle/>
          <a:p>
            <a:pPr algn="l" indent="0" marL="0">
              <a:buNone/>
            </a:pPr>
            <a:r>
              <a:rPr lang="en-US" sz="3000" b="1" dirty="0">
                <a:solidFill>
                  <a:schemeClr val="tx1"/>
                </a:solidFill>
              </a:rPr>
              <a:t>From LiDAR to map</a:t>
            </a:r>
            <a:endParaRPr lang="en-US" sz="3000" dirty="0"/>
          </a:p>
        </p:txBody>
      </p:sp>
      <p:pic>
        <p:nvPicPr>
          <p:cNvPr id="3" name="Image 0" descr="/home/user/NarrowAisleBot/docs/flowcharts/png/s4_perception_and_pose_slide.png">    </p:cNvPr>
          <p:cNvPicPr>
            <a:picLocks noChangeAspect="1"/>
          </p:cNvPicPr>
          <p:nvPr/>
        </p:nvPicPr>
        <p:blipFill>
          <a:blip r:embed="rId1"/>
          <a:stretch>
            <a:fillRect/>
          </a:stretch>
        </p:blipFill>
        <p:spPr>
          <a:xfrm>
            <a:off x="1503528" y="1097280"/>
            <a:ext cx="9184640" cy="5166360"/>
          </a:xfrm>
          <a:prstGeom prst="rect">
            <a:avLst/>
          </a:prstGeom>
        </p:spPr>
      </p:pic>
      <p:sp>
        <p:nvSpPr>
          <p:cNvPr id="25" name="Slide Number Placeholder 0"/>
          <p:cNvSpPr>
            <a:spLocks noGrp="1"/>
          </p:cNvSpPr>
          <p:nvPr>
            <p:ph type="sldNum" sz="quarter" idx="4294967295"/>
          </p:nvPr>
        </p:nvSpPr>
        <p:spPr>
          <a:xfrm>
            <a:off x="11094415"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13232"/>
          </a:xfrm>
          <a:prstGeom prst="rect">
            <a:avLst/>
          </a:prstGeom>
          <a:noFill/>
          <a:ln/>
        </p:spPr>
        <p:txBody>
          <a:bodyPr wrap="square" lIns="0" tIns="0" rIns="0" bIns="0" rtlCol="0" anchor="ctr"/>
          <a:lstStyle/>
          <a:p>
            <a:pPr algn="l" indent="0" marL="0">
              <a:buNone/>
            </a:pPr>
            <a:r>
              <a:rPr lang="en-US" sz="3000" b="1" dirty="0">
                <a:solidFill>
                  <a:schemeClr val="tx1"/>
                </a:solidFill>
              </a:rPr>
              <a:t>SLAM as it runs today, and why scan matching is off</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5852160" cy="914400"/>
        </p:xfrm>
        <a:graphic>
          <a:graphicData uri="http://schemas.openxmlformats.org/drawingml/2006/table">
            <a:tbl>
              <a:tblPr/>
              <a:tblGrid>
                <a:gridCol w="1920240"/>
                <a:gridCol w="3931920"/>
              </a:tblGrid>
              <a:tr h="457200">
                <a:tc>
                  <a:txBody>
                    <a:bodyPr/>
                    <a:lstStyle/>
                    <a:p>
                      <a:pPr indent="0" marL="0">
                        <a:buNone/>
                      </a:pPr>
                      <a:r>
                        <a:rPr lang="en-US" sz="1300" b="1" dirty="0">
                          <a:solidFill>
                            <a:schemeClr val="bg1"/>
                          </a:solidFill>
                        </a:rPr>
                        <a:t>Setting</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Value</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chemeClr val="tx1"/>
                    </a:solidFill>
                  </a:tcPr>
                </a:tc>
              </a:tr>
              <a:tr h="457200">
                <a:tc>
                  <a:txBody>
                    <a:bodyPr/>
                    <a:lstStyle/>
                    <a:p>
                      <a:pPr indent="0" marL="0">
                        <a:buNone/>
                      </a:pPr>
                      <a:r>
                        <a:rPr lang="en-US" sz="1300" dirty="0">
                          <a:solidFill>
                            <a:schemeClr val="tx1"/>
                          </a:solidFill>
                        </a:rPr>
                        <a:t>Package</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300" dirty="0">
                          <a:solidFill>
                            <a:schemeClr val="tx1"/>
                          </a:solidFill>
                        </a:rPr>
                        <a:t>slam_toolbox 2.8.5, online asynchronous mapping</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457200">
                <a:tc>
                  <a:txBody>
                    <a:bodyPr/>
                    <a:lstStyle/>
                    <a:p>
                      <a:pPr indent="0" marL="0">
                        <a:buNone/>
                      </a:pPr>
                      <a:r>
                        <a:rPr lang="en-US" sz="1300" dirty="0">
                          <a:solidFill>
                            <a:schemeClr val="tx1"/>
                          </a:solidFill>
                        </a:rPr>
                        <a:t>Solver</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300" dirty="0">
                          <a:solidFill>
                            <a:schemeClr val="tx1"/>
                          </a:solidFill>
                        </a:rPr>
                        <a:t>Ceres, sparse normal Cholesky, Levenberg-Marquardt</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457200">
                <a:tc>
                  <a:txBody>
                    <a:bodyPr/>
                    <a:lstStyle/>
                    <a:p>
                      <a:pPr indent="0" marL="0">
                        <a:buNone/>
                      </a:pPr>
                      <a:r>
                        <a:rPr lang="en-US" sz="1300" dirty="0">
                          <a:solidFill>
                            <a:schemeClr val="tx1"/>
                          </a:solidFill>
                        </a:rPr>
                        <a:t>Scan matching</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300" dirty="0">
                          <a:solidFill>
                            <a:schemeClr val="tx1"/>
                          </a:solidFill>
                        </a:rPr>
                        <a:t>Off</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457200">
                <a:tc>
                  <a:txBody>
                    <a:bodyPr/>
                    <a:lstStyle/>
                    <a:p>
                      <a:pPr indent="0" marL="0">
                        <a:buNone/>
                      </a:pPr>
                      <a:r>
                        <a:rPr lang="en-US" sz="1300" dirty="0">
                          <a:solidFill>
                            <a:schemeClr val="tx1"/>
                          </a:solidFill>
                        </a:rPr>
                        <a:t>Loop closing</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300" dirty="0">
                          <a:solidFill>
                            <a:schemeClr val="tx1"/>
                          </a:solidFill>
                        </a:rPr>
                        <a:t>On, 2.0 m search distance</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457200">
                <a:tc>
                  <a:txBody>
                    <a:bodyPr/>
                    <a:lstStyle/>
                    <a:p>
                      <a:pPr indent="0" marL="0">
                        <a:buNone/>
                      </a:pPr>
                      <a:r>
                        <a:rPr lang="en-US" sz="1300" dirty="0">
                          <a:solidFill>
                            <a:schemeClr val="tx1"/>
                          </a:solidFill>
                        </a:rPr>
                        <a:t>New graph node</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300" dirty="0">
                          <a:solidFill>
                            <a:schemeClr val="tx1"/>
                          </a:solidFill>
                        </a:rPr>
                        <a:t>Every 0.2 m or 0.2 rad of travel</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457200">
                <a:tc>
                  <a:txBody>
                    <a:bodyPr/>
                    <a:lstStyle/>
                    <a:p>
                      <a:pPr indent="0" marL="0">
                        <a:buNone/>
                      </a:pPr>
                      <a:r>
                        <a:rPr lang="en-US" sz="1300" dirty="0">
                          <a:solidFill>
                            <a:schemeClr val="tx1"/>
                          </a:solidFill>
                        </a:rPr>
                        <a:t>Laser range used</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300" dirty="0">
                          <a:solidFill>
                            <a:schemeClr val="tx1"/>
                          </a:solidFill>
                        </a:rPr>
                        <a:t>Up to 5.0 m</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457200">
                <a:tc>
                  <a:txBody>
                    <a:bodyPr/>
                    <a:lstStyle/>
                    <a:p>
                      <a:pPr indent="0" marL="0">
                        <a:buNone/>
                      </a:pPr>
                      <a:r>
                        <a:rPr lang="en-US" sz="1300" dirty="0">
                          <a:solidFill>
                            <a:schemeClr val="tx1"/>
                          </a:solidFill>
                        </a:rPr>
                        <a:t>Map resolution</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300" dirty="0">
                          <a:solidFill>
                            <a:schemeClr val="tx1"/>
                          </a:solidFill>
                        </a:rPr>
                        <a:t>0.05 m per cell</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457200">
                <a:tc>
                  <a:txBody>
                    <a:bodyPr/>
                    <a:lstStyle/>
                    <a:p>
                      <a:pPr indent="0" marL="0">
                        <a:buNone/>
                      </a:pPr>
                      <a:r>
                        <a:rPr lang="en-US" sz="1300" dirty="0">
                          <a:solidFill>
                            <a:schemeClr val="tx1"/>
                          </a:solidFill>
                        </a:rPr>
                        <a:t>Scan input</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300" dirty="0">
                          <a:solidFill>
                            <a:schemeClr val="tx1"/>
                          </a:solidFill>
                        </a:rPr>
                        <a:t>/scan_reliable from scan_relay</a:t>
                      </a:r>
                      <a:endParaRPr lang="en-US" sz="1300" dirty="0"/>
                    </a:p>
                  </a:txBody>
                  <a:tcPr marL="101600" marR="101600" marT="50800" marB="50800" anchor="ctr">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bl>
          </a:graphicData>
        </a:graphic>
      </p:graphicFrame>
      <p:sp>
        <p:nvSpPr>
          <p:cNvPr id="4" name="Text 1"/>
          <p:cNvSpPr txBox="1"/>
          <p:nvPr/>
        </p:nvSpPr>
        <p:spPr>
          <a:xfrm>
            <a:off x="6858000" y="1234440"/>
            <a:ext cx="4785055" cy="365760"/>
          </a:xfrm>
          <a:prstGeom prst="rect">
            <a:avLst/>
          </a:prstGeom>
          <a:noFill/>
          <a:ln/>
        </p:spPr>
        <p:txBody>
          <a:bodyPr wrap="square" lIns="0" tIns="0" rIns="0" bIns="0" rtlCol="0" anchor="ctr"/>
          <a:lstStyle/>
          <a:p>
            <a:pPr indent="0" marL="0">
              <a:buNone/>
            </a:pPr>
            <a:r>
              <a:rPr lang="en-US" sz="1500" b="1" dirty="0">
                <a:solidFill>
                  <a:schemeClr val="tx1"/>
                </a:solidFill>
              </a:rPr>
              <a:t>Same 21.85 m drive, error at the end</a:t>
            </a:r>
            <a:endParaRPr lang="en-US" sz="1500" dirty="0"/>
          </a:p>
        </p:txBody>
      </p:sp>
      <p:sp>
        <p:nvSpPr>
          <p:cNvPr id="5" name="Text 2"/>
          <p:cNvSpPr txBox="1"/>
          <p:nvPr/>
        </p:nvSpPr>
        <p:spPr>
          <a:xfrm>
            <a:off x="6858000" y="1691640"/>
            <a:ext cx="4785055" cy="640080"/>
          </a:xfrm>
          <a:prstGeom prst="rect">
            <a:avLst/>
          </a:prstGeom>
          <a:noFill/>
          <a:ln/>
        </p:spPr>
        <p:txBody>
          <a:bodyPr wrap="square" lIns="0" tIns="0" rIns="0" bIns="0" rtlCol="0" anchor="ctr"/>
          <a:lstStyle/>
          <a:p>
            <a:pPr indent="0" marL="0">
              <a:buNone/>
            </a:pPr>
            <a:r>
              <a:rPr lang="en-US" sz="3600" b="1" dirty="0">
                <a:solidFill>
                  <a:schemeClr val="accent3"/>
                </a:solidFill>
              </a:rPr>
              <a:t>0.229 m</a:t>
            </a:r>
            <a:pPr indent="0" marL="0">
              <a:buNone/>
            </a:pPr>
            <a:r>
              <a:rPr lang="en-US" sz="1400" dirty="0">
                <a:solidFill>
                  <a:schemeClr val="tx2"/>
                </a:solidFill>
              </a:rPr>
              <a:t>   wheel odometry alone</a:t>
            </a:r>
            <a:endParaRPr lang="en-US" sz="3600" dirty="0"/>
          </a:p>
        </p:txBody>
      </p:sp>
      <p:sp>
        <p:nvSpPr>
          <p:cNvPr id="6" name="Text 3"/>
          <p:cNvSpPr txBox="1"/>
          <p:nvPr/>
        </p:nvSpPr>
        <p:spPr>
          <a:xfrm>
            <a:off x="6858000" y="2331720"/>
            <a:ext cx="4785055" cy="640080"/>
          </a:xfrm>
          <a:prstGeom prst="rect">
            <a:avLst/>
          </a:prstGeom>
          <a:noFill/>
          <a:ln/>
        </p:spPr>
        <p:txBody>
          <a:bodyPr wrap="square" lIns="0" tIns="0" rIns="0" bIns="0" rtlCol="0" anchor="ctr"/>
          <a:lstStyle/>
          <a:p>
            <a:pPr indent="0" marL="0">
              <a:buNone/>
            </a:pPr>
            <a:r>
              <a:rPr lang="en-US" sz="3600" b="1" dirty="0">
                <a:solidFill>
                  <a:schemeClr val="accent6"/>
                </a:solidFill>
              </a:rPr>
              <a:t>0.706 m</a:t>
            </a:r>
            <a:pPr indent="0" marL="0">
              <a:buNone/>
            </a:pPr>
            <a:r>
              <a:rPr lang="en-US" sz="1400" dirty="0">
                <a:solidFill>
                  <a:schemeClr val="tx2"/>
                </a:solidFill>
              </a:rPr>
              <a:t>   odometry plus scan matcher</a:t>
            </a:r>
            <a:endParaRPr lang="en-US" sz="3600" dirty="0"/>
          </a:p>
        </p:txBody>
      </p:sp>
      <p:sp>
        <p:nvSpPr>
          <p:cNvPr id="7" name="Text 4"/>
          <p:cNvSpPr txBox="1"/>
          <p:nvPr/>
        </p:nvSpPr>
        <p:spPr>
          <a:xfrm>
            <a:off x="6858000" y="3154680"/>
            <a:ext cx="4785055" cy="3063240"/>
          </a:xfrm>
          <a:prstGeom prst="rect">
            <a:avLst/>
          </a:prstGeom>
          <a:noFill/>
          <a:ln/>
        </p:spPr>
        <p:txBody>
          <a:bodyPr wrap="square" lIns="0" tIns="0" rIns="0" bIns="0" rtlCol="0" anchor="t"/>
          <a:lstStyle/>
          <a:p>
            <a:pPr indent="0" marL="0">
              <a:spcAft>
                <a:spcPts val="800"/>
              </a:spcAft>
              <a:buNone/>
            </a:pPr>
            <a:r>
              <a:rPr lang="en-US" sz="1400" dirty="0">
                <a:solidFill>
                  <a:schemeClr val="tx1"/>
                </a:solidFill>
              </a:rPr>
              <a:t>The scan matcher made pose three times worse, so it was switched off. That picks the better of two measured estimators.</a:t>
            </a:r>
            <a:endParaRPr lang="en-US" sz="1400" dirty="0"/>
          </a:p>
          <a:p>
            <a:pPr indent="0" marL="0">
              <a:spcAft>
                <a:spcPts val="800"/>
              </a:spcAft>
              <a:buNone/>
            </a:pPr>
            <a:r>
              <a:rPr lang="en-US" sz="1400" dirty="0">
                <a:solidFill>
                  <a:schemeClr val="tx1"/>
                </a:solidFill>
              </a:rPr>
              <a:t>The likely reason is on the input side: with the robot standing still, 75 to 78 % of rays flip between valid and invalid from one scan to the next.</a:t>
            </a:r>
            <a:endParaRPr lang="en-US" sz="1400" dirty="0"/>
          </a:p>
          <a:p>
            <a:pPr indent="0" marL="0">
              <a:spcAft>
                <a:spcPts val="800"/>
              </a:spcAft>
              <a:buNone/>
            </a:pPr>
            <a:r>
              <a:rPr lang="en-US" sz="1400" dirty="0">
                <a:solidFill>
                  <a:schemeClr val="tx1"/>
                </a:solidFill>
              </a:rPr>
              <a:t>Consequence: map to odom only moves when slam_toolbox accepts a new scan, about every 0.18 m. Mapping returns to the start mark within 6 to 30 mm, but 77 to 85 % of cells stay unknown, against a 50 % target (15 Sep).</a:t>
            </a:r>
            <a:endParaRPr lang="en-US" sz="1400" dirty="0"/>
          </a:p>
        </p:txBody>
      </p:sp>
      <p:sp>
        <p:nvSpPr>
          <p:cNvPr id="25" name="Slide Number Placeholder 0"/>
          <p:cNvSpPr>
            <a:spLocks noGrp="1"/>
          </p:cNvSpPr>
          <p:nvPr>
            <p:ph type="sldNum" sz="quarter" idx="4294967295"/>
          </p:nvPr>
        </p:nvSpPr>
        <p:spPr>
          <a:xfrm>
            <a:off x="11094415"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13232"/>
          </a:xfrm>
          <a:prstGeom prst="rect">
            <a:avLst/>
          </a:prstGeom>
          <a:noFill/>
          <a:ln/>
        </p:spPr>
        <p:txBody>
          <a:bodyPr wrap="square" lIns="0" tIns="0" rIns="0" bIns="0" rtlCol="0" anchor="ctr"/>
          <a:lstStyle/>
          <a:p>
            <a:pPr algn="l" indent="0" marL="0">
              <a:buNone/>
            </a:pPr>
            <a:r>
              <a:rPr lang="en-US" sz="3000" b="1" dirty="0">
                <a:solidFill>
                  <a:schemeClr val="tx1"/>
                </a:solidFill>
              </a:rPr>
              <a:t>Nav2 as configured: from a tap to the wheels</a:t>
            </a:r>
            <a:endParaRPr lang="en-US" sz="3000" dirty="0"/>
          </a:p>
        </p:txBody>
      </p:sp>
      <p:pic>
        <p:nvPicPr>
          <p:cNvPr id="3" name="Image 0" descr="/home/user/NarrowAisleBot/docs/flowcharts/png/s3_navigation_chain_slide.png">    </p:cNvPr>
          <p:cNvPicPr>
            <a:picLocks noChangeAspect="1"/>
          </p:cNvPicPr>
          <p:nvPr/>
        </p:nvPicPr>
        <p:blipFill>
          <a:blip r:embed="rId1"/>
          <a:stretch>
            <a:fillRect/>
          </a:stretch>
        </p:blipFill>
        <p:spPr>
          <a:xfrm>
            <a:off x="1503528" y="1097280"/>
            <a:ext cx="9184640" cy="5166360"/>
          </a:xfrm>
          <a:prstGeom prst="rect">
            <a:avLst/>
          </a:prstGeom>
        </p:spPr>
      </p:pic>
      <p:sp>
        <p:nvSpPr>
          <p:cNvPr id="25" name="Slide Number Placeholder 0"/>
          <p:cNvSpPr>
            <a:spLocks noGrp="1"/>
          </p:cNvSpPr>
          <p:nvPr>
            <p:ph type="sldNum" sz="quarter" idx="4294967295"/>
          </p:nvPr>
        </p:nvSpPr>
        <p:spPr>
          <a:xfrm>
            <a:off x="11094415"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13232"/>
          </a:xfrm>
          <a:prstGeom prst="rect">
            <a:avLst/>
          </a:prstGeom>
          <a:noFill/>
          <a:ln/>
        </p:spPr>
        <p:txBody>
          <a:bodyPr wrap="square" lIns="0" tIns="0" rIns="0" bIns="0" rtlCol="0" anchor="ctr"/>
          <a:lstStyle/>
          <a:p>
            <a:pPr algn="l" indent="0" marL="0">
              <a:buNone/>
            </a:pPr>
            <a:r>
              <a:rPr lang="en-US" sz="3000" b="1" dirty="0">
                <a:solidFill>
                  <a:schemeClr val="tx1"/>
                </a:solidFill>
              </a:rPr>
              <a:t>MPPI: how the controller picks a command</a:t>
            </a:r>
            <a:endParaRPr lang="en-US" sz="3000" dirty="0"/>
          </a:p>
        </p:txBody>
      </p:sp>
      <p:sp>
        <p:nvSpPr>
          <p:cNvPr id="3" name="Shape 1"/>
          <p:cNvSpPr/>
          <p:nvPr/>
        </p:nvSpPr>
        <p:spPr>
          <a:xfrm>
            <a:off x="548640" y="1316736"/>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548640" y="131673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234440" y="1280160"/>
            <a:ext cx="5623560" cy="777240"/>
          </a:xfrm>
          <a:prstGeom prst="rect">
            <a:avLst/>
          </a:prstGeom>
          <a:noFill/>
          <a:ln/>
        </p:spPr>
        <p:txBody>
          <a:bodyPr wrap="square" lIns="0" tIns="0" rIns="0" bIns="0" rtlCol="0" anchor="t"/>
          <a:lstStyle/>
          <a:p>
            <a:pPr indent="0" marL="0">
              <a:buNone/>
            </a:pPr>
            <a:r>
              <a:rPr lang="en-US" sz="1400" dirty="0">
                <a:solidFill>
                  <a:schemeClr val="tx1"/>
                </a:solidFill>
              </a:rPr>
              <a:t>Start from last cycle's best control sequence: 40 steps of 0.05 s, so 2 s ahead.</a:t>
            </a:r>
            <a:endParaRPr lang="en-US" sz="1400" dirty="0"/>
          </a:p>
        </p:txBody>
      </p:sp>
      <p:sp>
        <p:nvSpPr>
          <p:cNvPr id="6" name="Shape 4"/>
          <p:cNvSpPr/>
          <p:nvPr/>
        </p:nvSpPr>
        <p:spPr>
          <a:xfrm>
            <a:off x="548640" y="2212848"/>
            <a:ext cx="457200" cy="457200"/>
          </a:xfrm>
          <a:prstGeom prst="ellipse">
            <a:avLst/>
          </a:prstGeom>
          <a:solidFill>
            <a:schemeClr val="accent1"/>
          </a:solidFill>
          <a:ln w="12700">
            <a:solidFill>
              <a:schemeClr val="accent1"/>
            </a:solidFill>
            <a:prstDash val="solid"/>
          </a:ln>
        </p:spPr>
      </p:sp>
      <p:sp>
        <p:nvSpPr>
          <p:cNvPr id="7" name="Text 5"/>
          <p:cNvSpPr txBox="1"/>
          <p:nvPr/>
        </p:nvSpPr>
        <p:spPr>
          <a:xfrm>
            <a:off x="548640" y="22128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 6"/>
          <p:cNvSpPr txBox="1"/>
          <p:nvPr/>
        </p:nvSpPr>
        <p:spPr>
          <a:xfrm>
            <a:off x="1234440" y="2176272"/>
            <a:ext cx="5623560" cy="777240"/>
          </a:xfrm>
          <a:prstGeom prst="rect">
            <a:avLst/>
          </a:prstGeom>
          <a:noFill/>
          <a:ln/>
        </p:spPr>
        <p:txBody>
          <a:bodyPr wrap="square" lIns="0" tIns="0" rIns="0" bIns="0" rtlCol="0" anchor="t"/>
          <a:lstStyle/>
          <a:p>
            <a:pPr indent="0" marL="0">
              <a:buNone/>
            </a:pPr>
            <a:r>
              <a:rPr lang="en-US" sz="1400" dirty="0">
                <a:solidFill>
                  <a:schemeClr val="tx1"/>
                </a:solidFill>
              </a:rPr>
              <a:t>Add random noise to make 300 candidates: σ = 0.06 m/s in x and y, 0.15 rad/s in yaw.</a:t>
            </a:r>
            <a:endParaRPr lang="en-US" sz="1400" dirty="0"/>
          </a:p>
        </p:txBody>
      </p:sp>
      <p:sp>
        <p:nvSpPr>
          <p:cNvPr id="9" name="Shape 7"/>
          <p:cNvSpPr/>
          <p:nvPr/>
        </p:nvSpPr>
        <p:spPr>
          <a:xfrm>
            <a:off x="548640" y="310896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548640" y="31089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 9"/>
          <p:cNvSpPr txBox="1"/>
          <p:nvPr/>
        </p:nvSpPr>
        <p:spPr>
          <a:xfrm>
            <a:off x="1234440" y="3072384"/>
            <a:ext cx="5623560" cy="777240"/>
          </a:xfrm>
          <a:prstGeom prst="rect">
            <a:avLst/>
          </a:prstGeom>
          <a:noFill/>
          <a:ln/>
        </p:spPr>
        <p:txBody>
          <a:bodyPr wrap="square" lIns="0" tIns="0" rIns="0" bIns="0" rtlCol="0" anchor="t"/>
          <a:lstStyle/>
          <a:p>
            <a:pPr indent="0" marL="0">
              <a:buNone/>
            </a:pPr>
            <a:r>
              <a:rPr lang="en-US" sz="1400" dirty="0">
                <a:solidFill>
                  <a:schemeClr val="tx1"/>
                </a:solidFill>
              </a:rPr>
              <a:t>Roll each candidate forward with the Omni motion model, clipped to 0.12 m/s and 0.30 rad/s.</a:t>
            </a:r>
            <a:endParaRPr lang="en-US" sz="1400" dirty="0"/>
          </a:p>
        </p:txBody>
      </p:sp>
      <p:sp>
        <p:nvSpPr>
          <p:cNvPr id="12" name="Shape 10"/>
          <p:cNvSpPr/>
          <p:nvPr/>
        </p:nvSpPr>
        <p:spPr>
          <a:xfrm>
            <a:off x="548640" y="4005072"/>
            <a:ext cx="457200" cy="457200"/>
          </a:xfrm>
          <a:prstGeom prst="ellipse">
            <a:avLst/>
          </a:prstGeom>
          <a:solidFill>
            <a:schemeClr val="accent1"/>
          </a:solidFill>
          <a:ln w="12700">
            <a:solidFill>
              <a:schemeClr val="accent1"/>
            </a:solidFill>
            <a:prstDash val="solid"/>
          </a:ln>
        </p:spPr>
      </p:sp>
      <p:sp>
        <p:nvSpPr>
          <p:cNvPr id="13" name="Text 11"/>
          <p:cNvSpPr txBox="1"/>
          <p:nvPr/>
        </p:nvSpPr>
        <p:spPr>
          <a:xfrm>
            <a:off x="548640" y="400507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Text 12"/>
          <p:cNvSpPr txBox="1"/>
          <p:nvPr/>
        </p:nvSpPr>
        <p:spPr>
          <a:xfrm>
            <a:off x="1234440" y="3968496"/>
            <a:ext cx="5623560" cy="777240"/>
          </a:xfrm>
          <a:prstGeom prst="rect">
            <a:avLst/>
          </a:prstGeom>
          <a:noFill/>
          <a:ln/>
        </p:spPr>
        <p:txBody>
          <a:bodyPr wrap="square" lIns="0" tIns="0" rIns="0" bIns="0" rtlCol="0" anchor="t"/>
          <a:lstStyle/>
          <a:p>
            <a:pPr indent="0" marL="0">
              <a:buNone/>
            </a:pPr>
            <a:r>
              <a:rPr lang="en-US" sz="1400" dirty="0">
                <a:solidFill>
                  <a:schemeClr val="tx1"/>
                </a:solidFill>
              </a:rPr>
              <a:t>Score each with seven critics. A candidate that hits the costmap scores 1,000,000.</a:t>
            </a:r>
            <a:endParaRPr lang="en-US" sz="1400" dirty="0"/>
          </a:p>
        </p:txBody>
      </p:sp>
      <p:sp>
        <p:nvSpPr>
          <p:cNvPr id="15" name="Shape 13"/>
          <p:cNvSpPr/>
          <p:nvPr/>
        </p:nvSpPr>
        <p:spPr>
          <a:xfrm>
            <a:off x="548640" y="4901184"/>
            <a:ext cx="457200" cy="457200"/>
          </a:xfrm>
          <a:prstGeom prst="ellipse">
            <a:avLst/>
          </a:prstGeom>
          <a:solidFill>
            <a:schemeClr val="accent1"/>
          </a:solidFill>
          <a:ln w="12700">
            <a:solidFill>
              <a:schemeClr val="accent1"/>
            </a:solidFill>
            <a:prstDash val="solid"/>
          </a:ln>
        </p:spPr>
      </p:sp>
      <p:sp>
        <p:nvSpPr>
          <p:cNvPr id="16" name="Text 14"/>
          <p:cNvSpPr txBox="1"/>
          <p:nvPr/>
        </p:nvSpPr>
        <p:spPr>
          <a:xfrm>
            <a:off x="548640" y="490118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7" name="Text 15"/>
          <p:cNvSpPr txBox="1"/>
          <p:nvPr/>
        </p:nvSpPr>
        <p:spPr>
          <a:xfrm>
            <a:off x="1234440" y="4864608"/>
            <a:ext cx="5623560" cy="777240"/>
          </a:xfrm>
          <a:prstGeom prst="rect">
            <a:avLst/>
          </a:prstGeom>
          <a:noFill/>
          <a:ln/>
        </p:spPr>
        <p:txBody>
          <a:bodyPr wrap="square" lIns="0" tIns="0" rIns="0" bIns="0" rtlCol="0" anchor="t"/>
          <a:lstStyle/>
          <a:p>
            <a:pPr indent="0" marL="0">
              <a:buNone/>
            </a:pPr>
            <a:r>
              <a:rPr lang="en-US" sz="1400" dirty="0">
                <a:solidFill>
                  <a:schemeClr val="tx1"/>
                </a:solidFill>
              </a:rPr>
              <a:t>Average the candidates with weights exp(−(S − S</a:t>
            </a:r>
            <a:pPr indent="0" marL="0">
              <a:buNone/>
            </a:pPr>
            <a:r>
              <a:rPr lang="en-US" sz="1400" baseline="-40000" dirty="0">
                <a:solidFill>
                  <a:schemeClr val="tx1"/>
                </a:solidFill>
              </a:rPr>
              <a:t>min</a:t>
            </a:r>
            <a:pPr indent="0" marL="0">
              <a:buNone/>
            </a:pPr>
            <a:r>
              <a:rPr lang="en-US" sz="1400" dirty="0">
                <a:solidFill>
                  <a:schemeClr val="tx1"/>
                </a:solidFill>
              </a:rPr>
              <a:t>)/λ), λ = 0.3. Send the first command, shift the sequence, repeat.</a:t>
            </a:r>
            <a:endParaRPr lang="en-US" sz="1400" dirty="0"/>
          </a:p>
        </p:txBody>
      </p:sp>
      <p:sp>
        <p:nvSpPr>
          <p:cNvPr id="18" name="Text 16"/>
          <p:cNvSpPr txBox="1"/>
          <p:nvPr/>
        </p:nvSpPr>
        <p:spPr>
          <a:xfrm>
            <a:off x="1234440" y="5806440"/>
            <a:ext cx="5623560" cy="365760"/>
          </a:xfrm>
          <a:prstGeom prst="rect">
            <a:avLst/>
          </a:prstGeom>
          <a:noFill/>
          <a:ln/>
        </p:spPr>
        <p:txBody>
          <a:bodyPr wrap="square" lIns="0" tIns="0" rIns="0" bIns="0" rtlCol="0" anchor="ctr"/>
          <a:lstStyle/>
          <a:p>
            <a:pPr indent="0" marL="0">
              <a:buNone/>
            </a:pPr>
            <a:r>
              <a:rPr lang="en-US" sz="1200" dirty="0">
                <a:solidFill>
                  <a:schemeClr val="tx2"/>
                </a:solidFill>
              </a:rPr>
              <a:t>Requested at 20 Hz; measured 5 to 14 Hz on the Pi.</a:t>
            </a:r>
            <a:endParaRPr lang="en-US" sz="1200" dirty="0"/>
          </a:p>
        </p:txBody>
      </p:sp>
      <p:graphicFrame>
        <p:nvGraphicFramePr>
          <p:cNvPr id="19" name="Chart 0" descr=""/>
          <p:cNvGraphicFramePr/>
          <p:nvPr/>
        </p:nvGraphicFramePr>
        <p:xfrm>
          <a:off x="7086600" y="1188720"/>
          <a:ext cx="4556455" cy="49834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94415"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13232"/>
          </a:xfrm>
          <a:prstGeom prst="rect">
            <a:avLst/>
          </a:prstGeom>
          <a:noFill/>
          <a:ln/>
        </p:spPr>
        <p:txBody>
          <a:bodyPr wrap="square" lIns="0" tIns="0" rIns="0" bIns="0" rtlCol="0" anchor="ctr"/>
          <a:lstStyle/>
          <a:p>
            <a:pPr algn="l" indent="0" marL="0">
              <a:buNone/>
            </a:pPr>
            <a:r>
              <a:rPr lang="en-US" sz="3000" b="1" dirty="0">
                <a:solidFill>
                  <a:schemeClr val="tx1"/>
                </a:solidFill>
              </a:rPr>
              <a:t>MPPI: where the speed goes missing (1 Oct test)</a:t>
            </a:r>
            <a:endParaRPr lang="en-US" sz="3000" dirty="0"/>
          </a:p>
        </p:txBody>
      </p:sp>
      <p:graphicFrame>
        <p:nvGraphicFramePr>
          <p:cNvPr id="3" name="Chart 0" descr=""/>
          <p:cNvGraphicFramePr/>
          <p:nvPr/>
        </p:nvGraphicFramePr>
        <p:xfrm>
          <a:off x="548640" y="1188720"/>
          <a:ext cx="6492240"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760720"/>
            <a:ext cx="6492240" cy="365760"/>
          </a:xfrm>
          <a:prstGeom prst="rect">
            <a:avLst/>
          </a:prstGeom>
          <a:noFill/>
          <a:ln/>
        </p:spPr>
        <p:txBody>
          <a:bodyPr wrap="square" lIns="0" tIns="0" rIns="0" bIns="0" rtlCol="0" anchor="ctr"/>
          <a:lstStyle/>
          <a:p>
            <a:pPr indent="0" marL="0">
              <a:buNone/>
            </a:pPr>
            <a:r>
              <a:rPr lang="en-US" sz="1200" dirty="0">
                <a:solidFill>
                  <a:schemeClr val="tx2"/>
                </a:solidFill>
              </a:rPr>
              <a:t>Mean over the first 40 s of the goal, from a bag of every stage of the chain.</a:t>
            </a:r>
            <a:endParaRPr lang="en-US" sz="1200" dirty="0"/>
          </a:p>
        </p:txBody>
      </p:sp>
      <p:sp>
        <p:nvSpPr>
          <p:cNvPr id="5" name="Text 2"/>
          <p:cNvSpPr txBox="1"/>
          <p:nvPr/>
        </p:nvSpPr>
        <p:spPr>
          <a:xfrm>
            <a:off x="7406640" y="1234440"/>
            <a:ext cx="4236415" cy="4983480"/>
          </a:xfrm>
          <a:prstGeom prst="rect">
            <a:avLst/>
          </a:prstGeom>
          <a:noFill/>
          <a:ln/>
        </p:spPr>
        <p:txBody>
          <a:bodyPr wrap="square" lIns="0" tIns="0" rIns="0" bIns="0" rtlCol="0" anchor="t"/>
          <a:lstStyle/>
          <a:p>
            <a:pPr indent="0" marL="0">
              <a:spcAft>
                <a:spcPts val="500"/>
              </a:spcAft>
              <a:buNone/>
            </a:pPr>
            <a:r>
              <a:rPr lang="en-US" sz="1400" b="1" dirty="0">
                <a:solidFill>
                  <a:schemeClr val="tx1"/>
                </a:solidFill>
              </a:rPr>
              <a:t>The test</a:t>
            </a:r>
            <a:endParaRPr lang="en-US" sz="1400" dirty="0"/>
          </a:p>
          <a:p>
            <a:pPr indent="0" marL="0">
              <a:spcAft>
                <a:spcPts val="500"/>
              </a:spcAft>
              <a:buNone/>
            </a:pPr>
            <a:r>
              <a:rPr lang="en-US" sz="1400" dirty="0">
                <a:solidFill>
                  <a:schemeClr val="tx1"/>
                </a:solidFill>
              </a:rPr>
              <a:t>Goal 0.6 m straight ahead. Aborted after 194 s and 16 recoveries; the robot crept at about 1.5 mm/s. No contact.</a:t>
            </a:r>
            <a:endParaRPr lang="en-US" sz="1400" dirty="0"/>
          </a:p>
          <a:p>
            <a:pPr indent="0" marL="0">
              <a:spcAft>
                <a:spcPts val="500"/>
              </a:spcAft>
              <a:buNone/>
            </a:pPr>
            <a:r>
              <a:rPr lang="en-US" sz="1400" b="1" dirty="0">
                <a:solidFill>
                  <a:schemeClr val="tx1"/>
                </a:solidFill>
              </a:rPr>
              <a:t>What it rules out</a:t>
            </a:r>
            <a:endParaRPr lang="en-US" sz="1400" dirty="0"/>
          </a:p>
          <a:p>
            <a:pPr indent="0" marL="0">
              <a:spcAft>
                <a:spcPts val="500"/>
              </a:spcAft>
              <a:buNone/>
            </a:pPr>
            <a:r>
              <a:rPr lang="en-US" sz="1400" dirty="0">
                <a:solidFill>
                  <a:schemeClr val="tx1"/>
                </a:solidFill>
              </a:rPr>
              <a:t>Every stage after MPPI passes the same 4 mm/s on, so the smoother, collision monitor, axis adapter, mux and ESP32 are cleared.</a:t>
            </a:r>
            <a:endParaRPr lang="en-US" sz="1400" dirty="0"/>
          </a:p>
          <a:p>
            <a:pPr indent="0" marL="0">
              <a:spcAft>
                <a:spcPts val="500"/>
              </a:spcAft>
              <a:buNone/>
            </a:pPr>
            <a:r>
              <a:rPr lang="en-US" sz="1400" b="1" dirty="0">
                <a:solidFill>
                  <a:schemeClr val="tx1"/>
                </a:solidFill>
              </a:rPr>
              <a:t>What it points at</a:t>
            </a:r>
            <a:endParaRPr lang="en-US" sz="1400" dirty="0"/>
          </a:p>
          <a:p>
            <a:pPr indent="0" marL="0">
              <a:spcAft>
                <a:spcPts val="500"/>
              </a:spcAft>
              <a:buNone/>
            </a:pPr>
            <a:r>
              <a:rPr lang="en-US" sz="1400" dirty="0">
                <a:solidFill>
                  <a:schemeClr val="tx1"/>
                </a:solidFill>
              </a:rPr>
              <a:t>Averaging noise alone gives 0.06 / √300 = 3.5 mm/s, close to the 4.4 measured: the optimiser barely prefers any direction. The 0.3 m/s² acceleration limit is a suspect, not a proven cause.</a:t>
            </a:r>
            <a:endParaRPr lang="en-US" sz="1400" dirty="0"/>
          </a:p>
          <a:p>
            <a:pPr indent="0" marL="0">
              <a:spcAft>
                <a:spcPts val="500"/>
              </a:spcAft>
              <a:buNone/>
            </a:pPr>
            <a:r>
              <a:rPr lang="en-US" sz="1400" b="1" dirty="0">
                <a:solidFill>
                  <a:schemeClr val="tx1"/>
                </a:solidFill>
              </a:rPr>
              <a:t>Next</a:t>
            </a:r>
            <a:endParaRPr lang="en-US" sz="1400" dirty="0"/>
          </a:p>
          <a:p>
            <a:pPr indent="0" marL="0">
              <a:spcAft>
                <a:spcPts val="500"/>
              </a:spcAft>
              <a:buNone/>
            </a:pPr>
            <a:r>
              <a:rPr lang="en-US" sz="1400" dirty="0">
                <a:solidFill>
                  <a:schemeClr val="tx1"/>
                </a:solidFill>
              </a:rPr>
              <a:t>Same goal with Nav2's stock limits (3.0 m/s²), already set on the live node.</a:t>
            </a:r>
            <a:endParaRPr lang="en-US" sz="1400" dirty="0"/>
          </a:p>
        </p:txBody>
      </p:sp>
      <p:sp>
        <p:nvSpPr>
          <p:cNvPr id="25" name="Slide Number Placeholder 0"/>
          <p:cNvSpPr>
            <a:spLocks noGrp="1"/>
          </p:cNvSpPr>
          <p:nvPr>
            <p:ph type="sldNum" sz="quarter" idx="4294967295"/>
          </p:nvPr>
        </p:nvSpPr>
        <p:spPr>
          <a:xfrm>
            <a:off x="11094415"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13232"/>
          </a:xfrm>
          <a:prstGeom prst="rect">
            <a:avLst/>
          </a:prstGeom>
          <a:noFill/>
          <a:ln/>
        </p:spPr>
        <p:txBody>
          <a:bodyPr wrap="square" lIns="0" tIns="0" rIns="0" bIns="0" rtlCol="0" anchor="ctr"/>
          <a:lstStyle/>
          <a:p>
            <a:pPr algn="l" indent="0" marL="0">
              <a:buNone/>
            </a:pPr>
            <a:r>
              <a:rPr lang="en-US" sz="3000" b="1" dirty="0">
                <a:solidFill>
                  <a:schemeClr val="tx1"/>
                </a:solidFill>
              </a:rPr>
              <a:t>Where things stand</a:t>
            </a:r>
            <a:endParaRPr lang="en-US" sz="3000" dirty="0"/>
          </a:p>
        </p:txBody>
      </p:sp>
      <p:sp>
        <p:nvSpPr>
          <p:cNvPr id="3" name="Shape 1"/>
          <p:cNvSpPr/>
          <p:nvPr/>
        </p:nvSpPr>
        <p:spPr>
          <a:xfrm>
            <a:off x="548640" y="1234440"/>
            <a:ext cx="5410048" cy="4572000"/>
          </a:xfrm>
          <a:prstGeom prst="rect">
            <a:avLst/>
          </a:prstGeom>
          <a:solidFill>
            <a:srgbClr val="EAF4F0"/>
          </a:solidFill>
          <a:ln w="12700">
            <a:solidFill>
              <a:schemeClr val="bg2"/>
            </a:solidFill>
            <a:prstDash val="solid"/>
          </a:ln>
        </p:spPr>
      </p:sp>
      <p:sp>
        <p:nvSpPr>
          <p:cNvPr id="4" name="Text 2"/>
          <p:cNvSpPr txBox="1"/>
          <p:nvPr/>
        </p:nvSpPr>
        <p:spPr>
          <a:xfrm>
            <a:off x="914400" y="1463040"/>
            <a:ext cx="4678528" cy="457200"/>
          </a:xfrm>
          <a:prstGeom prst="rect">
            <a:avLst/>
          </a:prstGeom>
          <a:noFill/>
          <a:ln/>
        </p:spPr>
        <p:txBody>
          <a:bodyPr wrap="square" lIns="0" tIns="0" rIns="0" bIns="0" rtlCol="0" anchor="ctr"/>
          <a:lstStyle/>
          <a:p>
            <a:pPr indent="0" marL="0">
              <a:buNone/>
            </a:pPr>
            <a:r>
              <a:rPr lang="en-US" sz="2100" b="1" dirty="0">
                <a:solidFill>
                  <a:schemeClr val="accent3"/>
                </a:solidFill>
              </a:rPr>
              <a:t>Working, with measurements</a:t>
            </a:r>
            <a:endParaRPr lang="en-US" sz="2100" dirty="0"/>
          </a:p>
        </p:txBody>
      </p:sp>
      <p:sp>
        <p:nvSpPr>
          <p:cNvPr id="5" name="Text 3"/>
          <p:cNvSpPr txBox="1"/>
          <p:nvPr/>
        </p:nvSpPr>
        <p:spPr>
          <a:xfrm>
            <a:off x="914400" y="2103120"/>
            <a:ext cx="4678528" cy="356616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Wheel-speed loop on the ESP32 at 100 Hz, with latching safety trips</a:t>
            </a:r>
            <a:endParaRPr lang="en-US" sz="1800" dirty="0"/>
          </a:p>
          <a:p>
            <a:pPr marL="342900" indent="-342900">
              <a:spcAft>
                <a:spcPts val="1200"/>
              </a:spcAft>
              <a:buSzPct val="100000"/>
              <a:buChar char="•"/>
            </a:pPr>
            <a:r>
              <a:rPr lang="en-US" sz="1800" dirty="0">
                <a:solidFill>
                  <a:schemeClr val="tx1"/>
                </a:solidFill>
              </a:rPr>
              <a:t>Manual drive from the phone, with priority over Nav2 and four stacked watchdogs</a:t>
            </a:r>
            <a:endParaRPr lang="en-US" sz="1800" dirty="0"/>
          </a:p>
          <a:p>
            <a:pPr marL="342900" indent="-342900">
              <a:spcAft>
                <a:spcPts val="1200"/>
              </a:spcAft>
              <a:buSzPct val="100000"/>
              <a:buChar char="•"/>
            </a:pPr>
            <a:r>
              <a:rPr lang="en-US" sz="1800" dirty="0">
                <a:solidFill>
                  <a:schemeClr val="tx1"/>
                </a:solidFill>
              </a:rPr>
              <a:t>Wheel odometry: 0.229 m error over a 21.85 m drive</a:t>
            </a:r>
            <a:endParaRPr lang="en-US" sz="1800" dirty="0"/>
          </a:p>
          <a:p>
            <a:pPr marL="342900" indent="-342900">
              <a:spcAft>
                <a:spcPts val="1200"/>
              </a:spcAft>
              <a:buSzPct val="100000"/>
              <a:buChar char="•"/>
            </a:pPr>
            <a:r>
              <a:rPr lang="en-US" sz="1800" dirty="0">
                <a:solidFill>
                  <a:schemeClr val="tx1"/>
                </a:solidFill>
              </a:rPr>
              <a:t>Mapping: returns to the start mark within 6 to 30 mm</a:t>
            </a:r>
            <a:endParaRPr lang="en-US" sz="1800" dirty="0"/>
          </a:p>
          <a:p>
            <a:pPr marL="342900" indent="-342900">
              <a:spcAft>
                <a:spcPts val="1200"/>
              </a:spcAft>
              <a:buSzPct val="100000"/>
              <a:buChar char="•"/>
            </a:pPr>
            <a:r>
              <a:rPr lang="en-US" sz="1800" dirty="0">
                <a:solidFill>
                  <a:schemeClr val="tx1"/>
                </a:solidFill>
              </a:rPr>
              <a:t>Global planner: finds paths from the start mark (1 Oct)</a:t>
            </a:r>
            <a:endParaRPr lang="en-US" sz="1800" dirty="0"/>
          </a:p>
        </p:txBody>
      </p:sp>
      <p:sp>
        <p:nvSpPr>
          <p:cNvPr id="6" name="Shape 4"/>
          <p:cNvSpPr/>
          <p:nvPr/>
        </p:nvSpPr>
        <p:spPr>
          <a:xfrm>
            <a:off x="6233008" y="1234440"/>
            <a:ext cx="5410048" cy="4572000"/>
          </a:xfrm>
          <a:prstGeom prst="rect">
            <a:avLst/>
          </a:prstGeom>
          <a:solidFill>
            <a:srgbClr val="FBEDEA"/>
          </a:solidFill>
          <a:ln w="12700">
            <a:solidFill>
              <a:schemeClr val="bg2"/>
            </a:solidFill>
            <a:prstDash val="solid"/>
          </a:ln>
        </p:spPr>
      </p:sp>
      <p:sp>
        <p:nvSpPr>
          <p:cNvPr id="7" name="Text 5"/>
          <p:cNvSpPr txBox="1"/>
          <p:nvPr/>
        </p:nvSpPr>
        <p:spPr>
          <a:xfrm>
            <a:off x="6598768" y="1463040"/>
            <a:ext cx="4678528" cy="457200"/>
          </a:xfrm>
          <a:prstGeom prst="rect">
            <a:avLst/>
          </a:prstGeom>
          <a:noFill/>
          <a:ln/>
        </p:spPr>
        <p:txBody>
          <a:bodyPr wrap="square" lIns="0" tIns="0" rIns="0" bIns="0" rtlCol="0" anchor="ctr"/>
          <a:lstStyle/>
          <a:p>
            <a:pPr indent="0" marL="0">
              <a:buNone/>
            </a:pPr>
            <a:r>
              <a:rPr lang="en-US" sz="2100" b="1" dirty="0">
                <a:solidFill>
                  <a:schemeClr val="accent6"/>
                </a:solidFill>
              </a:rPr>
              <a:t>Open</a:t>
            </a:r>
            <a:endParaRPr lang="en-US" sz="2100" dirty="0"/>
          </a:p>
        </p:txBody>
      </p:sp>
      <p:sp>
        <p:nvSpPr>
          <p:cNvPr id="8" name="Text 6"/>
          <p:cNvSpPr txBox="1"/>
          <p:nvPr/>
        </p:nvSpPr>
        <p:spPr>
          <a:xfrm>
            <a:off x="6598768" y="2103120"/>
            <a:ext cx="4678528" cy="356616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No autonomous goal reached yet: MPPI asks for about 4 mm/s</a:t>
            </a:r>
            <a:endParaRPr lang="en-US" sz="1800" dirty="0"/>
          </a:p>
          <a:p>
            <a:pPr marL="342900" indent="-342900">
              <a:spcAft>
                <a:spcPts val="1200"/>
              </a:spcAft>
              <a:buSzPct val="100000"/>
              <a:buChar char="•"/>
            </a:pPr>
            <a:r>
              <a:rPr lang="en-US" sz="1800" dirty="0">
                <a:solidFill>
                  <a:schemeClr val="tx1"/>
                </a:solidFill>
              </a:rPr>
              <a:t>Map coverage: 77 to 85 % of cells unknown, against a 50 % target</a:t>
            </a:r>
            <a:endParaRPr lang="en-US" sz="1800" dirty="0"/>
          </a:p>
          <a:p>
            <a:pPr marL="342900" indent="-342900">
              <a:spcAft>
                <a:spcPts val="1200"/>
              </a:spcAft>
              <a:buSzPct val="100000"/>
              <a:buChar char="•"/>
            </a:pPr>
            <a:r>
              <a:rPr lang="en-US" sz="1800" dirty="0">
                <a:solidFill>
                  <a:schemeClr val="tx1"/>
                </a:solidFill>
              </a:rPr>
              <a:t>No IMU, so heading drift is not corrected</a:t>
            </a:r>
            <a:endParaRPr lang="en-US" sz="1800" dirty="0"/>
          </a:p>
          <a:p>
            <a:pPr marL="342900" indent="-342900">
              <a:spcAft>
                <a:spcPts val="1200"/>
              </a:spcAft>
              <a:buSzPct val="100000"/>
              <a:buChar char="•"/>
            </a:pPr>
            <a:r>
              <a:rPr lang="en-US" sz="1800" dirty="0">
                <a:solidFill>
                  <a:schemeClr val="tx1"/>
                </a:solidFill>
              </a:rPr>
              <a:t>A 90 degree blind arc behind the mast</a:t>
            </a:r>
            <a:endParaRPr lang="en-US" sz="1800" dirty="0"/>
          </a:p>
          <a:p>
            <a:pPr marL="342900" indent="-342900">
              <a:spcAft>
                <a:spcPts val="1200"/>
              </a:spcAft>
              <a:buSzPct val="100000"/>
              <a:buChar char="•"/>
            </a:pPr>
            <a:r>
              <a:rPr lang="en-US" sz="1800" dirty="0">
                <a:solidFill>
                  <a:schemeClr val="tx1"/>
                </a:solidFill>
              </a:rPr>
              <a:t>No hardware E-stop</a:t>
            </a:r>
            <a:endParaRPr lang="en-US" sz="1800" dirty="0"/>
          </a:p>
        </p:txBody>
      </p:sp>
      <p:sp>
        <p:nvSpPr>
          <p:cNvPr id="25" name="Slide Number Placeholder 0"/>
          <p:cNvSpPr>
            <a:spLocks noGrp="1"/>
          </p:cNvSpPr>
          <p:nvPr>
            <p:ph type="sldNum" sz="quarter" idx="4294967295"/>
          </p:nvPr>
        </p:nvSpPr>
        <p:spPr>
          <a:xfrm>
            <a:off x="11094415"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13232"/>
          </a:xfrm>
          <a:prstGeom prst="rect">
            <a:avLst/>
          </a:prstGeom>
          <a:noFill/>
          <a:ln/>
        </p:spPr>
        <p:txBody>
          <a:bodyPr wrap="square" lIns="0" tIns="0" rIns="0" bIns="0" rtlCol="0" anchor="ctr"/>
          <a:lstStyle/>
          <a:p>
            <a:pPr algn="l" indent="0" marL="0">
              <a:buNone/>
            </a:pPr>
            <a:r>
              <a:rPr lang="en-US" sz="3000" b="1" dirty="0">
                <a:solidFill>
                  <a:schemeClr val="tx1"/>
                </a:solidFill>
              </a:rPr>
              <a:t>Next steps, and where I would value your view</a:t>
            </a:r>
            <a:endParaRPr lang="en-US" sz="3000" dirty="0"/>
          </a:p>
        </p:txBody>
      </p:sp>
      <p:sp>
        <p:nvSpPr>
          <p:cNvPr id="3" name="Text 1"/>
          <p:cNvSpPr txBox="1"/>
          <p:nvPr/>
        </p:nvSpPr>
        <p:spPr>
          <a:xfrm>
            <a:off x="548640" y="1234440"/>
            <a:ext cx="5715000" cy="411480"/>
          </a:xfrm>
          <a:prstGeom prst="rect">
            <a:avLst/>
          </a:prstGeom>
          <a:noFill/>
          <a:ln/>
        </p:spPr>
        <p:txBody>
          <a:bodyPr wrap="square" lIns="0" tIns="0" rIns="0" bIns="0" rtlCol="0" anchor="ctr"/>
          <a:lstStyle/>
          <a:p>
            <a:pPr indent="0" marL="0">
              <a:buNone/>
            </a:pPr>
            <a:r>
              <a:rPr lang="en-US" sz="1800" b="1" dirty="0">
                <a:solidFill>
                  <a:schemeClr val="tx1"/>
                </a:solidFill>
              </a:rPr>
              <a:t>Next steps</a:t>
            </a:r>
            <a:endParaRPr lang="en-US" sz="1800" dirty="0"/>
          </a:p>
        </p:txBody>
      </p:sp>
      <p:sp>
        <p:nvSpPr>
          <p:cNvPr id="4" name="Text 2"/>
          <p:cNvSpPr txBox="1"/>
          <p:nvPr/>
        </p:nvSpPr>
        <p:spPr>
          <a:xfrm>
            <a:off x="548640" y="1783080"/>
            <a:ext cx="5715000" cy="438912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1700" dirty="0">
                <a:solidFill>
                  <a:schemeClr val="tx1"/>
                </a:solidFill>
              </a:rPr>
              <a:t>Re-run the 0.6 m goal with stock MPPI acceleration limits.</a:t>
            </a:r>
            <a:endParaRPr lang="en-US" sz="1700" dirty="0"/>
          </a:p>
          <a:p>
            <a:pPr marL="342900" indent="-342900">
              <a:spcAft>
                <a:spcPts val="1200"/>
              </a:spcAft>
              <a:buSzPct val="100000"/>
              <a:buFont typeface="+mj-lt"/>
              <a:buAutoNum type="arabicPeriod" startAt="1"/>
            </a:pPr>
            <a:r>
              <a:rPr lang="en-US" sz="1700" dirty="0">
                <a:solidFill>
                  <a:schemeClr val="tx1"/>
                </a:solidFill>
              </a:rPr>
              <a:t>If it drives, measure real acceleration on a straight run and set the limits from that.</a:t>
            </a:r>
            <a:endParaRPr lang="en-US" sz="1700" dirty="0"/>
          </a:p>
          <a:p>
            <a:pPr marL="342900" indent="-342900">
              <a:spcAft>
                <a:spcPts val="1200"/>
              </a:spcAft>
              <a:buSzPct val="100000"/>
              <a:buFont typeface="+mj-lt"/>
              <a:buAutoNum type="arabicPeriod" startAt="1"/>
            </a:pPr>
            <a:r>
              <a:rPr lang="en-US" sz="1700" dirty="0">
                <a:solidFill>
                  <a:schemeClr val="tx1"/>
                </a:solidFill>
              </a:rPr>
              <a:t>If it still creeps, check temperature, sampling spread, critic weights and the real loop rate.</a:t>
            </a:r>
            <a:endParaRPr lang="en-US" sz="1700" dirty="0"/>
          </a:p>
          <a:p>
            <a:pPr marL="342900" indent="-342900">
              <a:spcAft>
                <a:spcPts val="1200"/>
              </a:spcAft>
              <a:buSzPct val="100000"/>
              <a:buFont typeface="+mj-lt"/>
              <a:buAutoNum type="arabicPeriod" startAt="1"/>
            </a:pPr>
            <a:r>
              <a:rPr lang="en-US" sz="1700" dirty="0">
                <a:solidFill>
                  <a:schemeClr val="tx1"/>
                </a:solidFill>
              </a:rPr>
              <a:t>Then a ladder of goals: 1 m forward, 1 m sideways, a 90 degree turn, a reverse.</a:t>
            </a:r>
            <a:endParaRPr lang="en-US" sz="1700" dirty="0"/>
          </a:p>
          <a:p>
            <a:pPr marL="342900" indent="-342900">
              <a:spcAft>
                <a:spcPts val="1200"/>
              </a:spcAft>
              <a:buSzPct val="100000"/>
              <a:buFont typeface="+mj-lt"/>
              <a:buAutoNum type="arabicPeriod" startAt="1"/>
            </a:pPr>
            <a:r>
              <a:rPr lang="en-US" sz="1700" dirty="0">
                <a:solidFill>
                  <a:schemeClr val="tx1"/>
                </a:solidFill>
              </a:rPr>
              <a:t>Rear sensing for the blind arc, a rear LiDAR or a ring of ToF sensors.</a:t>
            </a:r>
            <a:endParaRPr lang="en-US" sz="1700" dirty="0"/>
          </a:p>
        </p:txBody>
      </p:sp>
      <p:sp>
        <p:nvSpPr>
          <p:cNvPr id="5" name="Shape 3"/>
          <p:cNvSpPr/>
          <p:nvPr/>
        </p:nvSpPr>
        <p:spPr>
          <a:xfrm>
            <a:off x="6629400" y="1234440"/>
            <a:ext cx="5013655" cy="4572000"/>
          </a:xfrm>
          <a:prstGeom prst="rect">
            <a:avLst/>
          </a:prstGeom>
          <a:solidFill>
            <a:schemeClr val="bg2"/>
          </a:solidFill>
          <a:ln w="12700">
            <a:solidFill>
              <a:schemeClr val="bg2"/>
            </a:solidFill>
            <a:prstDash val="solid"/>
          </a:ln>
        </p:spPr>
      </p:sp>
      <p:sp>
        <p:nvSpPr>
          <p:cNvPr id="6" name="Text 4"/>
          <p:cNvSpPr txBox="1"/>
          <p:nvPr/>
        </p:nvSpPr>
        <p:spPr>
          <a:xfrm>
            <a:off x="6949440" y="1417320"/>
            <a:ext cx="4373575" cy="411480"/>
          </a:xfrm>
          <a:prstGeom prst="rect">
            <a:avLst/>
          </a:prstGeom>
          <a:noFill/>
          <a:ln/>
        </p:spPr>
        <p:txBody>
          <a:bodyPr wrap="square" lIns="0" tIns="0" rIns="0" bIns="0" rtlCol="0" anchor="ctr"/>
          <a:lstStyle/>
          <a:p>
            <a:pPr indent="0" marL="0">
              <a:buNone/>
            </a:pPr>
            <a:r>
              <a:rPr lang="en-US" sz="1800" b="1" dirty="0">
                <a:solidFill>
                  <a:schemeClr val="tx1"/>
                </a:solidFill>
              </a:rPr>
              <a:t>For an electrical review</a:t>
            </a:r>
            <a:endParaRPr lang="en-US" sz="1800" dirty="0"/>
          </a:p>
        </p:txBody>
      </p:sp>
      <p:sp>
        <p:nvSpPr>
          <p:cNvPr id="7" name="Text 5"/>
          <p:cNvSpPr txBox="1"/>
          <p:nvPr/>
        </p:nvSpPr>
        <p:spPr>
          <a:xfrm>
            <a:off x="6949440" y="1965960"/>
            <a:ext cx="4373575" cy="3703320"/>
          </a:xfrm>
          <a:prstGeom prst="rect">
            <a:avLst/>
          </a:prstGeom>
          <a:noFill/>
          <a:ln/>
        </p:spPr>
        <p:txBody>
          <a:bodyPr wrap="square" lIns="0" tIns="0" rIns="0" bIns="0" rtlCol="0" anchor="t"/>
          <a:lstStyle/>
          <a:p>
            <a:pPr indent="0" marL="0">
              <a:spcAft>
                <a:spcPts val="1200"/>
              </a:spcAft>
              <a:buNone/>
            </a:pPr>
            <a:r>
              <a:rPr lang="en-US" sz="1500" b="1" dirty="0">
                <a:solidFill>
                  <a:schemeClr val="tx1"/>
                </a:solidFill>
              </a:rPr>
              <a:t>E-stop. </a:t>
            </a:r>
            <a:pPr indent="0" marL="0">
              <a:spcAft>
                <a:spcPts val="1200"/>
              </a:spcAft>
              <a:buNone/>
            </a:pPr>
            <a:r>
              <a:rPr lang="en-US" sz="1500" dirty="0">
                <a:solidFill>
                  <a:schemeClr val="tx1"/>
                </a:solidFill>
              </a:rPr>
              <a:t>A latching normally-closed button in series with the SSR-50DD trigger. Is that the right place to break the circuit?</a:t>
            </a:r>
            <a:endParaRPr lang="en-US" sz="1500" dirty="0"/>
          </a:p>
          <a:p>
            <a:pPr indent="0" marL="0">
              <a:spcAft>
                <a:spcPts val="1200"/>
              </a:spcAft>
              <a:buNone/>
            </a:pPr>
            <a:r>
              <a:rPr lang="en-US" sz="1500" b="1" dirty="0">
                <a:solidFill>
                  <a:schemeClr val="tx1"/>
                </a:solidFill>
              </a:rPr>
              <a:t>ESP32 supply. </a:t>
            </a:r>
            <a:pPr indent="0" marL="0">
              <a:spcAft>
                <a:spcPts val="1200"/>
              </a:spcAft>
              <a:buNone/>
            </a:pPr>
            <a:r>
              <a:rPr lang="en-US" sz="1500" dirty="0">
                <a:solidFill>
                  <a:schemeClr val="tx1"/>
                </a:solidFill>
              </a:rPr>
              <a:t>Pi USB today. Is VIN from the 5 V buck enough, or should the logic side be isolated?</a:t>
            </a:r>
            <a:endParaRPr lang="en-US" sz="1500" dirty="0"/>
          </a:p>
          <a:p>
            <a:pPr indent="0" marL="0">
              <a:spcAft>
                <a:spcPts val="1200"/>
              </a:spcAft>
              <a:buNone/>
            </a:pPr>
            <a:r>
              <a:rPr lang="en-US" sz="1500" b="1" dirty="0">
                <a:solidFill>
                  <a:schemeClr val="tx1"/>
                </a:solidFill>
              </a:rPr>
              <a:t>Encoder edges. </a:t>
            </a:r>
            <a:pPr indent="0" marL="0">
              <a:spcAft>
                <a:spcPts val="1200"/>
              </a:spcAft>
              <a:buNone/>
            </a:pPr>
            <a:r>
              <a:rPr lang="en-US" sz="1500" dirty="0">
                <a:solidFill>
                  <a:schemeClr val="tx1"/>
                </a:solidFill>
              </a:rPr>
              <a:t>About 38.5 kHz per channel on the front encoders at the 5.2 rad/s limit, through a BSS138 shifter. Is the rise time comfortable?</a:t>
            </a:r>
            <a:endParaRPr lang="en-US" sz="1500" dirty="0"/>
          </a:p>
          <a:p>
            <a:pPr indent="0" marL="0">
              <a:spcAft>
                <a:spcPts val="1200"/>
              </a:spcAft>
              <a:buNone/>
            </a:pPr>
            <a:r>
              <a:rPr lang="en-US" sz="1500" b="1" dirty="0">
                <a:solidFill>
                  <a:schemeClr val="tx1"/>
                </a:solidFill>
              </a:rPr>
              <a:t>Grounding. </a:t>
            </a:r>
            <a:pPr indent="0" marL="0">
              <a:spcAft>
                <a:spcPts val="1200"/>
              </a:spcAft>
              <a:buNone/>
            </a:pPr>
            <a:r>
              <a:rPr lang="en-US" sz="1500" dirty="0">
                <a:solidFill>
                  <a:schemeClr val="tx1"/>
                </a:solidFill>
              </a:rPr>
              <a:t>One bus shared by the 24 V drivers and the 3.3 V logic.</a:t>
            </a:r>
            <a:endParaRPr lang="en-US" sz="1500" dirty="0"/>
          </a:p>
        </p:txBody>
      </p:sp>
      <p:sp>
        <p:nvSpPr>
          <p:cNvPr id="25" name="Slide Number Placeholder 0"/>
          <p:cNvSpPr>
            <a:spLocks noGrp="1"/>
          </p:cNvSpPr>
          <p:nvPr>
            <p:ph type="sldNum" sz="quarter" idx="4294967295"/>
          </p:nvPr>
        </p:nvSpPr>
        <p:spPr>
          <a:xfrm>
            <a:off x="11094415"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13232"/>
          </a:xfrm>
          <a:prstGeom prst="rect">
            <a:avLst/>
          </a:prstGeom>
          <a:noFill/>
          <a:ln/>
        </p:spPr>
        <p:txBody>
          <a:bodyPr wrap="square" lIns="0" tIns="0" rIns="0" bIns="0" rtlCol="0" anchor="ctr"/>
          <a:lstStyle/>
          <a:p>
            <a:pPr algn="l" indent="0" marL="0">
              <a:buNone/>
            </a:pPr>
            <a:r>
              <a:rPr lang="en-US" sz="3000" b="1" dirty="0">
                <a:solidFill>
                  <a:schemeClr val="tx1"/>
                </a:solidFill>
              </a:rPr>
              <a:t>Appendix: every node and topic on one sheet</a:t>
            </a:r>
            <a:endParaRPr lang="en-US" sz="3000" dirty="0"/>
          </a:p>
        </p:txBody>
      </p:sp>
      <p:pic>
        <p:nvPicPr>
          <p:cNvPr id="3" name="Image 0" descr="/home/user/NarrowAisleBot/docs/flowcharts/png/h1_whole_system_handout.png">    </p:cNvPr>
          <p:cNvPicPr>
            <a:picLocks noChangeAspect="1"/>
          </p:cNvPicPr>
          <p:nvPr/>
        </p:nvPicPr>
        <p:blipFill>
          <a:blip r:embed="rId1"/>
          <a:stretch>
            <a:fillRect/>
          </a:stretch>
        </p:blipFill>
        <p:spPr>
          <a:xfrm>
            <a:off x="2621916" y="1097280"/>
            <a:ext cx="6947863" cy="5166360"/>
          </a:xfrm>
          <a:prstGeom prst="rect">
            <a:avLst/>
          </a:prstGeom>
        </p:spPr>
      </p:pic>
      <p:sp>
        <p:nvSpPr>
          <p:cNvPr id="25" name="Slide Number Placeholder 0"/>
          <p:cNvSpPr>
            <a:spLocks noGrp="1"/>
          </p:cNvSpPr>
          <p:nvPr>
            <p:ph type="sldNum" sz="quarter" idx="4294967295"/>
          </p:nvPr>
        </p:nvSpPr>
        <p:spPr>
          <a:xfrm>
            <a:off x="11094415"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NarrowAisleBot">
  <a:themeElements>
    <a:clrScheme name="NarrowAisleBot">
      <a:dk1>
        <a:srgbClr val="172126"/>
      </a:dk1>
      <a:lt1>
        <a:srgbClr val="FFFFFF"/>
      </a:lt1>
      <a:dk2>
        <a:srgbClr val="52606A"/>
      </a:dk2>
      <a:lt2>
        <a:srgbClr val="F1F4F3"/>
      </a:lt2>
      <a:accent1>
        <a:srgbClr val="C2410C"/>
      </a:accent1>
      <a:accent2>
        <a:srgbClr val="0072B2"/>
      </a:accent2>
      <a:accent3>
        <a:srgbClr val="00896A"/>
      </a:accent3>
      <a:accent4>
        <a:srgbClr val="7C4DA8"/>
      </a:accent4>
      <a:accent5>
        <a:srgbClr val="66737C"/>
      </a:accent5>
      <a:accent6>
        <a:srgbClr val="C62828"/>
      </a:accent6>
      <a:hlink>
        <a:srgbClr val="0072B2"/>
      </a:hlink>
      <a:folHlink>
        <a:srgbClr val="7C4DA8"/>
      </a:folHlink>
    </a:clrScheme>
    <a:fontScheme name="NarrowAisleBo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NarrowAisleBot ROS 2 architecture</dc:title>
  <dc:subject>PptxGenJS Presentation</dc:subject>
  <dc:creator>Aritra Das</dc:creator>
  <cp:lastModifiedBy>Aritra Das</cp:lastModifiedBy>
  <cp:revision>1</cp:revision>
  <dcterms:created xsi:type="dcterms:W3CDTF">2026-10-08T06:01:58Z</dcterms:created>
  <dcterms:modified xsi:type="dcterms:W3CDTF">2026-10-08T06:01:58Z</dcterms:modified>
</cp:coreProperties>
</file>