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omnidirectional cargo platform for narrow aisles, built and instrumented over the first year. This talk covers the electronics, firmware, software and mechanical work; the biological application sits outside it.
The photograph is the platform as it stood on 11 August: long chassis, four mecanum wheels at unequal radii, the mast, the LiDAR on the battery, the Pi and the motor driver.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aisle sets the width, so the wheels could not go where the textbook puts them. Front-right and rear-left ended up 403 mm from centre, front-left and rear-right 333 mm.
The consequence is that every wheel has a different lever arm on yaw, so the standard mecanum matrix does not apply and had to be re-derived for this chassis.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here was chosen for novelty. The ESP32 exists because a 100 Hz deterministic loop cannot live on a Linux scheduler; the Arduino exists because the arm and the lamps need their own timing and must survive a Pi reboot.
The multiplexer is a safety decision: manual command always outranks autonomous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stutter was visible long before it was explained. Characterising the four motors open-loop at a fixed PWM turned a driving complaint into a number: an 11 to 13 percent split inside one diagonal pair.
The loop is a 100 Hz PID with two feedforward terms, one proportional to commanded speed and one static term for stiction. Zero saturation matters because it means the errors quoted are the controller’s, not the motor’s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place in the year where a number was written down before the experiment that could refute it, so it is worth a slide of its own.
The quantity is steady-state PWM per rad/s: how much drive each motor needs to hold a given wheel speed. Unloaded against loaded, the same four motors, the same firmware.
If a reviewer asks why 30.3 percent on the rear right is not a concern: it is inside the band, and the rear right also carries the mast.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fault class the year kept returning to: a silent unit or convention error that every self-check passes.
The controller was doing exactly what it was told. The instrumentation was lying, so the diagnostics were confirming the lie. That is why the audit rule became measure the input before tuning the estimator.
Same family: the shared axis convention, the mirrored scan, the frame published in the wrong rotation.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that matters: a blind spot inside the minimum range is discarded automatically. This one is not. It is far enough out to look like a real wall that follows the robot everywhere.
Five headings were used precisely to separate a chassis-fixed obstruction from something in the room. The wedge stayed put.
Masking is a mitigation, not a fix; the honest version is that a quarter of the scan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6.8 times spread is the point, not the worst value. An estimator that fails consistently can be corrected; one that fails differently every run cannot be trusted at all.
The odometry cross-check is what made this tractable. If the wheels close to 3 cm and the map does not, the fault is not mechanical and not in the drive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single result of the year, and the one to slow down on.
The experiment was designed to be refutable: if the correction total had moved with tuning, the problem would have been tuning. It did not move. Two percent across three parameter sets is inside run-to-run noise.
That converts an open-ended tuning exercise into a closed argument about where the error enters, and it is what justified spending the following weeks measuring the LiDAR instead of the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measurement the invariance result pointed to, and it took one afternoon once the question was right.
The robot is not moving. Nothing in the room is moving. Three quarters of the beams still change state between consecutive sweeps.
Be careful with the conclusion: the sensor is not broken. It is a low-cost triangulation unit performing within its datasheet. The mistake was expecting datasheet behaviour to be sufficient for pose-graph SLAM in a corridor.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Disabling the sequential scan matcher is not a workaround dressed up as a result. It is a selection between two estimators that were both measured on the same drive, and the worse one was dropped.
The photogrammetry cross-check matters because it rules out the obvious objection: that the wheels were slipping and odometry only looked better. Tile grout gives an independent ground truth.
What this does not give is loop closure. Without a scan matcher there is no correction at all, which is fine for a straight run and not fine for a full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the claim: goals were reached inside a live mapping session, not on a saved map. That is a real result and a limited one.
The DWB change is worth a sentence because it was decided by reading the controller’s source rather than by tuning against it. A bit-exact comparison against zero translation means a rotation-only goal can never satisfy the test.
The blocker is not code. It is that no map good enough to localise against has been produced yet, which is exactly what the previous four slides were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grading the stack layer by layer is that the break is at exactly one component, not spread across the design. That is a good position to be in going into year two.
Every claim in the report carries an evidence grade: measured, single observation, hypothesis, retracted, or never run. Several earlier conclusions are marked retracted, and they are left in rather than quietly removed.
The four rules are not slogans; each one is the generalisation of a specific defect that cost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project, not a second thesis. Keep it to two minutes.
The engineering that is worth showing is the redundancy: three wireless channels running concurrently and two independent control paths, so a network failure does not leave the lamps in an unknown state.
It is presented with the same self-audit as the robot, which is why the limitations are on the slide rather than in the questions. The honest position is that the current trigger is an occupancy proxy, and dose-based control is year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gap is the one that justifies the platform: nobody has shown what a non-collinear mecanum base costs or buys against a symmetric one on the same task, and this robot is the instrument for asking that.
The second gap only became a research question because of this year’s measurements. Before, sensor choice was an assumption; now it is a quantity with a number attached.
Year two is deliberately unglamorous. An inertial sensor and one good commissioning map unblock everything above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Likely ones and where the answer is:
- Why not just buy a better LiDAR? Cost, and the sensor comparison is year two work item four.
- Is disabling the scan matcher not giving up on SLAM? No: two estimators were measured on the same drive and the worse one was dropped. Slide 11.
- Why an asymmetric base at all? The aisle width. And quantifying what it costs is research gap one.
- How do you know odometry is not just hiding slip? Photogrammetry against the floor grout. Slide 11.
The timeline on the right is both projects reconstructed from 146 commits, if a date is queried.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051560"/>
            <a:ext cx="6766560" cy="365760"/>
          </a:xfrm>
          <a:prstGeom prst="rect">
            <a:avLst/>
          </a:prstGeom>
          <a:noFill/>
          <a:ln/>
        </p:spPr>
        <p:txBody>
          <a:bodyPr wrap="square" lIns="0" tIns="0" rIns="0" bIns="0" rtlCol="0" anchor="ctr"/>
          <a:lstStyle/>
          <a:p>
            <a:pPr algn="l" indent="0" marL="0">
              <a:buNone/>
            </a:pPr>
            <a:r>
              <a:rPr lang="en-US" sz="1600" b="1" spc="100" kern="0" dirty="0">
                <a:solidFill>
                  <a:srgbClr val="1F4E79"/>
                </a:solidFill>
                <a:latin typeface="Calibri" pitchFamily="34" charset="0"/>
                <a:ea typeface="Calibri" pitchFamily="34" charset="-122"/>
                <a:cs typeface="Calibri" pitchFamily="34" charset="-120"/>
              </a:rPr>
              <a:t>Annual Progress Seminar · Year 1</a:t>
            </a:r>
            <a:endParaRPr lang="en-US" sz="1600" dirty="0"/>
          </a:p>
        </p:txBody>
      </p:sp>
      <p:sp>
        <p:nvSpPr>
          <p:cNvPr id="3" name="Text 1"/>
          <p:cNvSpPr txBox="1"/>
          <p:nvPr/>
        </p:nvSpPr>
        <p:spPr>
          <a:xfrm>
            <a:off x="502920" y="1600200"/>
            <a:ext cx="6766560" cy="1051560"/>
          </a:xfrm>
          <a:prstGeom prst="rect">
            <a:avLst/>
          </a:prstGeom>
          <a:noFill/>
          <a:ln/>
        </p:spPr>
        <p:txBody>
          <a:bodyPr wrap="square" lIns="0" tIns="0" rIns="0" bIns="0" rtlCol="0" anchor="ctr"/>
          <a:lstStyle/>
          <a:p>
            <a:pPr algn="l" indent="0" marL="0">
              <a:buNone/>
            </a:pPr>
            <a:r>
              <a:rPr lang="en-US" sz="6000" b="1" dirty="0">
                <a:solidFill>
                  <a:srgbClr val="1A1A1A"/>
                </a:solidFill>
                <a:latin typeface="Cambria" pitchFamily="34" charset="0"/>
                <a:ea typeface="Cambria" pitchFamily="34" charset="-122"/>
                <a:cs typeface="Cambria" pitchFamily="34" charset="-120"/>
              </a:rPr>
              <a:t>NarrowAisleBot</a:t>
            </a:r>
            <a:endParaRPr lang="en-US" sz="6000" dirty="0"/>
          </a:p>
        </p:txBody>
      </p:sp>
      <p:sp>
        <p:nvSpPr>
          <p:cNvPr id="4" name="Text 2"/>
          <p:cNvSpPr txBox="1"/>
          <p:nvPr/>
        </p:nvSpPr>
        <p:spPr>
          <a:xfrm>
            <a:off x="502920" y="2743200"/>
            <a:ext cx="6400800" cy="822960"/>
          </a:xfrm>
          <a:prstGeom prst="rect">
            <a:avLst/>
          </a:prstGeom>
          <a:noFill/>
          <a:ln/>
        </p:spPr>
        <p:txBody>
          <a:bodyPr wrap="square" lIns="0" tIns="0" rIns="0" bIns="0" rtlCol="0" anchor="t"/>
          <a:lstStyle/>
          <a:p>
            <a:pPr algn="l" indent="0" marL="0">
              <a:lnSpc>
                <a:spcPct val="120000"/>
              </a:lnSpc>
              <a:buNone/>
            </a:pPr>
            <a:r>
              <a:rPr lang="en-US" sz="1900" dirty="0">
                <a:solidFill>
                  <a:srgbClr val="5A5A5A"/>
                </a:solidFill>
                <a:latin typeface="Calibri" pitchFamily="34" charset="0"/>
                <a:ea typeface="Calibri" pitchFamily="34" charset="-122"/>
                <a:cs typeface="Calibri" pitchFamily="34" charset="-120"/>
              </a:rPr>
              <a:t>An asymmetric mecanum platform for autonomous operation in narrow aisles</a:t>
            </a:r>
            <a:endParaRPr lang="en-US" sz="1900" dirty="0"/>
          </a:p>
        </p:txBody>
      </p:sp>
      <p:sp>
        <p:nvSpPr>
          <p:cNvPr id="5" name="Text 3"/>
          <p:cNvSpPr txBox="1"/>
          <p:nvPr/>
        </p:nvSpPr>
        <p:spPr>
          <a:xfrm>
            <a:off x="502920" y="4343400"/>
            <a:ext cx="6400800" cy="1554480"/>
          </a:xfrm>
          <a:prstGeom prst="rect">
            <a:avLst/>
          </a:prstGeom>
          <a:noFill/>
          <a:ln/>
        </p:spPr>
        <p:txBody>
          <a:bodyPr wrap="square" lIns="0" tIns="0" rIns="0" bIns="0" rtlCol="0" anchor="t"/>
          <a:lstStyle/>
          <a:p>
            <a:pPr algn="l" indent="0" marL="0">
              <a:lnSpc>
                <a:spcPct val="125000"/>
              </a:lnSpc>
              <a:buNone/>
            </a:pPr>
            <a:r>
              <a:rPr lang="en-US" sz="1400" b="1" dirty="0">
                <a:solidFill>
                  <a:srgbClr val="1A1A1A"/>
                </a:solidFill>
                <a:latin typeface="Calibri" pitchFamily="34" charset="0"/>
                <a:ea typeface="Calibri" pitchFamily="34" charset="-122"/>
                <a:cs typeface="Calibri" pitchFamily="34" charset="-120"/>
              </a:rPr>
              <a:t>Aritra Das</a:t>
            </a:r>
            <a:endParaRPr lang="en-US" sz="1400" dirty="0"/>
          </a:p>
          <a:p>
            <a:pPr algn="l" indent="0" marL="0">
              <a:lnSpc>
                <a:spcPct val="125000"/>
              </a:lnSpc>
              <a:buNone/>
            </a:pPr>
            <a:r>
              <a:rPr lang="en-US" sz="1400" dirty="0">
                <a:solidFill>
                  <a:srgbClr val="1A1A1A"/>
                </a:solidFill>
                <a:latin typeface="Calibri" pitchFamily="34" charset="0"/>
                <a:ea typeface="Calibri" pitchFamily="34" charset="-122"/>
                <a:cs typeface="Calibri" pitchFamily="34" charset="-120"/>
              </a:rPr>
              <a:t>Roll 25D0074</a:t>
            </a:r>
            <a:endParaRPr lang="en-US" sz="1400" dirty="0"/>
          </a:p>
          <a:p>
            <a:pPr algn="l" indent="0" marL="0">
              <a:lnSpc>
                <a:spcPct val="125000"/>
              </a:lnSpc>
              <a:buNone/>
            </a:pPr>
            <a:r>
              <a:rPr lang="en-US" sz="1400" dirty="0">
                <a:solidFill>
                  <a:srgbClr val="1A1A1A"/>
                </a:solidFill>
                <a:latin typeface="Calibri" pitchFamily="34" charset="0"/>
                <a:ea typeface="Calibri" pitchFamily="34" charset="-122"/>
                <a:cs typeface="Calibri" pitchFamily="34" charset="-120"/>
              </a:rPr>
              <a:t>Department of Biosciences and Bioengineering, IIT Bombay</a:t>
            </a:r>
            <a:endParaRPr lang="en-US" sz="1400" dirty="0"/>
          </a:p>
          <a:p>
            <a:pPr algn="l" indent="0" marL="0">
              <a:lnSpc>
                <a:spcPct val="125000"/>
              </a:lnSpc>
              <a:buNone/>
            </a:pPr>
            <a:r>
              <a:rPr lang="en-US" sz="1400" dirty="0">
                <a:solidFill>
                  <a:srgbClr val="1A1A1A"/>
                </a:solidFill>
                <a:latin typeface="Calibri" pitchFamily="34" charset="0"/>
                <a:ea typeface="Calibri" pitchFamily="34" charset="-122"/>
                <a:cs typeface="Calibri" pitchFamily="34" charset="-120"/>
              </a:rPr>
              <a:t>Supervisor: Prof. Ambarish Kunwar</a:t>
            </a:r>
            <a:endParaRPr lang="en-US" sz="1400" dirty="0"/>
          </a:p>
          <a:p>
            <a:pPr algn="l" indent="0" marL="0">
              <a:lnSpc>
                <a:spcPct val="125000"/>
              </a:lnSpc>
              <a:buNone/>
            </a:pPr>
            <a:r>
              <a:rPr lang="en-US" sz="1400" dirty="0">
                <a:solidFill>
                  <a:srgbClr val="1A1A1A"/>
                </a:solidFill>
                <a:latin typeface="Calibri" pitchFamily="34" charset="0"/>
                <a:ea typeface="Calibri" pitchFamily="34" charset="-122"/>
                <a:cs typeface="Calibri" pitchFamily="34" charset="-120"/>
              </a:rPr>
              <a:t>September 2026</a:t>
            </a:r>
            <a:endParaRPr lang="en-US" sz="1400" dirty="0"/>
          </a:p>
        </p:txBody>
      </p:sp>
      <p:pic>
        <p:nvPicPr>
          <p:cNvPr id="6" name="Image 0" descr="/home/user/NarrowAisleBot/docs/robot_photos/2026-08-11_occlusion_trial_cw/cw_000.jpg">    </p:cNvPr>
          <p:cNvPicPr>
            <a:picLocks noChangeAspect="1"/>
          </p:cNvPicPr>
          <p:nvPr/>
        </p:nvPicPr>
        <p:blipFill>
          <a:blip r:embed="rId1"/>
          <a:stretch>
            <a:fillRect/>
          </a:stretch>
        </p:blipFill>
        <p:spPr>
          <a:xfrm>
            <a:off x="7299655" y="502920"/>
            <a:ext cx="4389120" cy="5852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731520"/>
          </a:xfrm>
          <a:prstGeom prst="rect">
            <a:avLst/>
          </a:prstGeom>
          <a:noFill/>
          <a:ln/>
        </p:spPr>
        <p:txBody>
          <a:bodyPr wrap="square" lIns="0" tIns="0" rIns="0" bIns="0" rtlCol="0" anchor="ctr"/>
          <a:lstStyle/>
          <a:p>
            <a:pPr algn="l" indent="0" marL="0">
              <a:buNone/>
            </a:pPr>
            <a:r>
              <a:rPr lang="en-US" sz="3200" b="1" dirty="0">
                <a:solidFill>
                  <a:srgbClr val="1A1A1A"/>
                </a:solidFill>
                <a:latin typeface="Cambria" pitchFamily="34" charset="0"/>
                <a:ea typeface="Cambria" pitchFamily="34" charset="-122"/>
                <a:cs typeface="Cambria" pitchFamily="34" charset="-120"/>
              </a:rPr>
              <a:t>The geometry, and why it is asymmetric</a:t>
            </a:r>
            <a:endParaRPr lang="en-US" sz="3200" dirty="0"/>
          </a:p>
        </p:txBody>
      </p:sp>
      <p:pic>
        <p:nvPicPr>
          <p:cNvPr id="3" name="Image 0" descr="/home/user/NarrowAisleBot/docs/aps_report/figures/fig01_asymmetric_geometry.png">    </p:cNvPr>
          <p:cNvPicPr>
            <a:picLocks noChangeAspect="1"/>
          </p:cNvPicPr>
          <p:nvPr/>
        </p:nvPicPr>
        <p:blipFill>
          <a:blip r:embed="rId1"/>
          <a:stretch>
            <a:fillRect/>
          </a:stretch>
        </p:blipFill>
        <p:spPr>
          <a:xfrm>
            <a:off x="502920" y="1261872"/>
            <a:ext cx="6903720" cy="2901527"/>
          </a:xfrm>
          <a:prstGeom prst="rect">
            <a:avLst/>
          </a:prstGeom>
        </p:spPr>
      </p:pic>
      <p:sp>
        <p:nvSpPr>
          <p:cNvPr id="4" name="Text 1"/>
          <p:cNvSpPr txBox="1"/>
          <p:nvPr/>
        </p:nvSpPr>
        <p:spPr>
          <a:xfrm>
            <a:off x="502920" y="4254839"/>
            <a:ext cx="6903720" cy="274320"/>
          </a:xfrm>
          <a:prstGeom prst="rect">
            <a:avLst/>
          </a:prstGeom>
          <a:noFill/>
          <a:ln/>
        </p:spPr>
        <p:txBody>
          <a:bodyPr wrap="square" lIns="0" tIns="0" rIns="0" bIns="0" rtlCol="0" anchor="ctr"/>
          <a:lstStyle/>
          <a:p>
            <a:pPr algn="l" indent="0" marL="0">
              <a:buNone/>
            </a:pPr>
            <a:r>
              <a:rPr lang="en-US" sz="1000" dirty="0">
                <a:solidFill>
                  <a:srgbClr val="5A5A5A"/>
                </a:solidFill>
                <a:latin typeface="Calibri" pitchFamily="34" charset="0"/>
                <a:ea typeface="Calibri" pitchFamily="34" charset="-122"/>
                <a:cs typeface="Calibri" pitchFamily="34" charset="-120"/>
              </a:rPr>
              <a:t>Plan view to scale, and the yaw coefficient each wheel earns from its own position.</a:t>
            </a:r>
            <a:endParaRPr lang="en-US" sz="1000" dirty="0"/>
          </a:p>
        </p:txBody>
      </p:sp>
      <p:sp>
        <p:nvSpPr>
          <p:cNvPr id="5" name="Text 2"/>
          <p:cNvSpPr txBox="1"/>
          <p:nvPr/>
        </p:nvSpPr>
        <p:spPr>
          <a:xfrm>
            <a:off x="7772400" y="130759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Wheels are not at the corners</a:t>
            </a:r>
            <a:endParaRPr lang="en-US" sz="1500" dirty="0"/>
          </a:p>
        </p:txBody>
      </p:sp>
      <p:sp>
        <p:nvSpPr>
          <p:cNvPr id="6" name="Text 3"/>
          <p:cNvSpPr txBox="1"/>
          <p:nvPr/>
        </p:nvSpPr>
        <p:spPr>
          <a:xfrm>
            <a:off x="7772400" y="165506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A conventional mecanum base puts all four wheels the same distance from the centre. This one does not. The outer pair sits at 403 mm, the inner pair at 333 mm, with a half-track of 158 mm.</a:t>
            </a:r>
            <a:endParaRPr lang="en-US" sz="1350" dirty="0"/>
          </a:p>
        </p:txBody>
      </p:sp>
      <p:sp>
        <p:nvSpPr>
          <p:cNvPr id="7" name="Text 4"/>
          <p:cNvSpPr txBox="1"/>
          <p:nvPr/>
        </p:nvSpPr>
        <p:spPr>
          <a:xfrm>
            <a:off x="7772400" y="354787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Each wheel earns its own term</a:t>
            </a:r>
            <a:endParaRPr lang="en-US" sz="1500" dirty="0"/>
          </a:p>
        </p:txBody>
      </p:sp>
      <p:sp>
        <p:nvSpPr>
          <p:cNvPr id="8" name="Text 5"/>
          <p:cNvSpPr txBox="1"/>
          <p:nvPr/>
        </p:nvSpPr>
        <p:spPr>
          <a:xfrm>
            <a:off x="7772400" y="389534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That 70 mm offset gives the outer wheels a yaw coefficient of 0.561 m and the inner wheels 0.491 m, so the inverse kinematics cannot be the textbook one. Footprint 1.00 x 0.36 m, mass 45.5 kg, wheel radius 76.2 mm.</a:t>
            </a:r>
            <a:endParaRPr lang="en-US" sz="1350" dirty="0"/>
          </a:p>
        </p:txBody>
      </p:sp>
      <p:sp>
        <p:nvSpPr>
          <p:cNvPr id="9" name="Text 6"/>
          <p:cNvSpPr txBox="1"/>
          <p:nvPr/>
        </p:nvSpPr>
        <p:spPr>
          <a:xfrm>
            <a:off x="11140135" y="6382512"/>
            <a:ext cx="548640" cy="256032"/>
          </a:xfrm>
          <a:prstGeom prst="rect">
            <a:avLst/>
          </a:prstGeom>
          <a:noFill/>
          <a:ln/>
        </p:spPr>
        <p:txBody>
          <a:bodyPr wrap="square" lIns="0" tIns="0" rIns="0" bIns="0"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731520"/>
          </a:xfrm>
          <a:prstGeom prst="rect">
            <a:avLst/>
          </a:prstGeom>
          <a:noFill/>
          <a:ln/>
        </p:spPr>
        <p:txBody>
          <a:bodyPr wrap="square" lIns="0" tIns="0" rIns="0" bIns="0" rtlCol="0" anchor="ctr"/>
          <a:lstStyle/>
          <a:p>
            <a:pPr algn="l" indent="0" marL="0">
              <a:buNone/>
            </a:pPr>
            <a:r>
              <a:rPr lang="en-US" sz="3200" b="1" dirty="0">
                <a:solidFill>
                  <a:srgbClr val="1A1A1A"/>
                </a:solidFill>
                <a:latin typeface="Cambria" pitchFamily="34" charset="0"/>
                <a:ea typeface="Cambria" pitchFamily="34" charset="-122"/>
                <a:cs typeface="Cambria" pitchFamily="34" charset="-120"/>
              </a:rPr>
              <a:t>What was built</a:t>
            </a:r>
            <a:endParaRPr lang="en-US" sz="3200" dirty="0"/>
          </a:p>
        </p:txBody>
      </p:sp>
      <p:pic>
        <p:nvPicPr>
          <p:cNvPr id="3" name="Image 0" descr="/home/user/NarrowAisleBot/docs/aps_report/figures/fig02_system_architecture.png">    </p:cNvPr>
          <p:cNvPicPr>
            <a:picLocks noChangeAspect="1"/>
          </p:cNvPicPr>
          <p:nvPr/>
        </p:nvPicPr>
        <p:blipFill>
          <a:blip r:embed="rId1"/>
          <a:stretch>
            <a:fillRect/>
          </a:stretch>
        </p:blipFill>
        <p:spPr>
          <a:xfrm>
            <a:off x="683803" y="1261872"/>
            <a:ext cx="6541954" cy="4645152"/>
          </a:xfrm>
          <a:prstGeom prst="rect">
            <a:avLst/>
          </a:prstGeom>
        </p:spPr>
      </p:pic>
      <p:sp>
        <p:nvSpPr>
          <p:cNvPr id="4" name="Text 1"/>
          <p:cNvSpPr txBox="1"/>
          <p:nvPr/>
        </p:nvSpPr>
        <p:spPr>
          <a:xfrm>
            <a:off x="502920" y="5998464"/>
            <a:ext cx="6903720" cy="274320"/>
          </a:xfrm>
          <a:prstGeom prst="rect">
            <a:avLst/>
          </a:prstGeom>
          <a:noFill/>
          <a:ln/>
        </p:spPr>
        <p:txBody>
          <a:bodyPr wrap="square" lIns="0" tIns="0" rIns="0" bIns="0" rtlCol="0" anchor="ctr"/>
          <a:lstStyle/>
          <a:p>
            <a:pPr algn="l" indent="0" marL="0">
              <a:buNone/>
            </a:pPr>
            <a:r>
              <a:rPr lang="en-US" sz="1000" dirty="0">
                <a:solidFill>
                  <a:srgbClr val="5A5A5A"/>
                </a:solidFill>
                <a:latin typeface="Calibri" pitchFamily="34" charset="0"/>
                <a:ea typeface="Calibri" pitchFamily="34" charset="-122"/>
                <a:cs typeface="Calibri" pitchFamily="34" charset="-120"/>
              </a:rPr>
              <a:t>Three layers, each link annotated with its rate and transport.</a:t>
            </a:r>
            <a:endParaRPr lang="en-US" sz="1000" dirty="0"/>
          </a:p>
        </p:txBody>
      </p:sp>
      <p:sp>
        <p:nvSpPr>
          <p:cNvPr id="5" name="Text 2"/>
          <p:cNvSpPr txBox="1"/>
          <p:nvPr/>
        </p:nvSpPr>
        <p:spPr>
          <a:xfrm>
            <a:off x="7772400" y="130759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Three processors, one rule</a:t>
            </a:r>
            <a:endParaRPr lang="en-US" sz="1500" dirty="0"/>
          </a:p>
        </p:txBody>
      </p:sp>
      <p:sp>
        <p:nvSpPr>
          <p:cNvPr id="6" name="Text 3"/>
          <p:cNvSpPr txBox="1"/>
          <p:nvPr/>
        </p:nvSpPr>
        <p:spPr>
          <a:xfrm>
            <a:off x="7772400" y="165506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The split is by real-time capability, not by software preference. A Raspberry Pi 5 runs ROS 2 for planning and perception. An ESP32 runs the 100 Hz velocity loop with hardware quadrature decoding. An Arduino Mega drives the cargo arm and the staged UV-C tubes.</a:t>
            </a:r>
            <a:endParaRPr lang="en-US" sz="1350" dirty="0"/>
          </a:p>
        </p:txBody>
      </p:sp>
      <p:sp>
        <p:nvSpPr>
          <p:cNvPr id="7" name="Text 4"/>
          <p:cNvSpPr txBox="1"/>
          <p:nvPr/>
        </p:nvSpPr>
        <p:spPr>
          <a:xfrm>
            <a:off x="7772400" y="354787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Sensing and command path</a:t>
            </a:r>
            <a:endParaRPr lang="en-US" sz="1500" dirty="0"/>
          </a:p>
        </p:txBody>
      </p:sp>
      <p:sp>
        <p:nvSpPr>
          <p:cNvPr id="8" name="Text 5"/>
          <p:cNvSpPr txBox="1"/>
          <p:nvPr/>
        </p:nvSpPr>
        <p:spPr>
          <a:xfrm>
            <a:off x="7772400" y="389534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A YDLIDAR X4 Pro feeds SLAM. Nav2 plans, MPPI tracks, and a priority multiplexer keeps the manual joystick above the autonomous stream, so a person can always take the robot back.</a:t>
            </a:r>
            <a:endParaRPr lang="en-US" sz="1350" dirty="0"/>
          </a:p>
        </p:txBody>
      </p:sp>
      <p:sp>
        <p:nvSpPr>
          <p:cNvPr id="9" name="Text 6"/>
          <p:cNvSpPr txBox="1"/>
          <p:nvPr/>
        </p:nvSpPr>
        <p:spPr>
          <a:xfrm>
            <a:off x="11140135" y="6382512"/>
            <a:ext cx="548640" cy="256032"/>
          </a:xfrm>
          <a:prstGeom prst="rect">
            <a:avLst/>
          </a:prstGeom>
          <a:noFill/>
          <a:ln/>
        </p:spPr>
        <p:txBody>
          <a:bodyPr wrap="square" lIns="0" tIns="0" rIns="0" bIns="0"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731520"/>
          </a:xfrm>
          <a:prstGeom prst="rect">
            <a:avLst/>
          </a:prstGeom>
          <a:noFill/>
          <a:ln/>
        </p:spPr>
        <p:txBody>
          <a:bodyPr wrap="square" lIns="0" tIns="0" rIns="0" bIns="0" rtlCol="0" anchor="ctr"/>
          <a:lstStyle/>
          <a:p>
            <a:pPr algn="l" indent="0" marL="0">
              <a:buNone/>
            </a:pPr>
            <a:r>
              <a:rPr lang="en-US" sz="3200" b="1" dirty="0">
                <a:solidFill>
                  <a:srgbClr val="1A1A1A"/>
                </a:solidFill>
                <a:latin typeface="Cambria" pitchFamily="34" charset="0"/>
                <a:ea typeface="Cambria" pitchFamily="34" charset="-122"/>
                <a:cs typeface="Cambria" pitchFamily="34" charset="-120"/>
              </a:rPr>
              <a:t>Control, in air and on the floor</a:t>
            </a:r>
            <a:endParaRPr lang="en-US" sz="3200" dirty="0"/>
          </a:p>
        </p:txBody>
      </p:sp>
      <p:pic>
        <p:nvPicPr>
          <p:cNvPr id="3" name="Image 0" descr="/home/user/NarrowAisleBot/docs/aps_report/figures/fig08_v30_tracking.png">    </p:cNvPr>
          <p:cNvPicPr>
            <a:picLocks noChangeAspect="1"/>
          </p:cNvPicPr>
          <p:nvPr/>
        </p:nvPicPr>
        <p:blipFill>
          <a:blip r:embed="rId1"/>
          <a:stretch>
            <a:fillRect/>
          </a:stretch>
        </p:blipFill>
        <p:spPr>
          <a:xfrm>
            <a:off x="502920" y="1261872"/>
            <a:ext cx="6903720" cy="4403869"/>
          </a:xfrm>
          <a:prstGeom prst="rect">
            <a:avLst/>
          </a:prstGeom>
        </p:spPr>
      </p:pic>
      <p:sp>
        <p:nvSpPr>
          <p:cNvPr id="4" name="Text 1"/>
          <p:cNvSpPr txBox="1"/>
          <p:nvPr/>
        </p:nvSpPr>
        <p:spPr>
          <a:xfrm>
            <a:off x="502920" y="5757181"/>
            <a:ext cx="6903720" cy="274320"/>
          </a:xfrm>
          <a:prstGeom prst="rect">
            <a:avLst/>
          </a:prstGeom>
          <a:noFill/>
          <a:ln/>
        </p:spPr>
        <p:txBody>
          <a:bodyPr wrap="square" lIns="0" tIns="0" rIns="0" bIns="0" rtlCol="0" anchor="ctr"/>
          <a:lstStyle/>
          <a:p>
            <a:pPr algn="l" indent="0" marL="0">
              <a:buNone/>
            </a:pPr>
            <a:r>
              <a:rPr lang="en-US" sz="1000" dirty="0">
                <a:solidFill>
                  <a:srgbClr val="5A5A5A"/>
                </a:solidFill>
                <a:latin typeface="Calibri" pitchFamily="34" charset="0"/>
                <a:ea typeface="Calibri" pitchFamily="34" charset="-122"/>
                <a:cs typeface="Calibri" pitchFamily="34" charset="-120"/>
              </a:rPr>
              <a:t>Closed-loop velocity tracking, wheels free, 1816 samples.</a:t>
            </a:r>
            <a:endParaRPr lang="en-US" sz="1000" dirty="0"/>
          </a:p>
        </p:txBody>
      </p:sp>
      <p:sp>
        <p:nvSpPr>
          <p:cNvPr id="5" name="Text 2"/>
          <p:cNvSpPr txBox="1"/>
          <p:nvPr/>
        </p:nvSpPr>
        <p:spPr>
          <a:xfrm>
            <a:off x="7772400" y="130759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Open loop failed measurably</a:t>
            </a:r>
            <a:endParaRPr lang="en-US" sz="1500" dirty="0"/>
          </a:p>
        </p:txBody>
      </p:sp>
      <p:sp>
        <p:nvSpPr>
          <p:cNvPr id="6" name="Text 3"/>
          <p:cNvSpPr txBox="1"/>
          <p:nvPr/>
        </p:nvSpPr>
        <p:spPr>
          <a:xfrm>
            <a:off x="7772400" y="165506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At equal duty cycle, one diagonal pair ran 11 to 13 percent faster than the other. That mismatch is what produced the strafing stutter. It was never a tuning problem; it was an unmeasured plant.</a:t>
            </a:r>
            <a:endParaRPr lang="en-US" sz="1350" dirty="0"/>
          </a:p>
        </p:txBody>
      </p:sp>
      <p:sp>
        <p:nvSpPr>
          <p:cNvPr id="7" name="Text 4"/>
          <p:cNvSpPr txBox="1"/>
          <p:nvPr/>
        </p:nvSpPr>
        <p:spPr>
          <a:xfrm>
            <a:off x="7772400" y="354787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Closed loop, then measured</a:t>
            </a:r>
            <a:endParaRPr lang="en-US" sz="1500" dirty="0"/>
          </a:p>
        </p:txBody>
      </p:sp>
      <p:sp>
        <p:nvSpPr>
          <p:cNvPr id="8" name="Text 5"/>
          <p:cNvSpPr txBox="1"/>
          <p:nvPr/>
        </p:nvSpPr>
        <p:spPr>
          <a:xfrm>
            <a:off x="7772400" y="389534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Tracking error is 1.2 to 1.4 percent of peak with the wheels free, and 3.4 to 4.0 percent under the real chassis weight. Not one run contained a saturated sample, so the loop still has headroom.</a:t>
            </a:r>
            <a:endParaRPr lang="en-US" sz="1350" dirty="0"/>
          </a:p>
        </p:txBody>
      </p:sp>
      <p:sp>
        <p:nvSpPr>
          <p:cNvPr id="9" name="Text 6"/>
          <p:cNvSpPr txBox="1"/>
          <p:nvPr/>
        </p:nvSpPr>
        <p:spPr>
          <a:xfrm>
            <a:off x="11140135" y="6382512"/>
            <a:ext cx="548640" cy="256032"/>
          </a:xfrm>
          <a:prstGeom prst="rect">
            <a:avLst/>
          </a:prstGeom>
          <a:noFill/>
          <a:ln/>
        </p:spPr>
        <p:txBody>
          <a:bodyPr wrap="square" lIns="0" tIns="0" rIns="0" bIns="0"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731520"/>
          </a:xfrm>
          <a:prstGeom prst="rect">
            <a:avLst/>
          </a:prstGeom>
          <a:noFill/>
          <a:ln/>
        </p:spPr>
        <p:txBody>
          <a:bodyPr wrap="square" lIns="0" tIns="0" rIns="0" bIns="0" rtlCol="0" anchor="ctr"/>
          <a:lstStyle/>
          <a:p>
            <a:pPr algn="l" indent="0" marL="0">
              <a:buNone/>
            </a:pPr>
            <a:r>
              <a:rPr lang="en-US" sz="3200" b="1" dirty="0">
                <a:solidFill>
                  <a:srgbClr val="1A1A1A"/>
                </a:solidFill>
                <a:latin typeface="Cambria" pitchFamily="34" charset="0"/>
                <a:ea typeface="Cambria" pitchFamily="34" charset="-122"/>
                <a:cs typeface="Cambria" pitchFamily="34" charset="-120"/>
              </a:rPr>
              <a:t>A prediction, then a test</a:t>
            </a:r>
            <a:endParaRPr lang="en-US" sz="3200" dirty="0"/>
          </a:p>
        </p:txBody>
      </p:sp>
      <p:pic>
        <p:nvPicPr>
          <p:cNvPr id="3" name="Image 0" descr="/home/user/NarrowAisleBot/docs/aps_report/figures/fig10_ground_load.png">    </p:cNvPr>
          <p:cNvPicPr>
            <a:picLocks noChangeAspect="1"/>
          </p:cNvPicPr>
          <p:nvPr/>
        </p:nvPicPr>
        <p:blipFill>
          <a:blip r:embed="rId1"/>
          <a:stretch>
            <a:fillRect/>
          </a:stretch>
        </p:blipFill>
        <p:spPr>
          <a:xfrm>
            <a:off x="502920" y="1261872"/>
            <a:ext cx="6903720" cy="2827164"/>
          </a:xfrm>
          <a:prstGeom prst="rect">
            <a:avLst/>
          </a:prstGeom>
        </p:spPr>
      </p:pic>
      <p:sp>
        <p:nvSpPr>
          <p:cNvPr id="4" name="Text 1"/>
          <p:cNvSpPr txBox="1"/>
          <p:nvPr/>
        </p:nvSpPr>
        <p:spPr>
          <a:xfrm>
            <a:off x="502920" y="4180476"/>
            <a:ext cx="6903720" cy="274320"/>
          </a:xfrm>
          <a:prstGeom prst="rect">
            <a:avLst/>
          </a:prstGeom>
          <a:noFill/>
          <a:ln/>
        </p:spPr>
        <p:txBody>
          <a:bodyPr wrap="square" lIns="0" tIns="0" rIns="0" bIns="0" rtlCol="0" anchor="ctr"/>
          <a:lstStyle/>
          <a:p>
            <a:pPr algn="l" indent="0" marL="0">
              <a:buNone/>
            </a:pPr>
            <a:r>
              <a:rPr lang="en-US" sz="1000" dirty="0">
                <a:solidFill>
                  <a:srgbClr val="5A5A5A"/>
                </a:solidFill>
                <a:latin typeface="Calibri" pitchFamily="34" charset="0"/>
                <a:ea typeface="Calibri" pitchFamily="34" charset="-122"/>
                <a:cs typeface="Calibri" pitchFamily="34" charset="-120"/>
              </a:rPr>
              <a:t>Steady-state PWM per rad/s, unloaded against loaded, computed from the raw logs.</a:t>
            </a:r>
            <a:endParaRPr lang="en-US" sz="1000" dirty="0"/>
          </a:p>
        </p:txBody>
      </p:sp>
      <p:sp>
        <p:nvSpPr>
          <p:cNvPr id="5" name="Text 2"/>
          <p:cNvSpPr txBox="1"/>
          <p:nvPr/>
        </p:nvSpPr>
        <p:spPr>
          <a:xfrm>
            <a:off x="7772400" y="130759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Written down beforehand</a:t>
            </a:r>
            <a:endParaRPr lang="en-US" sz="1500" dirty="0"/>
          </a:p>
        </p:txBody>
      </p:sp>
      <p:sp>
        <p:nvSpPr>
          <p:cNvPr id="6" name="Text 3"/>
          <p:cNvSpPr txBox="1"/>
          <p:nvPr/>
        </p:nvSpPr>
        <p:spPr>
          <a:xfrm>
            <a:off x="7772400" y="165506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Before any floor test existed, the calibration notes recorded that ground contact should raise feedforward demand by 10 to 30 percent. The number was committed in advance, not fitted afterwards.</a:t>
            </a:r>
            <a:endParaRPr lang="en-US" sz="1350" dirty="0"/>
          </a:p>
        </p:txBody>
      </p:sp>
      <p:sp>
        <p:nvSpPr>
          <p:cNvPr id="7" name="Text 4"/>
          <p:cNvSpPr txBox="1"/>
          <p:nvPr/>
        </p:nvSpPr>
        <p:spPr>
          <a:xfrm>
            <a:off x="7772400" y="354787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What the floor returned</a:t>
            </a:r>
            <a:endParaRPr lang="en-US" sz="1500" dirty="0"/>
          </a:p>
        </p:txBody>
      </p:sp>
      <p:sp>
        <p:nvSpPr>
          <p:cNvPr id="8" name="Text 5"/>
          <p:cNvSpPr txBox="1"/>
          <p:nvPr/>
        </p:nvSpPr>
        <p:spPr>
          <a:xfrm>
            <a:off x="7772400" y="389534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Mean increase 24 percent. Front-right 22.5, front-left 23.6, rear-right 30.3, rear-left 21.0. All four sit inside the predicted band.</a:t>
            </a:r>
            <a:endParaRPr lang="en-US" sz="1350" dirty="0"/>
          </a:p>
        </p:txBody>
      </p:sp>
      <p:sp>
        <p:nvSpPr>
          <p:cNvPr id="9" name="Text 6"/>
          <p:cNvSpPr txBox="1"/>
          <p:nvPr/>
        </p:nvSpPr>
        <p:spPr>
          <a:xfrm>
            <a:off x="11140135" y="6382512"/>
            <a:ext cx="548640" cy="256032"/>
          </a:xfrm>
          <a:prstGeom prst="rect">
            <a:avLst/>
          </a:prstGeom>
          <a:noFill/>
          <a:ln/>
        </p:spPr>
        <p:txBody>
          <a:bodyPr wrap="square" lIns="0" tIns="0" rIns="0" bIns="0"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731520"/>
          </a:xfrm>
          <a:prstGeom prst="rect">
            <a:avLst/>
          </a:prstGeom>
          <a:noFill/>
          <a:ln/>
        </p:spPr>
        <p:txBody>
          <a:bodyPr wrap="square" lIns="0" tIns="0" rIns="0" bIns="0" rtlCol="0" anchor="ctr"/>
          <a:lstStyle/>
          <a:p>
            <a:pPr algn="l" indent="0" marL="0">
              <a:buNone/>
            </a:pPr>
            <a:r>
              <a:rPr lang="en-US" sz="3200" b="1" dirty="0">
                <a:solidFill>
                  <a:srgbClr val="1A1A1A"/>
                </a:solidFill>
                <a:latin typeface="Cambria" pitchFamily="34" charset="0"/>
                <a:ea typeface="Cambria" pitchFamily="34" charset="-122"/>
                <a:cs typeface="Cambria" pitchFamily="34" charset="-120"/>
              </a:rPr>
              <a:t>The fault that defined the year</a:t>
            </a:r>
            <a:endParaRPr lang="en-US" sz="3200" dirty="0"/>
          </a:p>
        </p:txBody>
      </p:sp>
      <p:pic>
        <p:nvPicPr>
          <p:cNvPr id="3" name="Image 0" descr="/home/user/NarrowAisleBot/docs/aps_report/figures/fig06_encoder_cpr_fault.png">    </p:cNvPr>
          <p:cNvPicPr>
            <a:picLocks noChangeAspect="1"/>
          </p:cNvPicPr>
          <p:nvPr/>
        </p:nvPicPr>
        <p:blipFill>
          <a:blip r:embed="rId1"/>
          <a:stretch>
            <a:fillRect/>
          </a:stretch>
        </p:blipFill>
        <p:spPr>
          <a:xfrm>
            <a:off x="502920" y="1261872"/>
            <a:ext cx="6903720" cy="2836018"/>
          </a:xfrm>
          <a:prstGeom prst="rect">
            <a:avLst/>
          </a:prstGeom>
        </p:spPr>
      </p:pic>
      <p:sp>
        <p:nvSpPr>
          <p:cNvPr id="4" name="Text 1"/>
          <p:cNvSpPr txBox="1"/>
          <p:nvPr/>
        </p:nvSpPr>
        <p:spPr>
          <a:xfrm>
            <a:off x="502920" y="4189330"/>
            <a:ext cx="6903720" cy="274320"/>
          </a:xfrm>
          <a:prstGeom prst="rect">
            <a:avLst/>
          </a:prstGeom>
          <a:noFill/>
          <a:ln/>
        </p:spPr>
        <p:txBody>
          <a:bodyPr wrap="square" lIns="0" tIns="0" rIns="0" bIns="0" rtlCol="0" anchor="ctr"/>
          <a:lstStyle/>
          <a:p>
            <a:pPr algn="l" indent="0" marL="0">
              <a:buNone/>
            </a:pPr>
            <a:r>
              <a:rPr lang="en-US" sz="1000" dirty="0">
                <a:solidFill>
                  <a:srgbClr val="5A5A5A"/>
                </a:solidFill>
                <a:latin typeface="Calibri" pitchFamily="34" charset="0"/>
                <a:ea typeface="Calibri" pitchFamily="34" charset="-122"/>
                <a:cs typeface="Calibri" pitchFamily="34" charset="-120"/>
              </a:rPr>
              <a:t>The failure mechanism, and the bench cross-check that detected it.</a:t>
            </a:r>
            <a:endParaRPr lang="en-US" sz="1000" dirty="0"/>
          </a:p>
        </p:txBody>
      </p:sp>
      <p:sp>
        <p:nvSpPr>
          <p:cNvPr id="5" name="Text 2"/>
          <p:cNvSpPr txBox="1"/>
          <p:nvPr/>
        </p:nvSpPr>
        <p:spPr>
          <a:xfrm>
            <a:off x="7772400" y="130759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One constant, two encoders</a:t>
            </a:r>
            <a:endParaRPr lang="en-US" sz="1500" dirty="0"/>
          </a:p>
        </p:txBody>
      </p:sp>
      <p:sp>
        <p:nvSpPr>
          <p:cNvPr id="6" name="Text 3"/>
          <p:cNvSpPr txBox="1"/>
          <p:nvPr/>
        </p:nvSpPr>
        <p:spPr>
          <a:xfrm>
            <a:off x="7772400" y="165506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A single counts-per-revolution constant was applied to two different encoder types. The front wheels reported twice their true speed, so the controller obediently ran them at half the commanded velocity.</a:t>
            </a:r>
            <a:endParaRPr lang="en-US" sz="1350" dirty="0"/>
          </a:p>
        </p:txBody>
      </p:sp>
      <p:sp>
        <p:nvSpPr>
          <p:cNvPr id="7" name="Text 4"/>
          <p:cNvSpPr txBox="1"/>
          <p:nvPr/>
        </p:nvSpPr>
        <p:spPr>
          <a:xfrm>
            <a:off x="7772400" y="354787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Why it stayed hidden</a:t>
            </a:r>
            <a:endParaRPr lang="en-US" sz="1500" dirty="0"/>
          </a:p>
        </p:txBody>
      </p:sp>
      <p:sp>
        <p:nvSpPr>
          <p:cNvPr id="8" name="Text 5"/>
          <p:cNvSpPr txBox="1"/>
          <p:nvPr/>
        </p:nvSpPr>
        <p:spPr>
          <a:xfrm>
            <a:off x="7772400" y="389534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There was no error and no warning. Every tracking plot looked clean, because the loop was closing correctly on the wrong number. It surfaced only when front and rear were compared on one command.</a:t>
            </a:r>
            <a:endParaRPr lang="en-US" sz="1350" dirty="0"/>
          </a:p>
        </p:txBody>
      </p:sp>
      <p:sp>
        <p:nvSpPr>
          <p:cNvPr id="9" name="Text 6"/>
          <p:cNvSpPr txBox="1"/>
          <p:nvPr/>
        </p:nvSpPr>
        <p:spPr>
          <a:xfrm>
            <a:off x="11140135" y="6382512"/>
            <a:ext cx="548640" cy="256032"/>
          </a:xfrm>
          <a:prstGeom prst="rect">
            <a:avLst/>
          </a:prstGeom>
          <a:noFill/>
          <a:ln/>
        </p:spPr>
        <p:txBody>
          <a:bodyPr wrap="square" lIns="0" tIns="0" rIns="0" bIns="0"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731520"/>
          </a:xfrm>
          <a:prstGeom prst="rect">
            <a:avLst/>
          </a:prstGeom>
          <a:noFill/>
          <a:ln/>
        </p:spPr>
        <p:txBody>
          <a:bodyPr wrap="square" lIns="0" tIns="0" rIns="0" bIns="0" rtlCol="0" anchor="ctr"/>
          <a:lstStyle/>
          <a:p>
            <a:pPr algn="l" indent="0" marL="0">
              <a:buNone/>
            </a:pPr>
            <a:r>
              <a:rPr lang="en-US" sz="3200" b="1" dirty="0">
                <a:solidFill>
                  <a:srgbClr val="1A1A1A"/>
                </a:solidFill>
                <a:latin typeface="Cambria" pitchFamily="34" charset="0"/>
                <a:ea typeface="Cambria" pitchFamily="34" charset="-122"/>
                <a:cs typeface="Cambria" pitchFamily="34" charset="-120"/>
              </a:rPr>
              <a:t>Perception: what the robot cannot see</a:t>
            </a:r>
            <a:endParaRPr lang="en-US" sz="3200" dirty="0"/>
          </a:p>
        </p:txBody>
      </p:sp>
      <p:pic>
        <p:nvPicPr>
          <p:cNvPr id="3" name="Image 0" descr="/home/user/NarrowAisleBot/docs/aps_report/figures/fig12_self_occlusion.png">    </p:cNvPr>
          <p:cNvPicPr>
            <a:picLocks noChangeAspect="1"/>
          </p:cNvPicPr>
          <p:nvPr/>
        </p:nvPicPr>
        <p:blipFill>
          <a:blip r:embed="rId1"/>
          <a:stretch>
            <a:fillRect/>
          </a:stretch>
        </p:blipFill>
        <p:spPr>
          <a:xfrm>
            <a:off x="502920" y="1261872"/>
            <a:ext cx="6903720" cy="3627114"/>
          </a:xfrm>
          <a:prstGeom prst="rect">
            <a:avLst/>
          </a:prstGeom>
        </p:spPr>
      </p:pic>
      <p:sp>
        <p:nvSpPr>
          <p:cNvPr id="4" name="Text 1"/>
          <p:cNvSpPr txBox="1"/>
          <p:nvPr/>
        </p:nvSpPr>
        <p:spPr>
          <a:xfrm>
            <a:off x="502920" y="4980426"/>
            <a:ext cx="6903720" cy="274320"/>
          </a:xfrm>
          <a:prstGeom prst="rect">
            <a:avLst/>
          </a:prstGeom>
          <a:noFill/>
          <a:ln/>
        </p:spPr>
        <p:txBody>
          <a:bodyPr wrap="square" lIns="0" tIns="0" rIns="0" bIns="0" rtlCol="0" anchor="ctr"/>
          <a:lstStyle/>
          <a:p>
            <a:pPr algn="l" indent="0" marL="0">
              <a:buNone/>
            </a:pPr>
            <a:r>
              <a:rPr lang="en-US" sz="1000" dirty="0">
                <a:solidFill>
                  <a:srgbClr val="5A5A5A"/>
                </a:solidFill>
                <a:latin typeface="Calibri" pitchFamily="34" charset="0"/>
                <a:ea typeface="Calibri" pitchFamily="34" charset="-122"/>
                <a:cs typeface="Calibri" pitchFamily="34" charset="-120"/>
              </a:rPr>
              <a:t>The rear cone, re-measured in the corrected frame at five headings.</a:t>
            </a:r>
            <a:endParaRPr lang="en-US" sz="1000" dirty="0"/>
          </a:p>
        </p:txBody>
      </p:sp>
      <p:sp>
        <p:nvSpPr>
          <p:cNvPr id="5" name="Text 2"/>
          <p:cNvSpPr txBox="1"/>
          <p:nvPr/>
        </p:nvSpPr>
        <p:spPr>
          <a:xfrm>
            <a:off x="7772400" y="130759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The mast is in the way</a:t>
            </a:r>
            <a:endParaRPr lang="en-US" sz="1500" dirty="0"/>
          </a:p>
        </p:txBody>
      </p:sp>
      <p:sp>
        <p:nvSpPr>
          <p:cNvPr id="6" name="Text 3"/>
          <p:cNvSpPr txBox="1"/>
          <p:nvPr/>
        </p:nvSpPr>
        <p:spPr>
          <a:xfrm>
            <a:off x="7772400" y="165506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The rear mast blocks a 90 degree wedge of the scan. It was re-measured at five independent headings, and it does not move with the robot’s heading. It is structural, not incidental.</a:t>
            </a:r>
            <a:endParaRPr lang="en-US" sz="1350" dirty="0"/>
          </a:p>
        </p:txBody>
      </p:sp>
      <p:sp>
        <p:nvSpPr>
          <p:cNvPr id="7" name="Text 4"/>
          <p:cNvSpPr txBox="1"/>
          <p:nvPr/>
        </p:nvSpPr>
        <p:spPr>
          <a:xfrm>
            <a:off x="7772400" y="354787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A phantom welded to the base</a:t>
            </a:r>
            <a:endParaRPr lang="en-US" sz="1500" dirty="0"/>
          </a:p>
        </p:txBody>
      </p:sp>
      <p:sp>
        <p:nvSpPr>
          <p:cNvPr id="8" name="Text 5"/>
          <p:cNvSpPr txBox="1"/>
          <p:nvPr/>
        </p:nvSpPr>
        <p:spPr>
          <a:xfrm>
            <a:off x="7772400" y="389534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The blocked returns land beyond the sensor minimum range, so they read as a genuine hit on every sweep. 107 of 430 beams are now masked as invalid before the scan reaches SLAM.</a:t>
            </a:r>
            <a:endParaRPr lang="en-US" sz="1350" dirty="0"/>
          </a:p>
        </p:txBody>
      </p:sp>
      <p:sp>
        <p:nvSpPr>
          <p:cNvPr id="9" name="Text 6"/>
          <p:cNvSpPr txBox="1"/>
          <p:nvPr/>
        </p:nvSpPr>
        <p:spPr>
          <a:xfrm>
            <a:off x="11140135" y="6382512"/>
            <a:ext cx="548640" cy="256032"/>
          </a:xfrm>
          <a:prstGeom prst="rect">
            <a:avLst/>
          </a:prstGeom>
          <a:noFill/>
          <a:ln/>
        </p:spPr>
        <p:txBody>
          <a:bodyPr wrap="square" lIns="0" tIns="0" rIns="0" bIns="0"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731520"/>
          </a:xfrm>
          <a:prstGeom prst="rect">
            <a:avLst/>
          </a:prstGeom>
          <a:noFill/>
          <a:ln/>
        </p:spPr>
        <p:txBody>
          <a:bodyPr wrap="square" lIns="0" tIns="0" rIns="0" bIns="0" rtlCol="0" anchor="ctr"/>
          <a:lstStyle/>
          <a:p>
            <a:pPr algn="l" indent="0" marL="0">
              <a:buNone/>
            </a:pPr>
            <a:r>
              <a:rPr lang="en-US" sz="3200" b="1" dirty="0">
                <a:solidFill>
                  <a:srgbClr val="1A1A1A"/>
                </a:solidFill>
                <a:latin typeface="Cambria" pitchFamily="34" charset="0"/>
                <a:ea typeface="Cambria" pitchFamily="34" charset="-122"/>
                <a:cs typeface="Cambria" pitchFamily="34" charset="-120"/>
              </a:rPr>
              <a:t>The symptom: maps that would not close</a:t>
            </a:r>
            <a:endParaRPr lang="en-US" sz="3200" dirty="0"/>
          </a:p>
        </p:txBody>
      </p:sp>
      <p:pic>
        <p:nvPicPr>
          <p:cNvPr id="3" name="Image 0" descr="/home/user/NarrowAisleBot/docs/aps_report/figures/fig16_correction_traces.png">    </p:cNvPr>
          <p:cNvPicPr>
            <a:picLocks noChangeAspect="1"/>
          </p:cNvPicPr>
          <p:nvPr/>
        </p:nvPicPr>
        <p:blipFill>
          <a:blip r:embed="rId1"/>
          <a:stretch>
            <a:fillRect/>
          </a:stretch>
        </p:blipFill>
        <p:spPr>
          <a:xfrm>
            <a:off x="502920" y="1261872"/>
            <a:ext cx="6903720" cy="4069340"/>
          </a:xfrm>
          <a:prstGeom prst="rect">
            <a:avLst/>
          </a:prstGeom>
        </p:spPr>
      </p:pic>
      <p:sp>
        <p:nvSpPr>
          <p:cNvPr id="4" name="Text 1"/>
          <p:cNvSpPr txBox="1"/>
          <p:nvPr/>
        </p:nvSpPr>
        <p:spPr>
          <a:xfrm>
            <a:off x="502920" y="5422652"/>
            <a:ext cx="6903720" cy="274320"/>
          </a:xfrm>
          <a:prstGeom prst="rect">
            <a:avLst/>
          </a:prstGeom>
          <a:noFill/>
          <a:ln/>
        </p:spPr>
        <p:txBody>
          <a:bodyPr wrap="square" lIns="0" tIns="0" rIns="0" bIns="0" rtlCol="0" anchor="ctr"/>
          <a:lstStyle/>
          <a:p>
            <a:pPr algn="l" indent="0" marL="0">
              <a:buNone/>
            </a:pPr>
            <a:r>
              <a:rPr lang="en-US" sz="1000" dirty="0">
                <a:solidFill>
                  <a:srgbClr val="5A5A5A"/>
                </a:solidFill>
                <a:latin typeface="Calibri" pitchFamily="34" charset="0"/>
                <a:ea typeface="Calibri" pitchFamily="34" charset="-122"/>
                <a:cs typeface="Calibri" pitchFamily="34" charset="-120"/>
              </a:rPr>
              <a:t>Three drives, same robot, same deployed configuration, same week.</a:t>
            </a:r>
            <a:endParaRPr lang="en-US" sz="1000" dirty="0"/>
          </a:p>
        </p:txBody>
      </p:sp>
      <p:sp>
        <p:nvSpPr>
          <p:cNvPr id="5" name="Text 2"/>
          <p:cNvSpPr txBox="1"/>
          <p:nvPr/>
        </p:nvSpPr>
        <p:spPr>
          <a:xfrm>
            <a:off x="7772400" y="130759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Every map folded</a:t>
            </a:r>
            <a:endParaRPr lang="en-US" sz="1500" dirty="0"/>
          </a:p>
        </p:txBody>
      </p:sp>
      <p:sp>
        <p:nvSpPr>
          <p:cNvPr id="6" name="Text 3"/>
          <p:cNvSpPr txBox="1"/>
          <p:nvPr/>
        </p:nvSpPr>
        <p:spPr>
          <a:xfrm>
            <a:off x="7772400" y="165506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Return to the same physical mark came out at 0.577 m, 0.085 m and 0.209 m: a spread of 6.8 times on a task meant to repeat.</a:t>
            </a:r>
            <a:endParaRPr lang="en-US" sz="1350" dirty="0"/>
          </a:p>
        </p:txBody>
      </p:sp>
      <p:sp>
        <p:nvSpPr>
          <p:cNvPr id="7" name="Text 4"/>
          <p:cNvSpPr txBox="1"/>
          <p:nvPr/>
        </p:nvSpPr>
        <p:spPr>
          <a:xfrm>
            <a:off x="7772400" y="354787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The base was not at fault</a:t>
            </a:r>
            <a:endParaRPr lang="en-US" sz="1500" dirty="0"/>
          </a:p>
        </p:txBody>
      </p:sp>
      <p:sp>
        <p:nvSpPr>
          <p:cNvPr id="8" name="Text 5"/>
          <p:cNvSpPr txBox="1"/>
          <p:nvPr/>
        </p:nvSpPr>
        <p:spPr>
          <a:xfrm>
            <a:off x="7772400" y="389534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Wheel odometry closed under 3 cm on all three of those drives. Whatever folded the map was being added above the odometry, not inside it. That narrowed the search to one layer.</a:t>
            </a:r>
            <a:endParaRPr lang="en-US" sz="1350" dirty="0"/>
          </a:p>
        </p:txBody>
      </p:sp>
      <p:sp>
        <p:nvSpPr>
          <p:cNvPr id="9" name="Text 6"/>
          <p:cNvSpPr txBox="1"/>
          <p:nvPr/>
        </p:nvSpPr>
        <p:spPr>
          <a:xfrm>
            <a:off x="11140135" y="6382512"/>
            <a:ext cx="548640" cy="256032"/>
          </a:xfrm>
          <a:prstGeom prst="rect">
            <a:avLst/>
          </a:prstGeom>
          <a:noFill/>
          <a:ln/>
        </p:spPr>
        <p:txBody>
          <a:bodyPr wrap="square" lIns="0" tIns="0" rIns="0" bIns="0"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731520"/>
          </a:xfrm>
          <a:prstGeom prst="rect">
            <a:avLst/>
          </a:prstGeom>
          <a:noFill/>
          <a:ln/>
        </p:spPr>
        <p:txBody>
          <a:bodyPr wrap="square" lIns="0" tIns="0" rIns="0" bIns="0" rtlCol="0" anchor="ctr"/>
          <a:lstStyle/>
          <a:p>
            <a:pPr algn="l" indent="0" marL="0">
              <a:buNone/>
            </a:pPr>
            <a:r>
              <a:rPr lang="en-US" sz="3200" b="1" dirty="0">
                <a:solidFill>
                  <a:srgbClr val="1A1A1A"/>
                </a:solidFill>
                <a:latin typeface="Cambria" pitchFamily="34" charset="0"/>
                <a:ea typeface="Cambria" pitchFamily="34" charset="-122"/>
                <a:cs typeface="Cambria" pitchFamily="34" charset="-120"/>
              </a:rPr>
              <a:t>The result that decided the diagnosis</a:t>
            </a:r>
            <a:endParaRPr lang="en-US" sz="3200" dirty="0"/>
          </a:p>
        </p:txBody>
      </p:sp>
      <p:pic>
        <p:nvPicPr>
          <p:cNvPr id="3" name="Image 0" descr="/home/user/NarrowAisleBot/docs/aps_report/figures/fig18_invariance.png">    </p:cNvPr>
          <p:cNvPicPr>
            <a:picLocks noChangeAspect="1"/>
          </p:cNvPicPr>
          <p:nvPr/>
        </p:nvPicPr>
        <p:blipFill>
          <a:blip r:embed="rId1"/>
          <a:stretch>
            <a:fillRect/>
          </a:stretch>
        </p:blipFill>
        <p:spPr>
          <a:xfrm>
            <a:off x="502920" y="1261872"/>
            <a:ext cx="6903720" cy="3111745"/>
          </a:xfrm>
          <a:prstGeom prst="rect">
            <a:avLst/>
          </a:prstGeom>
        </p:spPr>
      </p:pic>
      <p:sp>
        <p:nvSpPr>
          <p:cNvPr id="4" name="Text 1"/>
          <p:cNvSpPr txBox="1"/>
          <p:nvPr/>
        </p:nvSpPr>
        <p:spPr>
          <a:xfrm>
            <a:off x="502920" y="4465057"/>
            <a:ext cx="6903720" cy="274320"/>
          </a:xfrm>
          <a:prstGeom prst="rect">
            <a:avLst/>
          </a:prstGeom>
          <a:noFill/>
          <a:ln/>
        </p:spPr>
        <p:txBody>
          <a:bodyPr wrap="square" lIns="0" tIns="0" rIns="0" bIns="0" rtlCol="0" anchor="ctr"/>
          <a:lstStyle/>
          <a:p>
            <a:pPr algn="l" indent="0" marL="0">
              <a:buNone/>
            </a:pPr>
            <a:r>
              <a:rPr lang="en-US" sz="1000" dirty="0">
                <a:solidFill>
                  <a:srgbClr val="5A5A5A"/>
                </a:solidFill>
                <a:latin typeface="Calibri" pitchFamily="34" charset="0"/>
                <a:ea typeface="Calibri" pitchFamily="34" charset="-122"/>
                <a:cs typeface="Calibri" pitchFamily="34" charset="-120"/>
              </a:rPr>
              <a:t>The same tight arc driven three times on three parameter sets.</a:t>
            </a:r>
            <a:endParaRPr lang="en-US" sz="1000" dirty="0"/>
          </a:p>
        </p:txBody>
      </p:sp>
      <p:sp>
        <p:nvSpPr>
          <p:cNvPr id="5" name="Text 2"/>
          <p:cNvSpPr txBox="1"/>
          <p:nvPr/>
        </p:nvSpPr>
        <p:spPr>
          <a:xfrm>
            <a:off x="7772400" y="130759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Three parameter sets</a:t>
            </a:r>
            <a:endParaRPr lang="en-US" sz="1500" dirty="0"/>
          </a:p>
        </p:txBody>
      </p:sp>
      <p:sp>
        <p:nvSpPr>
          <p:cNvPr id="6" name="Text 3"/>
          <p:cNvSpPr txBox="1"/>
          <p:nvPr/>
        </p:nvSpPr>
        <p:spPr>
          <a:xfrm>
            <a:off x="7772400" y="165506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Cumulative pose correction: 2.80 m, 2.85 m, 2.86 m. Every scan-matching lever available was pulled between them. The total moved by 2 percent.</a:t>
            </a:r>
            <a:endParaRPr lang="en-US" sz="1350" dirty="0"/>
          </a:p>
        </p:txBody>
      </p:sp>
      <p:sp>
        <p:nvSpPr>
          <p:cNvPr id="7" name="Text 4"/>
          <p:cNvSpPr txBox="1"/>
          <p:nvPr/>
        </p:nvSpPr>
        <p:spPr>
          <a:xfrm>
            <a:off x="7772400" y="354787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What invariance means</a:t>
            </a:r>
            <a:endParaRPr lang="en-US" sz="1500" dirty="0"/>
          </a:p>
        </p:txBody>
      </p:sp>
      <p:sp>
        <p:nvSpPr>
          <p:cNvPr id="8" name="Text 5"/>
          <p:cNvSpPr txBox="1"/>
          <p:nvPr/>
        </p:nvSpPr>
        <p:spPr>
          <a:xfrm>
            <a:off x="7772400" y="389534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Tuning moved where the error appeared, never how much of it there was. A quantity that will not move when every lever is pulled is not set by those levers. So the search moved upstream, to the sensor.</a:t>
            </a:r>
            <a:endParaRPr lang="en-US" sz="1350" dirty="0"/>
          </a:p>
        </p:txBody>
      </p:sp>
      <p:sp>
        <p:nvSpPr>
          <p:cNvPr id="9" name="Text 6"/>
          <p:cNvSpPr txBox="1"/>
          <p:nvPr/>
        </p:nvSpPr>
        <p:spPr>
          <a:xfrm>
            <a:off x="11140135" y="6382512"/>
            <a:ext cx="548640" cy="256032"/>
          </a:xfrm>
          <a:prstGeom prst="rect">
            <a:avLst/>
          </a:prstGeom>
          <a:noFill/>
          <a:ln/>
        </p:spPr>
        <p:txBody>
          <a:bodyPr wrap="square" lIns="0" tIns="0" rIns="0" bIns="0"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731520"/>
          </a:xfrm>
          <a:prstGeom prst="rect">
            <a:avLst/>
          </a:prstGeom>
          <a:noFill/>
          <a:ln/>
        </p:spPr>
        <p:txBody>
          <a:bodyPr wrap="square" lIns="0" tIns="0" rIns="0" bIns="0" rtlCol="0" anchor="ctr"/>
          <a:lstStyle/>
          <a:p>
            <a:pPr algn="l" indent="0" marL="0">
              <a:buNone/>
            </a:pPr>
            <a:r>
              <a:rPr lang="en-US" sz="3200" b="1" dirty="0">
                <a:solidFill>
                  <a:srgbClr val="1A1A1A"/>
                </a:solidFill>
                <a:latin typeface="Cambria" pitchFamily="34" charset="0"/>
                <a:ea typeface="Cambria" pitchFamily="34" charset="-122"/>
                <a:cs typeface="Cambria" pitchFamily="34" charset="-120"/>
              </a:rPr>
              <a:t>Measuring the input, not the algorithm</a:t>
            </a:r>
            <a:endParaRPr lang="en-US" sz="3200" dirty="0"/>
          </a:p>
        </p:txBody>
      </p:sp>
      <p:pic>
        <p:nvPicPr>
          <p:cNvPr id="3" name="Image 0" descr="/home/user/NarrowAisleBot/docs/aps_report/figures/fig14_lidar_placement.png">    </p:cNvPr>
          <p:cNvPicPr>
            <a:picLocks noChangeAspect="1"/>
          </p:cNvPicPr>
          <p:nvPr/>
        </p:nvPicPr>
        <p:blipFill>
          <a:blip r:embed="rId1"/>
          <a:stretch>
            <a:fillRect/>
          </a:stretch>
        </p:blipFill>
        <p:spPr>
          <a:xfrm>
            <a:off x="502920" y="1261872"/>
            <a:ext cx="6903720" cy="2886081"/>
          </a:xfrm>
          <a:prstGeom prst="rect">
            <a:avLst/>
          </a:prstGeom>
        </p:spPr>
      </p:pic>
      <p:sp>
        <p:nvSpPr>
          <p:cNvPr id="4" name="Text 1"/>
          <p:cNvSpPr txBox="1"/>
          <p:nvPr/>
        </p:nvSpPr>
        <p:spPr>
          <a:xfrm>
            <a:off x="502920" y="4239393"/>
            <a:ext cx="6903720" cy="274320"/>
          </a:xfrm>
          <a:prstGeom prst="rect">
            <a:avLst/>
          </a:prstGeom>
          <a:noFill/>
          <a:ln/>
        </p:spPr>
        <p:txBody>
          <a:bodyPr wrap="square" lIns="0" tIns="0" rIns="0" bIns="0" rtlCol="0" anchor="ctr"/>
          <a:lstStyle/>
          <a:p>
            <a:pPr algn="l" indent="0" marL="0">
              <a:buNone/>
            </a:pPr>
            <a:r>
              <a:rPr lang="en-US" sz="1000" dirty="0">
                <a:solidFill>
                  <a:srgbClr val="5A5A5A"/>
                </a:solidFill>
                <a:latin typeface="Calibri" pitchFamily="34" charset="0"/>
                <a:ea typeface="Calibri" pitchFamily="34" charset="-122"/>
                <a:cs typeface="Calibri" pitchFamily="34" charset="-120"/>
              </a:rPr>
              <a:t>Placement trials: three mount positions on one standardised metric.</a:t>
            </a:r>
            <a:endParaRPr lang="en-US" sz="1000" dirty="0"/>
          </a:p>
        </p:txBody>
      </p:sp>
      <p:sp>
        <p:nvSpPr>
          <p:cNvPr id="5" name="Text 2"/>
          <p:cNvSpPr txBox="1"/>
          <p:nvPr/>
        </p:nvSpPr>
        <p:spPr>
          <a:xfrm>
            <a:off x="7772400" y="130759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First look at the scan</a:t>
            </a:r>
            <a:endParaRPr lang="en-US" sz="1500" dirty="0"/>
          </a:p>
        </p:txBody>
      </p:sp>
      <p:sp>
        <p:nvSpPr>
          <p:cNvPr id="6" name="Text 3"/>
          <p:cNvSpPr txBox="1"/>
          <p:nvPr/>
        </p:nvSpPr>
        <p:spPr>
          <a:xfrm>
            <a:off x="7772400" y="165506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After a year of tuning the estimator, nobody had measured what it was being fed. With the robot stationary, 74.8 to 78 percent of rays flip between valid and invalid from one scan to the next.</a:t>
            </a:r>
            <a:endParaRPr lang="en-US" sz="1350" dirty="0"/>
          </a:p>
        </p:txBody>
      </p:sp>
      <p:sp>
        <p:nvSpPr>
          <p:cNvPr id="7" name="Text 4"/>
          <p:cNvSpPr txBox="1"/>
          <p:nvPr/>
        </p:nvSpPr>
        <p:spPr>
          <a:xfrm>
            <a:off x="7772400" y="354787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A different cloud each sweep</a:t>
            </a:r>
            <a:endParaRPr lang="en-US" sz="1500" dirty="0"/>
          </a:p>
        </p:txBody>
      </p:sp>
      <p:sp>
        <p:nvSpPr>
          <p:cNvPr id="8" name="Text 5"/>
          <p:cNvSpPr txBox="1"/>
          <p:nvPr/>
        </p:nvSpPr>
        <p:spPr>
          <a:xfrm>
            <a:off x="7772400" y="389534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Only 47.4 percent of beams are valid at any instant. The matcher is asked to align two clouds that do not share most of their points. The unit is a triangulation scanner meeting its own specification; the specification is not adequate here.</a:t>
            </a:r>
            <a:endParaRPr lang="en-US" sz="1350" dirty="0"/>
          </a:p>
        </p:txBody>
      </p:sp>
      <p:sp>
        <p:nvSpPr>
          <p:cNvPr id="9" name="Text 6"/>
          <p:cNvSpPr txBox="1"/>
          <p:nvPr/>
        </p:nvSpPr>
        <p:spPr>
          <a:xfrm>
            <a:off x="11140135" y="6382512"/>
            <a:ext cx="548640" cy="256032"/>
          </a:xfrm>
          <a:prstGeom prst="rect">
            <a:avLst/>
          </a:prstGeom>
          <a:noFill/>
          <a:ln/>
        </p:spPr>
        <p:txBody>
          <a:bodyPr wrap="square" lIns="0" tIns="0" rIns="0" bIns="0"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731520"/>
          </a:xfrm>
          <a:prstGeom prst="rect">
            <a:avLst/>
          </a:prstGeom>
          <a:noFill/>
          <a:ln/>
        </p:spPr>
        <p:txBody>
          <a:bodyPr wrap="square" lIns="0" tIns="0" rIns="0" bIns="0" rtlCol="0" anchor="ctr"/>
          <a:lstStyle/>
          <a:p>
            <a:pPr algn="l" indent="0" marL="0">
              <a:buNone/>
            </a:pPr>
            <a:r>
              <a:rPr lang="en-US" sz="3200" b="1" dirty="0">
                <a:solidFill>
                  <a:srgbClr val="1A1A1A"/>
                </a:solidFill>
                <a:latin typeface="Cambria" pitchFamily="34" charset="0"/>
                <a:ea typeface="Cambria" pitchFamily="34" charset="-122"/>
                <a:cs typeface="Cambria" pitchFamily="34" charset="-120"/>
              </a:rPr>
              <a:t>Choosing between two measured estimators</a:t>
            </a:r>
            <a:endParaRPr lang="en-US" sz="3200" dirty="0"/>
          </a:p>
        </p:txBody>
      </p:sp>
      <p:pic>
        <p:nvPicPr>
          <p:cNvPr id="3" name="Image 0" descr="/home/user/NarrowAisleBot/docs/aps_report/figures/fig19_stage_g.png">    </p:cNvPr>
          <p:cNvPicPr>
            <a:picLocks noChangeAspect="1"/>
          </p:cNvPicPr>
          <p:nvPr/>
        </p:nvPicPr>
        <p:blipFill>
          <a:blip r:embed="rId1"/>
          <a:stretch>
            <a:fillRect/>
          </a:stretch>
        </p:blipFill>
        <p:spPr>
          <a:xfrm>
            <a:off x="502920" y="1261872"/>
            <a:ext cx="6903720" cy="3606421"/>
          </a:xfrm>
          <a:prstGeom prst="rect">
            <a:avLst/>
          </a:prstGeom>
        </p:spPr>
      </p:pic>
      <p:sp>
        <p:nvSpPr>
          <p:cNvPr id="4" name="Text 1"/>
          <p:cNvSpPr txBox="1"/>
          <p:nvPr/>
        </p:nvSpPr>
        <p:spPr>
          <a:xfrm>
            <a:off x="502920" y="4959733"/>
            <a:ext cx="6903720" cy="274320"/>
          </a:xfrm>
          <a:prstGeom prst="rect">
            <a:avLst/>
          </a:prstGeom>
          <a:noFill/>
          <a:ln/>
        </p:spPr>
        <p:txBody>
          <a:bodyPr wrap="square" lIns="0" tIns="0" rIns="0" bIns="0" rtlCol="0" anchor="ctr"/>
          <a:lstStyle/>
          <a:p>
            <a:pPr algn="l" indent="0" marL="0">
              <a:buNone/>
            </a:pPr>
            <a:r>
              <a:rPr lang="en-US" sz="1000" dirty="0">
                <a:solidFill>
                  <a:srgbClr val="5A5A5A"/>
                </a:solidFill>
                <a:latin typeface="Calibri" pitchFamily="34" charset="0"/>
                <a:ea typeface="Calibri" pitchFamily="34" charset="-122"/>
                <a:cs typeface="Calibri" pitchFamily="34" charset="-120"/>
              </a:rPr>
              <a:t>The mechanism removed, and why disabling it is a selection rather than a workaround.</a:t>
            </a:r>
            <a:endParaRPr lang="en-US" sz="1000" dirty="0"/>
          </a:p>
        </p:txBody>
      </p:sp>
      <p:sp>
        <p:nvSpPr>
          <p:cNvPr id="5" name="Text 2"/>
          <p:cNvSpPr txBox="1"/>
          <p:nvPr/>
        </p:nvSpPr>
        <p:spPr>
          <a:xfrm>
            <a:off x="7772400" y="130759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Measured, then chosen</a:t>
            </a:r>
            <a:endParaRPr lang="en-US" sz="1500" dirty="0"/>
          </a:p>
        </p:txBody>
      </p:sp>
      <p:sp>
        <p:nvSpPr>
          <p:cNvPr id="6" name="Text 3"/>
          <p:cNvSpPr txBox="1"/>
          <p:nvPr/>
        </p:nvSpPr>
        <p:spPr>
          <a:xfrm>
            <a:off x="7772400" y="165506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Over one 21.85 m drive, wheel odometry alone closed the loop to 0.229 m; odometry corrected by SLAM closed to 0.706 m. The correction was making the estimate worse, so it was removed.</a:t>
            </a:r>
            <a:endParaRPr lang="en-US" sz="1350" dirty="0"/>
          </a:p>
        </p:txBody>
      </p:sp>
      <p:sp>
        <p:nvSpPr>
          <p:cNvPr id="7" name="Text 4"/>
          <p:cNvSpPr txBox="1"/>
          <p:nvPr/>
        </p:nvSpPr>
        <p:spPr>
          <a:xfrm>
            <a:off x="7772400" y="354787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What removal produced</a:t>
            </a:r>
            <a:endParaRPr lang="en-US" sz="1500" dirty="0"/>
          </a:p>
        </p:txBody>
      </p:sp>
      <p:sp>
        <p:nvSpPr>
          <p:cNvPr id="8" name="Text 5"/>
          <p:cNvSpPr txBox="1"/>
          <p:nvPr/>
        </p:nvSpPr>
        <p:spPr>
          <a:xfrm>
            <a:off x="7772400" y="389534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Zero corrections across 698 seconds and 18.5 m, on two different routes. Photogrammetry against the floor grout shows the reported heading drift is largely estimator error rather than wheel slip.</a:t>
            </a:r>
            <a:endParaRPr lang="en-US" sz="1350" dirty="0"/>
          </a:p>
        </p:txBody>
      </p:sp>
      <p:sp>
        <p:nvSpPr>
          <p:cNvPr id="9" name="Text 6"/>
          <p:cNvSpPr txBox="1"/>
          <p:nvPr/>
        </p:nvSpPr>
        <p:spPr>
          <a:xfrm>
            <a:off x="11140135" y="6382512"/>
            <a:ext cx="548640" cy="256032"/>
          </a:xfrm>
          <a:prstGeom prst="rect">
            <a:avLst/>
          </a:prstGeom>
          <a:noFill/>
          <a:ln/>
        </p:spPr>
        <p:txBody>
          <a:bodyPr wrap="square" lIns="0" tIns="0" rIns="0" bIns="0"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731520"/>
          </a:xfrm>
          <a:prstGeom prst="rect">
            <a:avLst/>
          </a:prstGeom>
          <a:noFill/>
          <a:ln/>
        </p:spPr>
        <p:txBody>
          <a:bodyPr wrap="square" lIns="0" tIns="0" rIns="0" bIns="0" rtlCol="0" anchor="ctr"/>
          <a:lstStyle/>
          <a:p>
            <a:pPr algn="l" indent="0" marL="0">
              <a:buNone/>
            </a:pPr>
            <a:r>
              <a:rPr lang="en-US" sz="3200" b="1" dirty="0">
                <a:solidFill>
                  <a:srgbClr val="1A1A1A"/>
                </a:solidFill>
                <a:latin typeface="Cambria" pitchFamily="34" charset="0"/>
                <a:ea typeface="Cambria" pitchFamily="34" charset="-122"/>
                <a:cs typeface="Cambria" pitchFamily="34" charset="-120"/>
              </a:rPr>
              <a:t>Autonomous navigation: where it stands</a:t>
            </a:r>
            <a:endParaRPr lang="en-US" sz="3200" dirty="0"/>
          </a:p>
        </p:txBody>
      </p:sp>
      <p:pic>
        <p:nvPicPr>
          <p:cNvPr id="3" name="Image 0" descr="/home/user/NarrowAisleBot/docs/aps_report/figures/fig21_autonomy_gates.png">    </p:cNvPr>
          <p:cNvPicPr>
            <a:picLocks noChangeAspect="1"/>
          </p:cNvPicPr>
          <p:nvPr/>
        </p:nvPicPr>
        <p:blipFill>
          <a:blip r:embed="rId1"/>
          <a:stretch>
            <a:fillRect/>
          </a:stretch>
        </p:blipFill>
        <p:spPr>
          <a:xfrm>
            <a:off x="502920" y="1261872"/>
            <a:ext cx="6903720" cy="2890413"/>
          </a:xfrm>
          <a:prstGeom prst="rect">
            <a:avLst/>
          </a:prstGeom>
        </p:spPr>
      </p:pic>
      <p:sp>
        <p:nvSpPr>
          <p:cNvPr id="4" name="Text 1"/>
          <p:cNvSpPr txBox="1"/>
          <p:nvPr/>
        </p:nvSpPr>
        <p:spPr>
          <a:xfrm>
            <a:off x="502920" y="4243725"/>
            <a:ext cx="6903720" cy="274320"/>
          </a:xfrm>
          <a:prstGeom prst="rect">
            <a:avLst/>
          </a:prstGeom>
          <a:noFill/>
          <a:ln/>
        </p:spPr>
        <p:txBody>
          <a:bodyPr wrap="square" lIns="0" tIns="0" rIns="0" bIns="0" rtlCol="0" anchor="ctr"/>
          <a:lstStyle/>
          <a:p>
            <a:pPr algn="l" indent="0" marL="0">
              <a:buNone/>
            </a:pPr>
            <a:r>
              <a:rPr lang="en-US" sz="1000" dirty="0">
                <a:solidFill>
                  <a:srgbClr val="5A5A5A"/>
                </a:solidFill>
                <a:latin typeface="Calibri" pitchFamily="34" charset="0"/>
                <a:ea typeface="Calibri" pitchFamily="34" charset="-122"/>
                <a:cs typeface="Calibri" pitchFamily="34" charset="-120"/>
              </a:rPr>
              <a:t>Seven acceptance gates, written before the work and scored against it.</a:t>
            </a:r>
            <a:endParaRPr lang="en-US" sz="1000" dirty="0"/>
          </a:p>
        </p:txBody>
      </p:sp>
      <p:sp>
        <p:nvSpPr>
          <p:cNvPr id="5" name="Text 2"/>
          <p:cNvSpPr txBox="1"/>
          <p:nvPr/>
        </p:nvSpPr>
        <p:spPr>
          <a:xfrm>
            <a:off x="7772400" y="130759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What has run</a:t>
            </a:r>
            <a:endParaRPr lang="en-US" sz="1500" dirty="0"/>
          </a:p>
        </p:txBody>
      </p:sp>
      <p:sp>
        <p:nvSpPr>
          <p:cNvPr id="6" name="Text 3"/>
          <p:cNvSpPr txBox="1"/>
          <p:nvPr/>
        </p:nvSpPr>
        <p:spPr>
          <a:xfrm>
            <a:off x="7772400" y="165506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The first autonomous forward-and-return round trip ran on 14 August. Operator-tapped goals inside a live mapping session were reached in 21 to 26 seconds, with the full Nav2 stack in the loop.</a:t>
            </a:r>
            <a:endParaRPr lang="en-US" sz="1350" dirty="0"/>
          </a:p>
        </p:txBody>
      </p:sp>
      <p:sp>
        <p:nvSpPr>
          <p:cNvPr id="7" name="Text 4"/>
          <p:cNvSpPr txBox="1"/>
          <p:nvPr/>
        </p:nvSpPr>
        <p:spPr>
          <a:xfrm>
            <a:off x="7772400" y="354787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What is still blocked</a:t>
            </a:r>
            <a:endParaRPr lang="en-US" sz="1500" dirty="0"/>
          </a:p>
        </p:txBody>
      </p:sp>
      <p:sp>
        <p:nvSpPr>
          <p:cNvPr id="8" name="Text 5"/>
          <p:cNvSpPr txBox="1"/>
          <p:nvPr/>
        </p:nvSpPr>
        <p:spPr>
          <a:xfrm>
            <a:off x="7772400" y="389534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DWB was replaced with MPPI on a source-level argument: its rotation-to-goal test compares translation against exact zero, so rotation-only goals fail by construction. Navigation on a saved map waits on a commissioning map that does not yet exist.</a:t>
            </a:r>
            <a:endParaRPr lang="en-US" sz="1350" dirty="0"/>
          </a:p>
        </p:txBody>
      </p:sp>
      <p:sp>
        <p:nvSpPr>
          <p:cNvPr id="9" name="Text 6"/>
          <p:cNvSpPr txBox="1"/>
          <p:nvPr/>
        </p:nvSpPr>
        <p:spPr>
          <a:xfrm>
            <a:off x="11140135" y="6382512"/>
            <a:ext cx="548640" cy="256032"/>
          </a:xfrm>
          <a:prstGeom prst="rect">
            <a:avLst/>
          </a:prstGeom>
          <a:noFill/>
          <a:ln/>
        </p:spPr>
        <p:txBody>
          <a:bodyPr wrap="square" lIns="0" tIns="0" rIns="0" bIns="0"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731520"/>
          </a:xfrm>
          <a:prstGeom prst="rect">
            <a:avLst/>
          </a:prstGeom>
          <a:noFill/>
          <a:ln/>
        </p:spPr>
        <p:txBody>
          <a:bodyPr wrap="square" lIns="0" tIns="0" rIns="0" bIns="0" rtlCol="0" anchor="ctr"/>
          <a:lstStyle/>
          <a:p>
            <a:pPr algn="l" indent="0" marL="0">
              <a:buNone/>
            </a:pPr>
            <a:r>
              <a:rPr lang="en-US" sz="3200" b="1" dirty="0">
                <a:solidFill>
                  <a:srgbClr val="1A1A1A"/>
                </a:solidFill>
                <a:latin typeface="Cambria" pitchFamily="34" charset="0"/>
                <a:ea typeface="Cambria" pitchFamily="34" charset="-122"/>
                <a:cs typeface="Cambria" pitchFamily="34" charset="-120"/>
              </a:rPr>
              <a:t>An honest audit of the stack</a:t>
            </a:r>
            <a:endParaRPr lang="en-US" sz="3200" dirty="0"/>
          </a:p>
        </p:txBody>
      </p:sp>
      <p:pic>
        <p:nvPicPr>
          <p:cNvPr id="3" name="Image 0" descr="/home/user/NarrowAisleBot/docs/aps_report/figures/fig22_layer_audit.png">    </p:cNvPr>
          <p:cNvPicPr>
            <a:picLocks noChangeAspect="1"/>
          </p:cNvPicPr>
          <p:nvPr/>
        </p:nvPicPr>
        <p:blipFill>
          <a:blip r:embed="rId1"/>
          <a:stretch>
            <a:fillRect/>
          </a:stretch>
        </p:blipFill>
        <p:spPr>
          <a:xfrm>
            <a:off x="502920" y="1261872"/>
            <a:ext cx="6903720" cy="3899263"/>
          </a:xfrm>
          <a:prstGeom prst="rect">
            <a:avLst/>
          </a:prstGeom>
        </p:spPr>
      </p:pic>
      <p:sp>
        <p:nvSpPr>
          <p:cNvPr id="4" name="Text 1"/>
          <p:cNvSpPr txBox="1"/>
          <p:nvPr/>
        </p:nvSpPr>
        <p:spPr>
          <a:xfrm>
            <a:off x="502920" y="5252575"/>
            <a:ext cx="6903720" cy="274320"/>
          </a:xfrm>
          <a:prstGeom prst="rect">
            <a:avLst/>
          </a:prstGeom>
          <a:noFill/>
          <a:ln/>
        </p:spPr>
        <p:txBody>
          <a:bodyPr wrap="square" lIns="0" tIns="0" rIns="0" bIns="0" rtlCol="0" anchor="ctr"/>
          <a:lstStyle/>
          <a:p>
            <a:pPr algn="l" indent="0" marL="0">
              <a:buNone/>
            </a:pPr>
            <a:r>
              <a:rPr lang="en-US" sz="1000" dirty="0">
                <a:solidFill>
                  <a:srgbClr val="5A5A5A"/>
                </a:solidFill>
                <a:latin typeface="Calibri" pitchFamily="34" charset="0"/>
                <a:ea typeface="Calibri" pitchFamily="34" charset="-122"/>
                <a:cs typeface="Calibri" pitchFamily="34" charset="-120"/>
              </a:rPr>
              <a:t>The layer-by-layer audit. The break is at exactly one component.</a:t>
            </a:r>
            <a:endParaRPr lang="en-US" sz="1000" dirty="0"/>
          </a:p>
        </p:txBody>
      </p:sp>
      <p:sp>
        <p:nvSpPr>
          <p:cNvPr id="5" name="Text 2"/>
          <p:cNvSpPr txBox="1"/>
          <p:nvPr/>
        </p:nvSpPr>
        <p:spPr>
          <a:xfrm>
            <a:off x="7772400" y="130759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Where the line falls</a:t>
            </a:r>
            <a:endParaRPr lang="en-US" sz="1500" dirty="0"/>
          </a:p>
        </p:txBody>
      </p:sp>
      <p:sp>
        <p:nvSpPr>
          <p:cNvPr id="6" name="Text 3"/>
          <p:cNvSpPr txBox="1"/>
          <p:nvPr/>
        </p:nvSpPr>
        <p:spPr>
          <a:xfrm>
            <a:off x="7772400" y="165506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Everything below the LiDAR is measured and reproducible. Everything from the LiDAR up is broken, starved of CPU, or has never been run. 82 defects were root-caused this year across eight categories.</a:t>
            </a:r>
            <a:endParaRPr lang="en-US" sz="1350" dirty="0"/>
          </a:p>
        </p:txBody>
      </p:sp>
      <p:sp>
        <p:nvSpPr>
          <p:cNvPr id="7" name="Text 4"/>
          <p:cNvSpPr txBox="1"/>
          <p:nvPr/>
        </p:nvSpPr>
        <p:spPr>
          <a:xfrm>
            <a:off x="7772400" y="354787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Rules that came out of it</a:t>
            </a:r>
            <a:endParaRPr lang="en-US" sz="1500" dirty="0"/>
          </a:p>
        </p:txBody>
      </p:sp>
      <p:sp>
        <p:nvSpPr>
          <p:cNvPr id="8" name="Text 5"/>
          <p:cNvSpPr txBox="1"/>
          <p:nvPr/>
        </p:nvSpPr>
        <p:spPr>
          <a:xfrm>
            <a:off x="7772400" y="389534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A value in the repository is not a value on the robot. Never fix an axis complaint in the display. Measure the input before tuning the estimator. Write the prediction down before running the test.</a:t>
            </a:r>
            <a:endParaRPr lang="en-US" sz="1350" dirty="0"/>
          </a:p>
        </p:txBody>
      </p:sp>
      <p:sp>
        <p:nvSpPr>
          <p:cNvPr id="9" name="Text 6"/>
          <p:cNvSpPr txBox="1"/>
          <p:nvPr/>
        </p:nvSpPr>
        <p:spPr>
          <a:xfrm>
            <a:off x="11140135" y="6382512"/>
            <a:ext cx="548640" cy="256032"/>
          </a:xfrm>
          <a:prstGeom prst="rect">
            <a:avLst/>
          </a:prstGeom>
          <a:noFill/>
          <a:ln/>
        </p:spPr>
        <p:txBody>
          <a:bodyPr wrap="square" lIns="0" tIns="0" rIns="0" bIns="0"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731520"/>
          </a:xfrm>
          <a:prstGeom prst="rect">
            <a:avLst/>
          </a:prstGeom>
          <a:noFill/>
          <a:ln/>
        </p:spPr>
        <p:txBody>
          <a:bodyPr wrap="square" lIns="0" tIns="0" rIns="0" bIns="0" rtlCol="0" anchor="ctr"/>
          <a:lstStyle/>
          <a:p>
            <a:pPr algn="l" indent="0" marL="0">
              <a:buNone/>
            </a:pPr>
            <a:r>
              <a:rPr lang="en-US" sz="3200" b="1" dirty="0">
                <a:solidFill>
                  <a:srgbClr val="1A1A1A"/>
                </a:solidFill>
                <a:latin typeface="Cambria" pitchFamily="34" charset="0"/>
                <a:ea typeface="Cambria" pitchFamily="34" charset="-122"/>
                <a:cs typeface="Cambria" pitchFamily="34" charset="-120"/>
              </a:rPr>
              <a:t>Parallel project: UVGI instrumentation</a:t>
            </a:r>
            <a:endParaRPr lang="en-US" sz="3200" dirty="0"/>
          </a:p>
        </p:txBody>
      </p:sp>
      <p:pic>
        <p:nvPicPr>
          <p:cNvPr id="3" name="Image 0" descr="/home/user/NarrowAisleBot/docs/aps_report/figures/fig26_iot_architecture.png">    </p:cNvPr>
          <p:cNvPicPr>
            <a:picLocks noChangeAspect="1"/>
          </p:cNvPicPr>
          <p:nvPr/>
        </p:nvPicPr>
        <p:blipFill>
          <a:blip r:embed="rId1"/>
          <a:stretch>
            <a:fillRect/>
          </a:stretch>
        </p:blipFill>
        <p:spPr>
          <a:xfrm>
            <a:off x="502920" y="1261872"/>
            <a:ext cx="6903720" cy="3328823"/>
          </a:xfrm>
          <a:prstGeom prst="rect">
            <a:avLst/>
          </a:prstGeom>
        </p:spPr>
      </p:pic>
      <p:sp>
        <p:nvSpPr>
          <p:cNvPr id="4" name="Text 1"/>
          <p:cNvSpPr txBox="1"/>
          <p:nvPr/>
        </p:nvSpPr>
        <p:spPr>
          <a:xfrm>
            <a:off x="502920" y="4682135"/>
            <a:ext cx="6903720" cy="274320"/>
          </a:xfrm>
          <a:prstGeom prst="rect">
            <a:avLst/>
          </a:prstGeom>
          <a:noFill/>
          <a:ln/>
        </p:spPr>
        <p:txBody>
          <a:bodyPr wrap="square" lIns="0" tIns="0" rIns="0" bIns="0" rtlCol="0" anchor="ctr"/>
          <a:lstStyle/>
          <a:p>
            <a:pPr algn="l" indent="0" marL="0">
              <a:buNone/>
            </a:pPr>
            <a:r>
              <a:rPr lang="en-US" sz="1000" dirty="0">
                <a:solidFill>
                  <a:srgbClr val="5A5A5A"/>
                </a:solidFill>
                <a:latin typeface="Calibri" pitchFamily="34" charset="0"/>
                <a:ea typeface="Calibri" pitchFamily="34" charset="-122"/>
                <a:cs typeface="Calibri" pitchFamily="34" charset="-120"/>
              </a:rPr>
              <a:t>Five sensors, three concurrent wireless channels, two independent control paths.</a:t>
            </a:r>
            <a:endParaRPr lang="en-US" sz="1000" dirty="0"/>
          </a:p>
        </p:txBody>
      </p:sp>
      <p:sp>
        <p:nvSpPr>
          <p:cNvPr id="5" name="Text 2"/>
          <p:cNvSpPr txBox="1"/>
          <p:nvPr/>
        </p:nvSpPr>
        <p:spPr>
          <a:xfrm>
            <a:off x="7772400" y="130759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What it does</a:t>
            </a:r>
            <a:endParaRPr lang="en-US" sz="1500" dirty="0"/>
          </a:p>
        </p:txBody>
      </p:sp>
      <p:sp>
        <p:nvSpPr>
          <p:cNvPr id="6" name="Text 3"/>
          <p:cNvSpPr txBox="1"/>
          <p:nvPr/>
        </p:nvSpPr>
        <p:spPr>
          <a:xfrm>
            <a:off x="7772400" y="165506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Instrumentation and control for a UV-C air-disinfection unit, under a departmental TIH-IoT activity. Five sensors, three concurrent wireless channels, two control paths, four zones, and no cloud dependency.</a:t>
            </a:r>
            <a:endParaRPr lang="en-US" sz="1350" dirty="0"/>
          </a:p>
        </p:txBody>
      </p:sp>
      <p:sp>
        <p:nvSpPr>
          <p:cNvPr id="7" name="Text 4"/>
          <p:cNvSpPr txBox="1"/>
          <p:nvPr/>
        </p:nvSpPr>
        <p:spPr>
          <a:xfrm>
            <a:off x="7772400" y="354787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Reported with its limits</a:t>
            </a:r>
            <a:endParaRPr lang="en-US" sz="1500" dirty="0"/>
          </a:p>
        </p:txBody>
      </p:sp>
      <p:sp>
        <p:nvSpPr>
          <p:cNvPr id="8" name="Text 5"/>
          <p:cNvSpPr txBox="1"/>
          <p:nvPr/>
        </p:nvSpPr>
        <p:spPr>
          <a:xfrm>
            <a:off x="7772400" y="389534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The UV channel is measured but sits in no control or alert path. The trigger signal has no causal relationship to pathogen load; the correction is a carbon-dioxide-derived occupancy proxy.</a:t>
            </a:r>
            <a:endParaRPr lang="en-US" sz="1350" dirty="0"/>
          </a:p>
        </p:txBody>
      </p:sp>
      <p:sp>
        <p:nvSpPr>
          <p:cNvPr id="9" name="Text 6"/>
          <p:cNvSpPr txBox="1"/>
          <p:nvPr/>
        </p:nvSpPr>
        <p:spPr>
          <a:xfrm>
            <a:off x="11140135" y="6382512"/>
            <a:ext cx="548640" cy="256032"/>
          </a:xfrm>
          <a:prstGeom prst="rect">
            <a:avLst/>
          </a:prstGeom>
          <a:noFill/>
          <a:ln/>
        </p:spPr>
        <p:txBody>
          <a:bodyPr wrap="square" lIns="0" tIns="0" rIns="0" bIns="0"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731520"/>
          </a:xfrm>
          <a:prstGeom prst="rect">
            <a:avLst/>
          </a:prstGeom>
          <a:noFill/>
          <a:ln/>
        </p:spPr>
        <p:txBody>
          <a:bodyPr wrap="square" lIns="0" tIns="0" rIns="0" bIns="0" rtlCol="0" anchor="ctr"/>
          <a:lstStyle/>
          <a:p>
            <a:pPr algn="l" indent="0" marL="0">
              <a:buNone/>
            </a:pPr>
            <a:r>
              <a:rPr lang="en-US" sz="3200" b="1" dirty="0">
                <a:solidFill>
                  <a:srgbClr val="1A1A1A"/>
                </a:solidFill>
                <a:latin typeface="Cambria" pitchFamily="34" charset="0"/>
                <a:ea typeface="Cambria" pitchFamily="34" charset="-122"/>
                <a:cs typeface="Cambria" pitchFamily="34" charset="-120"/>
              </a:rPr>
              <a:t>Research gaps, and the plan for years 2 to 4</a:t>
            </a:r>
            <a:endParaRPr lang="en-US" sz="3200" dirty="0"/>
          </a:p>
        </p:txBody>
      </p:sp>
      <p:pic>
        <p:nvPicPr>
          <p:cNvPr id="3" name="Image 0" descr="/home/user/NarrowAisleBot/docs/aps_report/figures/fig28_roadmap.png">    </p:cNvPr>
          <p:cNvPicPr>
            <a:picLocks noChangeAspect="1"/>
          </p:cNvPicPr>
          <p:nvPr/>
        </p:nvPicPr>
        <p:blipFill>
          <a:blip r:embed="rId1"/>
          <a:stretch>
            <a:fillRect/>
          </a:stretch>
        </p:blipFill>
        <p:spPr>
          <a:xfrm>
            <a:off x="502920" y="1261872"/>
            <a:ext cx="6903720" cy="3372394"/>
          </a:xfrm>
          <a:prstGeom prst="rect">
            <a:avLst/>
          </a:prstGeom>
        </p:spPr>
      </p:pic>
      <p:sp>
        <p:nvSpPr>
          <p:cNvPr id="4" name="Text 1"/>
          <p:cNvSpPr txBox="1"/>
          <p:nvPr/>
        </p:nvSpPr>
        <p:spPr>
          <a:xfrm>
            <a:off x="502920" y="4725706"/>
            <a:ext cx="6903720" cy="274320"/>
          </a:xfrm>
          <a:prstGeom prst="rect">
            <a:avLst/>
          </a:prstGeom>
          <a:noFill/>
          <a:ln/>
        </p:spPr>
        <p:txBody>
          <a:bodyPr wrap="square" lIns="0" tIns="0" rIns="0" bIns="0" rtlCol="0" anchor="ctr"/>
          <a:lstStyle/>
          <a:p>
            <a:pPr algn="l" indent="0" marL="0">
              <a:buNone/>
            </a:pPr>
            <a:r>
              <a:rPr lang="en-US" sz="1000" dirty="0">
                <a:solidFill>
                  <a:srgbClr val="5A5A5A"/>
                </a:solidFill>
                <a:latin typeface="Calibri" pitchFamily="34" charset="0"/>
                <a:ea typeface="Calibri" pitchFamily="34" charset="-122"/>
                <a:cs typeface="Calibri" pitchFamily="34" charset="-120"/>
              </a:rPr>
              <a:t>The five-phase roadmap and current standing.</a:t>
            </a:r>
            <a:endParaRPr lang="en-US" sz="1000" dirty="0"/>
          </a:p>
        </p:txBody>
      </p:sp>
      <p:sp>
        <p:nvSpPr>
          <p:cNvPr id="5" name="Text 2"/>
          <p:cNvSpPr txBox="1"/>
          <p:nvPr/>
        </p:nvSpPr>
        <p:spPr>
          <a:xfrm>
            <a:off x="7772400" y="130759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Two gaps worth the time</a:t>
            </a:r>
            <a:endParaRPr lang="en-US" sz="1500" dirty="0"/>
          </a:p>
        </p:txBody>
      </p:sp>
      <p:sp>
        <p:nvSpPr>
          <p:cNvPr id="6" name="Text 3"/>
          <p:cNvSpPr txBox="1"/>
          <p:nvPr/>
        </p:nvSpPr>
        <p:spPr>
          <a:xfrm>
            <a:off x="7772400" y="165506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The asymmetry has never been compared against a matched symmetric baseline, so its cost and benefit are both unquantified. And what sensing corridor-width localisation actually requires is now a measured question rather than an assumption.</a:t>
            </a:r>
            <a:endParaRPr lang="en-US" sz="1350" dirty="0"/>
          </a:p>
        </p:txBody>
      </p:sp>
      <p:sp>
        <p:nvSpPr>
          <p:cNvPr id="7" name="Text 4"/>
          <p:cNvSpPr txBox="1"/>
          <p:nvPr/>
        </p:nvSpPr>
        <p:spPr>
          <a:xfrm>
            <a:off x="7772400" y="3547872"/>
            <a:ext cx="3916375" cy="310896"/>
          </a:xfrm>
          <a:prstGeom prst="rect">
            <a:avLst/>
          </a:prstGeom>
          <a:noFill/>
          <a:ln/>
        </p:spPr>
        <p:txBody>
          <a:bodyPr wrap="square" lIns="0" tIns="0" rIns="0" bIns="0" rtlCol="0" anchor="t"/>
          <a:lstStyle/>
          <a:p>
            <a:pPr algn="l" indent="0" marL="0">
              <a:buNone/>
            </a:pPr>
            <a:r>
              <a:rPr lang="en-US" sz="1500" b="1" dirty="0">
                <a:solidFill>
                  <a:srgbClr val="1F4E79"/>
                </a:solidFill>
                <a:latin typeface="Calibri" pitchFamily="34" charset="0"/>
                <a:ea typeface="Calibri" pitchFamily="34" charset="-122"/>
                <a:cs typeface="Calibri" pitchFamily="34" charset="-120"/>
              </a:rPr>
              <a:t>The sequence from here</a:t>
            </a:r>
            <a:endParaRPr lang="en-US" sz="1500" dirty="0"/>
          </a:p>
        </p:txBody>
      </p:sp>
      <p:sp>
        <p:nvSpPr>
          <p:cNvPr id="8" name="Text 5"/>
          <p:cNvSpPr txBox="1"/>
          <p:nvPr/>
        </p:nvSpPr>
        <p:spPr>
          <a:xfrm>
            <a:off x="7772400" y="3895344"/>
            <a:ext cx="3916375" cy="1737360"/>
          </a:xfrm>
          <a:prstGeom prst="rect">
            <a:avLst/>
          </a:prstGeom>
          <a:noFill/>
          <a:ln/>
        </p:spPr>
        <p:txBody>
          <a:bodyPr wrap="square" lIns="0" tIns="0" rIns="0" bIns="0" rtlCol="0" anchor="t"/>
          <a:lstStyle/>
          <a:p>
            <a:pPr algn="l" indent="0" marL="0">
              <a:lnSpc>
                <a:spcPct val="115000"/>
              </a:lnSpc>
              <a:buNone/>
            </a:pPr>
            <a:r>
              <a:rPr lang="en-US" sz="1350" dirty="0">
                <a:solidFill>
                  <a:srgbClr val="1A1A1A"/>
                </a:solidFill>
                <a:latin typeface="Calibri" pitchFamily="34" charset="0"/>
                <a:ea typeface="Calibri" pitchFamily="34" charset="-122"/>
                <a:cs typeface="Calibri" pitchFamily="34" charset="-120"/>
              </a:rPr>
              <a:t>Year 2: inertial sensing, a commissioning map, localisation on a saved map, a sensor comparison. Year 3: the geometry comparison, per-wheel slip, control under cargo load. Year 4: dose-based UV-C control, whole-system evaluation, writing up.</a:t>
            </a:r>
            <a:endParaRPr lang="en-US" sz="1350" dirty="0"/>
          </a:p>
        </p:txBody>
      </p:sp>
      <p:sp>
        <p:nvSpPr>
          <p:cNvPr id="9" name="Text 6"/>
          <p:cNvSpPr txBox="1"/>
          <p:nvPr/>
        </p:nvSpPr>
        <p:spPr>
          <a:xfrm>
            <a:off x="11140135" y="6382512"/>
            <a:ext cx="548640" cy="256032"/>
          </a:xfrm>
          <a:prstGeom prst="rect">
            <a:avLst/>
          </a:prstGeom>
          <a:noFill/>
          <a:ln/>
        </p:spPr>
        <p:txBody>
          <a:bodyPr wrap="square" lIns="0" tIns="0" rIns="0" bIns="0" rtlCol="0" anchor="ctr"/>
          <a:lstStyle/>
          <a:p>
            <a:pPr algn="r" indent="0" marL="0">
              <a:buNone/>
            </a:pPr>
            <a:r>
              <a:rPr lang="en-US" sz="1000" dirty="0">
                <a:solidFill>
                  <a:srgbClr val="5A5A5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
            <a:ext cx="6766560" cy="1097280"/>
          </a:xfrm>
          <a:prstGeom prst="rect">
            <a:avLst/>
          </a:prstGeom>
          <a:noFill/>
          <a:ln/>
        </p:spPr>
        <p:txBody>
          <a:bodyPr wrap="square" lIns="0" tIns="0" rIns="0" bIns="0" rtlCol="0" anchor="ctr"/>
          <a:lstStyle/>
          <a:p>
            <a:pPr algn="l" indent="0" marL="0">
              <a:buNone/>
            </a:pPr>
            <a:r>
              <a:rPr lang="en-US" sz="5400" b="1" dirty="0">
                <a:solidFill>
                  <a:srgbClr val="1A1A1A"/>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502920" y="1783080"/>
            <a:ext cx="6766560" cy="457200"/>
          </a:xfrm>
          <a:prstGeom prst="rect">
            <a:avLst/>
          </a:prstGeom>
          <a:noFill/>
          <a:ln/>
        </p:spPr>
        <p:txBody>
          <a:bodyPr wrap="square" lIns="0" tIns="0" rIns="0" bIns="0" rtlCol="0" anchor="ctr"/>
          <a:lstStyle/>
          <a:p>
            <a:pPr algn="l" indent="0" marL="0">
              <a:buNone/>
            </a:pPr>
            <a:r>
              <a:rPr lang="en-US" sz="1900" dirty="0">
                <a:solidFill>
                  <a:srgbClr val="5A5A5A"/>
                </a:solidFill>
                <a:latin typeface="Calibri" pitchFamily="34" charset="0"/>
                <a:ea typeface="Calibri" pitchFamily="34" charset="-122"/>
                <a:cs typeface="Calibri" pitchFamily="34" charset="-120"/>
              </a:rPr>
              <a:t>Questions</a:t>
            </a:r>
            <a:endParaRPr lang="en-US" sz="1900" dirty="0"/>
          </a:p>
        </p:txBody>
      </p:sp>
      <p:sp>
        <p:nvSpPr>
          <p:cNvPr id="4" name="Text 2"/>
          <p:cNvSpPr txBox="1"/>
          <p:nvPr/>
        </p:nvSpPr>
        <p:spPr>
          <a:xfrm>
            <a:off x="502920" y="3063240"/>
            <a:ext cx="1920240" cy="292608"/>
          </a:xfrm>
          <a:prstGeom prst="rect">
            <a:avLst/>
          </a:prstGeom>
          <a:noFill/>
          <a:ln/>
        </p:spPr>
        <p:txBody>
          <a:bodyPr wrap="square" lIns="0" tIns="0" rIns="0" bIns="0" rtlCol="0" anchor="ctr"/>
          <a:lstStyle/>
          <a:p>
            <a:pPr algn="l" indent="0" marL="0">
              <a:buNone/>
            </a:pPr>
            <a:r>
              <a:rPr lang="en-US" sz="1200" b="1" dirty="0">
                <a:solidFill>
                  <a:srgbClr val="1F4E79"/>
                </a:solidFill>
                <a:latin typeface="Calibri" pitchFamily="34" charset="0"/>
                <a:ea typeface="Calibri" pitchFamily="34" charset="-122"/>
                <a:cs typeface="Calibri" pitchFamily="34" charset="-120"/>
              </a:rPr>
              <a:t>Supervisor</a:t>
            </a:r>
            <a:endParaRPr lang="en-US" sz="1200" dirty="0"/>
          </a:p>
        </p:txBody>
      </p:sp>
      <p:sp>
        <p:nvSpPr>
          <p:cNvPr id="5" name="Text 3"/>
          <p:cNvSpPr txBox="1"/>
          <p:nvPr/>
        </p:nvSpPr>
        <p:spPr>
          <a:xfrm>
            <a:off x="2514600" y="3063240"/>
            <a:ext cx="4206240" cy="292608"/>
          </a:xfrm>
          <a:prstGeom prst="rect">
            <a:avLst/>
          </a:prstGeom>
          <a:noFill/>
          <a:ln/>
        </p:spPr>
        <p:txBody>
          <a:bodyPr wrap="square" lIns="0" tIns="0" rIns="0" bIns="0" rtlCol="0" anchor="ctr"/>
          <a:lstStyle/>
          <a:p>
            <a:pPr algn="l" indent="0" marL="0">
              <a:buNone/>
            </a:pPr>
            <a:r>
              <a:rPr lang="en-US" sz="1400" dirty="0">
                <a:solidFill>
                  <a:srgbClr val="1A1A1A"/>
                </a:solidFill>
                <a:latin typeface="Calibri" pitchFamily="34" charset="0"/>
                <a:ea typeface="Calibri" pitchFamily="34" charset="-122"/>
                <a:cs typeface="Calibri" pitchFamily="34" charset="-120"/>
              </a:rPr>
              <a:t>Prof. Ambarish Kunwar</a:t>
            </a:r>
            <a:endParaRPr lang="en-US" sz="1400" dirty="0"/>
          </a:p>
        </p:txBody>
      </p:sp>
      <p:sp>
        <p:nvSpPr>
          <p:cNvPr id="6" name="Text 4"/>
          <p:cNvSpPr txBox="1"/>
          <p:nvPr/>
        </p:nvSpPr>
        <p:spPr>
          <a:xfrm>
            <a:off x="502920" y="3630168"/>
            <a:ext cx="1920240" cy="292608"/>
          </a:xfrm>
          <a:prstGeom prst="rect">
            <a:avLst/>
          </a:prstGeom>
          <a:noFill/>
          <a:ln/>
        </p:spPr>
        <p:txBody>
          <a:bodyPr wrap="square" lIns="0" tIns="0" rIns="0" bIns="0" rtlCol="0" anchor="ctr"/>
          <a:lstStyle/>
          <a:p>
            <a:pPr algn="l" indent="0" marL="0">
              <a:buNone/>
            </a:pPr>
            <a:r>
              <a:rPr lang="en-US" sz="1200" b="1" dirty="0">
                <a:solidFill>
                  <a:srgbClr val="1F4E79"/>
                </a:solidFill>
                <a:latin typeface="Calibri" pitchFamily="34" charset="0"/>
                <a:ea typeface="Calibri" pitchFamily="34" charset="-122"/>
                <a:cs typeface="Calibri" pitchFamily="34" charset="-120"/>
              </a:rPr>
              <a:t>Department</a:t>
            </a:r>
            <a:endParaRPr lang="en-US" sz="1200" dirty="0"/>
          </a:p>
        </p:txBody>
      </p:sp>
      <p:sp>
        <p:nvSpPr>
          <p:cNvPr id="7" name="Text 5"/>
          <p:cNvSpPr txBox="1"/>
          <p:nvPr/>
        </p:nvSpPr>
        <p:spPr>
          <a:xfrm>
            <a:off x="2514600" y="3630168"/>
            <a:ext cx="4206240" cy="292608"/>
          </a:xfrm>
          <a:prstGeom prst="rect">
            <a:avLst/>
          </a:prstGeom>
          <a:noFill/>
          <a:ln/>
        </p:spPr>
        <p:txBody>
          <a:bodyPr wrap="square" lIns="0" tIns="0" rIns="0" bIns="0" rtlCol="0" anchor="ctr"/>
          <a:lstStyle/>
          <a:p>
            <a:pPr algn="l" indent="0" marL="0">
              <a:buNone/>
            </a:pPr>
            <a:r>
              <a:rPr lang="en-US" sz="1400" dirty="0">
                <a:solidFill>
                  <a:srgbClr val="1A1A1A"/>
                </a:solidFill>
                <a:latin typeface="Calibri" pitchFamily="34" charset="0"/>
                <a:ea typeface="Calibri" pitchFamily="34" charset="-122"/>
                <a:cs typeface="Calibri" pitchFamily="34" charset="-120"/>
              </a:rPr>
              <a:t>Biosciences and Bioengineering, IIT Bombay</a:t>
            </a:r>
            <a:endParaRPr lang="en-US" sz="1400" dirty="0"/>
          </a:p>
        </p:txBody>
      </p:sp>
      <p:sp>
        <p:nvSpPr>
          <p:cNvPr id="8" name="Text 6"/>
          <p:cNvSpPr txBox="1"/>
          <p:nvPr/>
        </p:nvSpPr>
        <p:spPr>
          <a:xfrm>
            <a:off x="502920" y="4197096"/>
            <a:ext cx="1920240" cy="292608"/>
          </a:xfrm>
          <a:prstGeom prst="rect">
            <a:avLst/>
          </a:prstGeom>
          <a:noFill/>
          <a:ln/>
        </p:spPr>
        <p:txBody>
          <a:bodyPr wrap="square" lIns="0" tIns="0" rIns="0" bIns="0" rtlCol="0" anchor="ctr"/>
          <a:lstStyle/>
          <a:p>
            <a:pPr algn="l" indent="0" marL="0">
              <a:buNone/>
            </a:pPr>
            <a:r>
              <a:rPr lang="en-US" sz="1200" b="1" dirty="0">
                <a:solidFill>
                  <a:srgbClr val="1F4E79"/>
                </a:solidFill>
                <a:latin typeface="Calibri" pitchFamily="34" charset="0"/>
                <a:ea typeface="Calibri" pitchFamily="34" charset="-122"/>
                <a:cs typeface="Calibri" pitchFamily="34" charset="-120"/>
              </a:rPr>
              <a:t>Roll number</a:t>
            </a:r>
            <a:endParaRPr lang="en-US" sz="1200" dirty="0"/>
          </a:p>
        </p:txBody>
      </p:sp>
      <p:sp>
        <p:nvSpPr>
          <p:cNvPr id="9" name="Text 7"/>
          <p:cNvSpPr txBox="1"/>
          <p:nvPr/>
        </p:nvSpPr>
        <p:spPr>
          <a:xfrm>
            <a:off x="2514600" y="4197096"/>
            <a:ext cx="4206240" cy="292608"/>
          </a:xfrm>
          <a:prstGeom prst="rect">
            <a:avLst/>
          </a:prstGeom>
          <a:noFill/>
          <a:ln/>
        </p:spPr>
        <p:txBody>
          <a:bodyPr wrap="square" lIns="0" tIns="0" rIns="0" bIns="0" rtlCol="0" anchor="ctr"/>
          <a:lstStyle/>
          <a:p>
            <a:pPr algn="l" indent="0" marL="0">
              <a:buNone/>
            </a:pPr>
            <a:r>
              <a:rPr lang="en-US" sz="1400" dirty="0">
                <a:solidFill>
                  <a:srgbClr val="1A1A1A"/>
                </a:solidFill>
                <a:latin typeface="Calibri" pitchFamily="34" charset="0"/>
                <a:ea typeface="Calibri" pitchFamily="34" charset="-122"/>
                <a:cs typeface="Calibri" pitchFamily="34" charset="-120"/>
              </a:rPr>
              <a:t>25D0074</a:t>
            </a:r>
            <a:endParaRPr lang="en-US" sz="1400" dirty="0"/>
          </a:p>
        </p:txBody>
      </p:sp>
      <p:pic>
        <p:nvPicPr>
          <p:cNvPr id="10" name="Image 0" descr="/home/user/NarrowAisleBot/docs/aps_report/figures/fig25_gantt.png">    </p:cNvPr>
          <p:cNvPicPr>
            <a:picLocks noChangeAspect="1"/>
          </p:cNvPicPr>
          <p:nvPr/>
        </p:nvPicPr>
        <p:blipFill>
          <a:blip r:embed="rId1"/>
          <a:stretch>
            <a:fillRect/>
          </a:stretch>
        </p:blipFill>
        <p:spPr>
          <a:xfrm>
            <a:off x="7025335" y="2150221"/>
            <a:ext cx="4663440" cy="2557558"/>
          </a:xfrm>
          <a:prstGeom prst="rect">
            <a:avLst/>
          </a:prstGeom>
        </p:spPr>
      </p:pic>
      <p:sp>
        <p:nvSpPr>
          <p:cNvPr id="11" name="Text 8"/>
          <p:cNvSpPr txBox="1"/>
          <p:nvPr/>
        </p:nvSpPr>
        <p:spPr>
          <a:xfrm>
            <a:off x="7025335" y="4799219"/>
            <a:ext cx="4663440" cy="274320"/>
          </a:xfrm>
          <a:prstGeom prst="rect">
            <a:avLst/>
          </a:prstGeom>
          <a:noFill/>
          <a:ln/>
        </p:spPr>
        <p:txBody>
          <a:bodyPr wrap="square" lIns="0" tIns="0" rIns="0" bIns="0" rtlCol="0" anchor="ctr"/>
          <a:lstStyle/>
          <a:p>
            <a:pPr algn="l" indent="0" marL="0">
              <a:buNone/>
            </a:pPr>
            <a:r>
              <a:rPr lang="en-US" sz="1000" dirty="0">
                <a:solidFill>
                  <a:srgbClr val="5A5A5A"/>
                </a:solidFill>
                <a:latin typeface="Calibri" pitchFamily="34" charset="0"/>
                <a:ea typeface="Calibri" pitchFamily="34" charset="-122"/>
                <a:cs typeface="Calibri" pitchFamily="34" charset="-120"/>
              </a:rPr>
              <a:t>Both projects on one timeline, reconstructed from 146 commits.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Department of Biosciences and Bioengineering, IIT Bombay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NarrowAisleBot — Annual Progress Seminar, Year 1</dc:title>
  <dc:subject>PptxGenJS Presentation</dc:subject>
  <dc:creator>Aritra Das</dc:creator>
  <cp:lastModifiedBy>Aritra Das</cp:lastModifiedBy>
  <cp:revision>1</cp:revision>
  <dcterms:created xsi:type="dcterms:W3CDTF">2026-09-10T04:50:22Z</dcterms:created>
  <dcterms:modified xsi:type="dcterms:W3CDTF">2026-09-10T04:50:22Z</dcterms:modified>
</cp:coreProperties>
</file>