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strands in parallel: an autonomous mobile platform dimensioned for a narrow</a:t>
            </a:r>
          </a:p>
          <a:p>
            <a:r>
              <a:t>storage aisle, an instrumented environmental monitoring system for the space that</a:t>
            </a:r>
          </a:p>
          <a:p>
            <a:r>
              <a:t>platform traverses, and a proposed method for assessing the physical fatigue of the</a:t>
            </a:r>
          </a:p>
          <a:p>
            <a:r>
              <a:t>people who share that space without requiring them to wear an instrument.</a:t>
            </a:r>
          </a:p>
          <a:p/>
          <a:p>
            <a:r>
              <a:t>The photograph is the machine itself, on the laboratory floor, August 2026. Every</a:t>
            </a:r>
          </a:p>
          <a:p>
            <a:r>
              <a:t>image in this deck is either a photograph of this robot or a figure generated from</a:t>
            </a:r>
          </a:p>
          <a:p>
            <a:r>
              <a:t>this project's own logs.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are treated as strands of a single problem rather than as three projects, and</a:t>
            </a:r>
          </a:p>
          <a:p>
            <a:r>
              <a:t>not because they share a subject. They share instrumentation.</a:t>
            </a:r>
          </a:p>
          <a:p/>
          <a:p>
            <a:r>
              <a:t>The monitoring system established the practice of verifying a configuration against the</a:t>
            </a:r>
          </a:p>
          <a:p>
            <a:r>
              <a:t>running system rather than against a file, which was then applied to the platform. The</a:t>
            </a:r>
          </a:p>
          <a:p>
            <a:r>
              <a:t>platform work established that a control law must be observed responding to a change</a:t>
            </a:r>
          </a:p>
          <a:p>
            <a:r>
              <a:t>rather than inferred from a steady-state snapshot, which was then applied to the</a:t>
            </a:r>
          </a:p>
          <a:p>
            <a:r>
              <a:t>monitoring system.</a:t>
            </a:r>
          </a:p>
          <a:p/>
          <a:p>
            <a:r>
              <a:t>The three strands are at markedly different stages, and the report states each position</a:t>
            </a:r>
          </a:p>
          <a:p>
            <a:r>
              <a:t>as it stands. I will do the same here,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sub-lines out as the status of each objective, because the committee will ask</a:t>
            </a:r>
          </a:p>
          <a:p>
            <a:r>
              <a:t>and it is better to state it up front than to be drawn to it.</a:t>
            </a:r>
          </a:p>
          <a:p/>
          <a:p>
            <a:r>
              <a:t>The three strands are at markedly different stages, and this slide is the honest version</a:t>
            </a:r>
          </a:p>
          <a:p>
            <a:r>
              <a:t>of that: two objectives closed on measurement, one closing as characterised rather than</a:t>
            </a:r>
          </a:p>
          <a:p>
            <a:r>
              <a:t>optimal, one open for a reason that is not the platform's, and two on the supporting</a:t>
            </a:r>
          </a:p>
          <a:p>
            <a:r>
              <a:t>strands at opposite ends of their own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principal strand and it occupies most of the report. The open question</a:t>
            </a:r>
          </a:p>
          <a:p>
            <a:r>
              <a:t>identified in the introduction is one of scale, and it is specific: whether four geared</a:t>
            </a:r>
          </a:p>
          <a:p>
            <a:r>
              <a:t>motors will hold a commanded velocity to a useful tolerance, whether the pose estimate</a:t>
            </a:r>
          </a:p>
          <a:p>
            <a:r>
              <a:t>derived from them is adequate for navigation, and whether a perception stack can be built</a:t>
            </a:r>
          </a:p>
          <a:p>
            <a:r>
              <a:t>above the asymmetry without the geometry introducing an unanticipated failure.</a:t>
            </a:r>
          </a:p>
          <a:p/>
          <a:p>
            <a:r>
              <a:t>None of those can be resolved analytically. Each requires a built machine and an</a:t>
            </a:r>
          </a:p>
          <a:p>
            <a:r>
              <a:t>instrument directed at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Once a differential-drive platform is misaligned inside an aisle, recovering</a:t>
            </a:r>
          </a:p>
          <a:p>
            <a:r>
              <a:t>alignment requires either reversing out or a sequence of short forward and backward</a:t>
            </a:r>
          </a:p>
          <a:p>
            <a:r>
              <a:t>motions, both of which cost time and both of which risk contact with the racking.</a:t>
            </a:r>
          </a:p>
          <a:p/>
          <a:p>
            <a:r>
              <a:t>Mecanum kinematics alone do not solve the aisle problem, because a conventional four-wheel</a:t>
            </a:r>
          </a:p>
          <a:p>
            <a:r>
              <a:t>mecanum platform places its wheels at the four corners of a rectangle. The chassis must</a:t>
            </a:r>
          </a:p>
          <a:p>
            <a:r>
              <a:t>then be wide enough to carry that rectangle, and the width of the machine is set by the</a:t>
            </a:r>
          </a:p>
          <a:p>
            <a:r>
              <a:t>wheel layout rather than by the payload.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 The geometric premise for such a machine already exists. Mecanum drive is</a:t>
            </a:r>
          </a:p>
          <a:p>
            <a:r>
              <a:t>mature as a mechanism and the symmetric four-wheel configuration is standard. The</a:t>
            </a:r>
          </a:p>
          <a:p>
            <a:r>
              <a:t>asymmetric, non-collinear placement used here is far less common, and the prior work</a:t>
            </a:r>
          </a:p>
          <a:p>
            <a:r>
              <a:t>establishing its kinematics for narrow-aisle application is the laboratory study cited</a:t>
            </a:r>
          </a:p>
          <a:p>
            <a:r>
              <a:t>as reference 1.</a:t>
            </a:r>
          </a:p>
          <a:p/>
          <a:p>
            <a:r>
              <a:t>Say plainly: this slide is somebody else's result. Mine begins at full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 On a symmetric platform the four wheels sit at the corners of a rectangle,</a:t>
            </a:r>
          </a:p>
          <a:p>
            <a:r>
              <a:t>every wheel is the same longitudinal distance from the body centre, and one yaw</a:t>
            </a:r>
          </a:p>
          <a:p>
            <a:r>
              <a:t>coefficient serves all four. Move one diagonal pair inward and that is no longer true.</a:t>
            </a:r>
          </a:p>
          <a:p>
            <a:r>
              <a:t>The outer pair keeps a lever arm of the outer longitudinal distance plus the half track,</a:t>
            </a:r>
          </a:p>
          <a:p>
            <a:r>
              <a:t>the inner pair gets a shorter one, and the two differ here by 14 per cent.</a:t>
            </a:r>
          </a:p>
          <a:p/>
          <a:p>
            <a:r>
              <a:t>The translation terms are identical in both layouts, which is why forward and lateral</a:t>
            </a:r>
          </a:p>
          <a:p>
            <a:r>
              <a:t>motion feel the same on either machine.</a:t>
            </a:r>
          </a:p>
          <a:p/>
          <a:p>
            <a:r>
              <a:t>The risk: a wheel driven with the wrong lever arm produces a yaw rate wrong by that</a:t>
            </a:r>
          </a:p>
          <a:p>
            <a:r>
              <a:t>14 per cent, and nothing else in the transformation gives any sign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1.3. Work began from an assembled mechanical platform.</a:t>
            </a:r>
          </a:p>
          <a:p/>
          <a:p>
            <a:r>
              <a:t>The takeaway line is Figure 4, the commissioning step: a fault of that kind is trivial to</a:t>
            </a:r>
          </a:p>
          <a:p>
            <a:r>
              <a:t>correct once identified, and costly for as long as it is not. It is worth one sentence</a:t>
            </a:r>
          </a:p>
          <a:p>
            <a:r>
              <a:t>here because the same pattern recurs through the year: the faults that cost time were the</a:t>
            </a:r>
          </a:p>
          <a:p>
            <a:r>
              <a:t>ones that produced entirely normal-looking telemetry.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1.3, Figure 3. Point at the wheels: the offset is visible in the photograph, which</a:t>
            </a:r>
          </a:p>
          <a:p>
            <a:r>
              <a:t>is the easiest way to make the geometry concrete before the equations.</a:t>
            </a:r>
          </a:p>
          <a:p/>
          <a:p>
            <a:r>
              <a:t>Point at the mast: it is the reason for the 90-degree blind sector, and that is a general</a:t>
            </a:r>
          </a:p>
          <a:p>
            <a:r>
              <a:t>consequence of carrying a payload above a single-plane scanner rather than a mistake</a:t>
            </a:r>
          </a:p>
          <a:p>
            <a:r>
              <a:t>specific to this machine.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1.1. Do not read this table out. Let it sit while you say the three things that</a:t>
            </a:r>
          </a:p>
          <a:p>
            <a:r>
              <a:t>matter about it: it is measured rather than taken from data sheets; the two encoder types</a:t>
            </a:r>
          </a:p>
          <a:p>
            <a:r>
              <a:t>differ by a factor of two in resolution and in wiring convention, which caused a</a:t>
            </a:r>
          </a:p>
          <a:p>
            <a:r>
              <a:t>miswiring during commissioning; and the operating velocity limit is low on purpose,</a:t>
            </a:r>
          </a:p>
          <a:p>
            <a:r>
              <a:t>because the machine works in a corridor.</a:t>
            </a:r>
          </a:p>
          <a:p/>
          <a:p>
            <a:r>
              <a:t>The lidar row is the one exception to "measured", and the report says so. Section 1.12</a:t>
            </a:r>
          </a:p>
          <a:p>
            <a:r>
              <a:t>measures the installed unit's stationary scatter instead of extrapolating from the</a:t>
            </a:r>
          </a:p>
          <a:p>
            <a:r>
              <a:t>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1.4. The ESP32 removes the problem rather than optimising around it.</a:t>
            </a:r>
          </a:p>
          <a:p/>
          <a:p>
            <a:r>
              <a:t>Two further properties of the part were useful: substantially greater processing</a:t>
            </a:r>
          </a:p>
          <a:p>
            <a:r>
              <a:t>capability and memory than the part it replaced, and an integrated 2.4 GHz radio, which</a:t>
            </a:r>
          </a:p>
          <a:p>
            <a:r>
              <a:t>allowed the first phone-based control surface to be hosted on the controller itself</a:t>
            </a:r>
          </a:p>
          <a:p>
            <a:r>
              <a:t>before the host computer was introduced.</a:t>
            </a:r>
          </a:p>
          <a:p/>
          <a:p>
            <a:r>
              <a:t>The asymmetry in the level translation is deliberate, and the last line on the right is</a:t>
            </a:r>
          </a:p>
          <a:p>
            <a:r>
              <a:t>the reason: fewer components in the command path is worth having.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1.4, Figure 5. Do not walk through this figure block by block. Trace one path and</a:t>
            </a:r>
          </a:p>
          <a:p>
            <a:r>
              <a:t>stop: battery to the 24 V drive rail and the 5 V logic rail; the ESP32 command out to a</a:t>
            </a:r>
          </a:p>
          <a:p>
            <a:r>
              <a:t>driver; the encoder return back through the level shifter.</a:t>
            </a:r>
          </a:p>
          <a:p/>
          <a:p>
            <a:r>
              <a:t>The control constants shown against the microcontroller are the deployed ones, and they</a:t>
            </a:r>
          </a:p>
          <a:p>
            <a:r>
              <a:t>are the values derived in Section 1.6, which is the next part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1.5. Each wheel carries its own yaw coefficient, which is the practical</a:t>
            </a:r>
          </a:p>
          <a:p>
            <a:r>
              <a:t>consequence of the asymmetry.</a:t>
            </a:r>
          </a:p>
          <a:p/>
          <a:p>
            <a:r>
              <a:t>Inverting that system recovers the body twist from the four measured wheel velocities,</a:t>
            </a:r>
          </a:p>
          <a:p>
            <a:r>
              <a:t>and this inverse is what the odometry integrates.</a:t>
            </a:r>
          </a:p>
          <a:p/>
          <a:p>
            <a:r>
              <a:t>The two width figures differ by 15.4 mm. The report states which one every result is</a:t>
            </a:r>
          </a:p>
          <a:p>
            <a:r>
              <a:t>referenced to, because a collision footprint set from the wrong one would be wrong by</a:t>
            </a:r>
          </a:p>
          <a:p>
            <a:r>
              <a:t>that much in a corridor with centimetres of clearance.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1.5. The contribution of the asymmetry is stated narrowly here, because it is</a:t>
            </a:r>
          </a:p>
          <a:p>
            <a:r>
              <a:t>readily overstated.</a:t>
            </a:r>
          </a:p>
          <a:p/>
          <a:p>
            <a:r>
              <a:t>The two estimates are not statistically independent, since a disturbance common to both</a:t>
            </a:r>
          </a:p>
          <a:p>
            <a:r>
              <a:t>pairs enters both.</a:t>
            </a:r>
          </a:p>
          <a:p/>
          <a:p>
            <a:r>
              <a:t>Whether that one-per-cent sensitivity is useful for drivetrain diagnostics is a question</a:t>
            </a:r>
          </a:p>
          <a:p>
            <a:r>
              <a:t>for measurement rather than for algebra, and I report what the residual actually did</a:t>
            </a:r>
          </a:p>
          <a:p>
            <a:r>
              <a:t>across four drives later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Green marks the three blocks this version of the firmware added, orange the</a:t>
            </a:r>
          </a:p>
          <a:p>
            <a:r>
              <a:t>command path out to the wheel, purple the controller and the measurement path back from</a:t>
            </a:r>
          </a:p>
          <a:p>
            <a:r>
              <a:t>the encoder.</a:t>
            </a:r>
          </a:p>
          <a:p/>
          <a:p>
            <a:r>
              <a:t>The two notes at the left of the figure are details a block diagram cannot show and that</a:t>
            </a:r>
          </a:p>
          <a:p>
            <a:r>
              <a:t>change how the loop behaves.</a:t>
            </a:r>
          </a:p>
          <a:p/>
          <a:p>
            <a:r>
              <a:t>Say the distinction out loud, because everything that follows depends on it: the</a:t>
            </a:r>
          </a:p>
          <a:p>
            <a:r>
              <a:t>feedforward carries the bulk of the command, so the feedback terms are correcting a small</a:t>
            </a:r>
          </a:p>
          <a:p>
            <a:r>
              <a:t>residual rather than supplying drive from zero.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The feedforward came first, because it was the part that could be fitted to</a:t>
            </a:r>
          </a:p>
          <a:p>
            <a:r>
              <a:t>data rather than tuned by hand.</a:t>
            </a:r>
          </a:p>
          <a:p/>
          <a:p>
            <a:r>
              <a:t>The inadequacy of a single-slope model is evident in the raw data, before any fit is</a:t>
            </a:r>
          </a:p>
          <a:p>
            <a:r>
              <a:t>attempted. That is worth emphasising: the second term was not added to improve a fit, it</a:t>
            </a:r>
          </a:p>
          <a:p>
            <a:r>
              <a:t>was added because the raw ratio told you the model was the wrong shape.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This is the least satisfying part of the tuning and the report says so</a:t>
            </a:r>
          </a:p>
          <a:p>
            <a:r>
              <a:t>explicitly. Do not smooth it over in the talk; a committee will find it, and it is better</a:t>
            </a:r>
          </a:p>
          <a:p>
            <a:r>
              <a:t>delivered than discovered.</a:t>
            </a:r>
          </a:p>
          <a:p/>
          <a:p>
            <a:r>
              <a:t>The derivative gain is 0.5, small on purpose. Against a genuinely first-order plant a</a:t>
            </a:r>
          </a:p>
          <a:p>
            <a:r>
              <a:t>matched proportional-integral pair needs no derivative action at all, and everything this</a:t>
            </a:r>
          </a:p>
          <a:p>
            <a:r>
              <a:t>term does is damp lag the first-order model does not contain: driver delay, gearbox</a:t>
            </a:r>
          </a:p>
          <a:p>
            <a:r>
              <a:t>compliance, and the velocity filter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With breakaway friction now handled properly by the static feedforward term,</a:t>
            </a:r>
          </a:p>
          <a:p>
            <a:r>
              <a:t>the minimum-output threshold can sit at the level where the motor is genuinely silent.</a:t>
            </a:r>
          </a:p>
          <a:p/>
          <a:p>
            <a:r>
              <a:t>The last line matters for the next result but one: the 18 per cent margin is measured in</a:t>
            </a:r>
          </a:p>
          <a:p>
            <a:r>
              <a:t>air, and the ground measurement is the reason it has to be revisited.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1.10. The two conditions are reported separately because the figures differ by</a:t>
            </a:r>
          </a:p>
          <a:p>
            <a:r>
              <a:t>about half. The unloaded figure is reported because it separates the controller from the</a:t>
            </a:r>
          </a:p>
          <a:p>
            <a:r>
              <a:t>wheel-ground interaction, not because it is the number the robot works at.</a:t>
            </a:r>
          </a:p>
          <a:p/>
          <a:p>
            <a:r>
              <a:t>No channel saturated at any point and no feedback channel was lost, so these figures are</a:t>
            </a:r>
          </a:p>
          <a:p>
            <a:r>
              <a:t>controller performance rather than an artefact of the drive reaching its limit.</a:t>
            </a:r>
          </a:p>
          <a:p/>
          <a:p>
            <a:r>
              <a:t>Be precise about the 131 of 255: it bounds what the controller was asked for, not what</a:t>
            </a:r>
          </a:p>
          <a:p>
            <a:r>
              <a:t>the drivetrain could deliver.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1.10. The ground-load result is stated as a prediction and a test rather than as</a:t>
            </a:r>
          </a:p>
          <a:p>
            <a:r>
              <a:t>an observation, because the predicted band was written down before the run. That is a</a:t>
            </a:r>
          </a:p>
          <a:p>
            <a:r>
              <a:t>convention adopted after early errors, and it is stated in Section 1.9 alongside the other</a:t>
            </a:r>
          </a:p>
          <a:p>
            <a:r>
              <a:t>one: configuration is verified by querying the running system rather than by reading a</a:t>
            </a:r>
          </a:p>
          <a:p>
            <a:r>
              <a:t>configuration file.</a:t>
            </a:r>
          </a:p>
          <a:p/>
          <a:p>
            <a:r>
              <a:t>Casual driving covers different floor patches and headings, where a staircase test holds</a:t>
            </a:r>
          </a:p>
          <a:p>
            <a:r>
              <a:t>position and sweeps demand instead.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1.11. These say nothing about the physical wheel-ground model, which is what the</a:t>
            </a:r>
          </a:p>
          <a:p>
            <a:r>
              <a:t>floor measurements address next.</a:t>
            </a:r>
          </a:p>
          <a:p/>
          <a:p>
            <a:r>
              <a:t>Be careful with the yaw-residual claim. The episode threshold is the default of the</a:t>
            </a:r>
          </a:p>
          <a:p>
            <a:r>
              <a:t>analysis tool rather than a value derived from the drivetrain. The honest statement is the</a:t>
            </a:r>
          </a:p>
          <a:p>
            <a:r>
              <a:t>one on the slide: within the sensitivity of this measure, and at the roughly one-per-cent</a:t>
            </a:r>
          </a:p>
          <a:p>
            <a:r>
              <a:t>common-mode weighting derived earlier.</a:t>
            </a:r>
          </a:p>
          <a:p/>
          <a:p>
            <a:r>
              <a:t>The blindness to a rigid all-wheel slip mode matters, and it comes back in the</a:t>
            </a:r>
          </a:p>
          <a:p>
            <a:r>
              <a:t>photogrammetry result.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1.11. The precision of the reference bounds what the numbers mean, and the report</a:t>
            </a:r>
          </a:p>
          <a:p>
            <a:r>
              <a:t>says so before it quotes the best of them.</a:t>
            </a:r>
          </a:p>
          <a:p/>
          <a:p>
            <a:r>
              <a:t>Separating length from rotation calls for routes that vary the two independently, which is</a:t>
            </a:r>
          </a:p>
          <a:p>
            <a:r>
              <a:t>a direct use for the larger test space. That is one of several places the test-space</a:t>
            </a:r>
          </a:p>
          <a:p>
            <a:r>
              <a:t>constraint shows up, and they all resolve to the same cause later in the talk.</a:t>
            </a:r>
          </a:p>
          <a:p/>
          <a:p>
            <a:r>
              <a:t>Wheel odometry, which is the least expensive sensing on the platform, is currently its most</a:t>
            </a:r>
          </a:p>
          <a:p>
            <a:r>
              <a:t>extensively characterised source of state estimation.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1.12. The sector was measured at five independent headings rather than assumed</a:t>
            </a:r>
          </a:p>
          <a:p>
            <a:r>
              <a:t>from the geometry, and it is consistent across all five.</a:t>
            </a:r>
          </a:p>
          <a:p/>
          <a:p>
            <a:r>
              <a:t>Also from Section 1.12, if asked about the scanner itself: stationary ray scatter is 12 to</a:t>
            </a:r>
          </a:p>
          <a:p>
            <a:r>
              <a:t>14 mm below 1.5 m in both captures; 22.3 mm in the 1.5 to 2.0 m band in one capture and</a:t>
            </a:r>
          </a:p>
          <a:p>
            <a:r>
              <a:t>31.9 mm in a second taken from a differently obstructed parking spot, which fails the 25 mm</a:t>
            </a:r>
          </a:p>
          <a:p>
            <a:r>
              <a:t>half-cell criterion the occupancy resolution implies. Beyond 2.5 m both captures return</a:t>
            </a:r>
          </a:p>
          <a:p>
            <a:r>
              <a:t>55 to 200 mm and do not agree with each other. Neither a linear nor a quadratic degradation</a:t>
            </a:r>
          </a:p>
          <a:p>
            <a:r>
              <a:t>model reproduces that, so the behaviour is scene-dependent: a range cap derived in one</a:t>
            </a:r>
          </a:p>
          <a:p>
            <a:r>
              <a:t>position is a fact about that position until it reproduces elsewhere.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1.12. This is the most operationally consequential perception result obtained.</a:t>
            </a:r>
          </a:p>
          <a:p/>
          <a:p>
            <a:r>
              <a:t>The quantity plotted is an occupied-cell equivalent length: occupied-cell count multiplied</a:t>
            </a:r>
          </a:p>
          <a:p>
            <a:r>
              <a:t>by the 0.05 m cell size. It is a proxy for how much occupancy the map has committed to</a:t>
            </a:r>
          </a:p>
          <a:p>
            <a:r>
              <a:t>rather than a physical wall length, and a single wall rendered several cells thick</a:t>
            </a:r>
          </a:p>
          <a:p>
            <a:r>
              <a:t>contributes several times its own length, which is why the totals exceed the perimeter of</a:t>
            </a:r>
          </a:p>
          <a:p>
            <a:r>
              <a:t>the room. Say that if anyone asks why 77 m appears in a room that size.</a:t>
            </a:r>
          </a:p>
          <a:p/>
          <a:p>
            <a:r>
              <a:t>It is nonetheless the configuration the robot maps in, so the procedural consequence stands.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1.13. The four acceptance criteria were defined before the mapping work began.</a:t>
            </a:r>
          </a:p>
          <a:p>
            <a:r>
              <a:t>They are engineering thresholds set by this project, not values from the literature. The</a:t>
            </a:r>
          </a:p>
          <a:p>
            <a:r>
              <a:t>0.15 m return figure is the one with a physical basis, being the order of clearance the</a:t>
            </a:r>
          </a:p>
          <a:p>
            <a:r>
              <a:t>target aisle geometry allows.</a:t>
            </a:r>
          </a:p>
          <a:p/>
          <a:p>
            <a:r>
              <a:t>One qualification to state if asked, because the report volunteers it: the unclassified</a:t>
            </a:r>
          </a:p>
          <a:p>
            <a:r>
              <a:t>percentage is computed over every cell in the published occupancy grid, which is the</a:t>
            </a:r>
          </a:p>
          <a:p>
            <a:r>
              <a:t>bounding extent the mapper allocated rather than the traversable floor area. It therefore</a:t>
            </a:r>
          </a:p>
          <a:p>
            <a:r>
              <a:t>overstates the fraction of reachable space left unobserved. It is used because it is the</a:t>
            </a:r>
          </a:p>
          <a:p>
            <a:r>
              <a:t>criterion written down in advance and the same definition applies to every run compared.</a:t>
            </a:r>
          </a:p>
          <a:p>
            <a:r>
              <a:t>A coverage criterion over a fixed region of interest would be the better measure and is owed.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1.13. Scan matching is the mechanism by which lidar precision is meant to reach the</a:t>
            </a:r>
          </a:p>
          <a:p>
            <a:r>
              <a:t>pose estimate. Here it increased pose error instead of reducing it.</a:t>
            </a:r>
          </a:p>
          <a:p/>
          <a:p>
            <a:r>
              <a:t>The third row carries its own control: the same 3.193 m of driving, the same wheels and the</a:t>
            </a:r>
          </a:p>
          <a:p>
            <a:r>
              <a:t>same scans, with the robot physically returned to its mark. The matching-on drive's own</a:t>
            </a:r>
          </a:p>
          <a:p>
            <a:r>
              <a:t>wheel odometry closed at 16.2 mm, which is healthy, and the matched estimate on that same</a:t>
            </a:r>
          </a:p>
          <a:p>
            <a:r>
              <a:t>data closed at 206.7 mm.</a:t>
            </a:r>
          </a:p>
          <a:p/>
          <a:p>
            <a:r>
              <a:t>The corrections tracking the creation of pose-graph nodes rather than scan disagreement also</a:t>
            </a:r>
          </a:p>
          <a:p>
            <a:r>
              <a:t>explains the zero loop closures on a route that returns to its own start: a closure would</a:t>
            </a:r>
          </a:p>
          <a:p>
            <a:r>
              <a:t>arrive off-cadence, and none did.</a:t>
            </a:r>
          </a:p>
          <a:p/>
          <a:p>
            <a:r>
              <a:t>Bound the finding, because it is easy to overstate. This scanner, this front-end</a:t>
            </a:r>
          </a:p>
          <a:p>
            <a:r>
              <a:t>configuration, three routes of which two are tight circuits, which are poor geometry for a</a:t>
            </a:r>
          </a:p>
          <a:p>
            <a:r>
              <a:t>matcher. A one-variable comparison on the 12.04 m perimeter route against an existing</a:t>
            </a:r>
          </a:p>
          <a:p>
            <a:r>
              <a:t>matching-off baseline is still owed.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1.13. This is the result that sets the next stage of the work, so give it time.</a:t>
            </a:r>
          </a:p>
          <a:p/>
          <a:p>
            <a:r>
              <a:t>The yaw-consistency residual rules out significant differential slip between wheels, and</a:t>
            </a:r>
          </a:p>
          <a:p>
            <a:r>
              <a:t>the offline re-integration rules out an integration fault. That is what narrows it to two.</a:t>
            </a:r>
          </a:p>
          <a:p/>
          <a:p>
            <a:r>
              <a:t>No instrument currently fitted to the robot can distinguish any of them. That is the</a:t>
            </a:r>
          </a:p>
          <a:p>
            <a:r>
              <a:t>specific reason an independent heading reference is the next measurement rather than a</a:t>
            </a:r>
          </a:p>
          <a:p>
            <a:r>
              <a:t>general improvement.</a:t>
            </a:r>
          </a:p>
          <a:p/>
          <a:p>
            <a:r>
              <a:t>The 3.85 and 4.49 degrees are several times the instrument's demonstrated agreement, not</a:t>
            </a:r>
          </a:p>
          <a:p>
            <a:r>
              <a:t>comparable to it. That is what makes them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1.14. Establishing a success rate, a stopping-error distribution and behaviour</a:t>
            </a:r>
          </a:p>
          <a:p>
            <a:r>
              <a:t>against obstacles requires a larger trial count in a space that permits varied routes,</a:t>
            </a:r>
          </a:p>
          <a:p>
            <a:r>
              <a:t>which places this alongside the mapping work behind the same test-space constraint.</a:t>
            </a:r>
          </a:p>
          <a:p/>
          <a:p>
            <a:r>
              <a:t>If asked about the local controller: a dynamic-window controller was adopted first, on the</a:t>
            </a:r>
          </a:p>
          <a:p>
            <a:r>
              <a:t>reasoning that it is computationally lighter, and replaced with a sampling-based predictive</a:t>
            </a:r>
          </a:p>
          <a:p>
            <a:r>
              <a:t>controller after the deployed configuration was found to stall on rotation-only goals. Its</a:t>
            </a:r>
          </a:p>
          <a:p>
            <a:r>
              <a:t>rotate-to-goal critic invalidates candidates carrying translational motion in the final</a:t>
            </a:r>
          </a:p>
          <a:p>
            <a:r>
              <a:t>phase, and because that configuration sampled velocities on a full cross-product grid, only</a:t>
            </a:r>
          </a:p>
          <a:p>
            <a:r>
              <a:t>a small fraction of candidates survived. That is a property of the configuration rather</a:t>
            </a:r>
          </a:p>
          <a:p>
            <a:r>
              <a:t>than of the approach: the goal tolerance, velocity sample set and simulation horizon were</a:t>
            </a:r>
          </a:p>
          <a:p>
            <a:r>
              <a:t>none of them varied before the controller was replaced.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1.15. This is the first question the estimator results invite, which is why it gets</a:t>
            </a:r>
          </a:p>
          <a:p>
            <a:r>
              <a:t>its own slide rather than a defensive footnote.</a:t>
            </a:r>
          </a:p>
          <a:p/>
          <a:p>
            <a:r>
              <a:t>Which instrument binds the error at the 5 m operating scale is not something this year's</a:t>
            </a:r>
          </a:p>
          <a:p>
            <a:r>
              <a:t>data settles, and the report does not claim it does. Endpoint closure was not measured at</a:t>
            </a:r>
          </a:p>
          <a:p>
            <a:r>
              <a:t>5 m: the routes driven were either short and straight, closing to roughly 0.1 per cent, or</a:t>
            </a:r>
          </a:p>
          <a:p>
            <a:r>
              <a:t>long and rotation-heavy, closing at 1.1 to 1.5 per cent, and applying either rate to an</a:t>
            </a:r>
          </a:p>
          <a:p>
            <a:r>
              <a:t>intermediate distance is extrapolation rather than measurement.</a:t>
            </a:r>
          </a:p>
          <a:p/>
          <a:p>
            <a:r>
              <a:t>The scanner is characterised on its own terms instead, and what that establishes is that it</a:t>
            </a:r>
          </a:p>
          <a:p>
            <a:r>
              <a:t>is unreliable at the ranges a corridor-width map depends on, not that it is the larger of</a:t>
            </a:r>
          </a:p>
          <a:p>
            <a:r>
              <a:t>two quantified error terms. Both estimators have limitations at the intended scale, and</a:t>
            </a:r>
          </a:p>
          <a:p>
            <a:r>
              <a:t>separating their contributions needs the third measurement an inertial sensor would provide.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1.16. The layers below the map are measured and working: the motors track, the</a:t>
            </a:r>
          </a:p>
          <a:p>
            <a:r>
              <a:t>encoders are clean, the kinematic and odometry implementations are numerically consistent</a:t>
            </a:r>
          </a:p>
          <a:p>
            <a:r>
              <a:t>to machine precision across the cases tested, the frame composition reproduces to four</a:t>
            </a:r>
          </a:p>
          <a:p>
            <a:r>
              <a:t>decimal places, the planner plans, the local controller reaches goals, and the operator</a:t>
            </a:r>
          </a:p>
          <a:p>
            <a:r>
              <a:t>interface is geometrically correct.</a:t>
            </a:r>
          </a:p>
          <a:p/>
          <a:p>
            <a:r>
              <a:t>For the five layers that are not yet established, the entry states the specific reason</a:t>
            </a:r>
          </a:p>
          <a:p>
            <a:r>
              <a:t>rather than recording a failure. In three of those five the reason is the size of the</a:t>
            </a:r>
          </a:p>
          <a:p>
            <a:r>
              <a:t>available test area rather than anything on the platform.</a:t>
            </a:r>
          </a:p>
          <a:p/>
          <a:p>
            <a:r>
              <a:t>Three further components work correctly but run below their requested update rates because</a:t>
            </a:r>
          </a:p>
          <a:p>
            <a:r>
              <a:t>of the processing available on the host computer. That is a property of the computer rather</a:t>
            </a:r>
          </a:p>
          <a:p>
            <a:r>
              <a:t>than of the software, and a faster host raises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1.16. Walk these five rows and notice that three of them carry the same reason.</a:t>
            </a:r>
          </a:p>
          <a:p/>
          <a:p>
            <a:r>
              <a:t>Scan matching is the one entry switched off by choice rather than by constraint, on the</a:t>
            </a:r>
          </a:p>
          <a:p>
            <a:r>
              <a:t>measurement reported a few slides ago. Inertial measurement is deferred by decision, for the</a:t>
            </a:r>
          </a:p>
          <a:p>
            <a:r>
              <a:t>reason on the previous slide. The other three - a commissioning map meeting all four criteria,</a:t>
            </a:r>
          </a:p>
          <a:p>
            <a:r>
              <a:t>localisation against a saved map, and the named-location library - are one cause wearing three</a:t>
            </a:r>
          </a:p>
          <a:p>
            <a:r>
              <a:t>faces, and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1.16. The fifteen-to-twenty-metre figure is proposed on the grounds that it is</a:t>
            </a:r>
          </a:p>
          <a:p>
            <a:r>
              <a:t>several times the few metres currently available, not derived from a measured</a:t>
            </a:r>
          </a:p>
          <a:p>
            <a:r>
              <a:t>coverage-accumulation rate. Establishing that rate, and with it the path length a</a:t>
            </a:r>
          </a:p>
          <a:p>
            <a:r>
              <a:t>50 per cent coverage criterion demands, is itself one of the first measurements the new</a:t>
            </a:r>
          </a:p>
          <a:p>
            <a:r>
              <a:t>space would support. Say that; do not let the number sound harder than it is.</a:t>
            </a:r>
          </a:p>
          <a:p/>
          <a:p>
            <a:r>
              <a:t>Securing such a space is the principal practical prerequisite for the next stage of the</a:t>
            </a:r>
          </a:p>
          <a:p>
            <a:r>
              <a:t>work, and it is the reason the localisation mode that depends on a saved map has not yet</a:t>
            </a:r>
          </a:p>
          <a:p>
            <a:r>
              <a:t>been exercised.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1.17. Those shortfalls resolve to two constraints, and only one of them is about</a:t>
            </a:r>
          </a:p>
          <a:p>
            <a:r>
              <a:t>the robot. A test area of the size available is an environmental limit and the binding one.</a:t>
            </a:r>
          </a:p>
          <a:p>
            <a:r>
              <a:t>The absence of an inertial sensor is the other, and it is a decision rather than an</a:t>
            </a:r>
          </a:p>
          <a:p>
            <a:r>
              <a:t>omission: working without one is what made the unfused behaviour of the wheel estimate</a:t>
            </a:r>
          </a:p>
          <a:p>
            <a:r>
              <a:t>visible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strand concerns the environment inside the warehouse rather than motion through</a:t>
            </a:r>
          </a:p>
          <a:p>
            <a:r>
              <a:t>it. It was developed over the same period as the platform, not after it.</a:t>
            </a:r>
          </a:p>
          <a:p/>
          <a:p>
            <a:r>
              <a:t>Two considerations motivated it. Environmental variables relevant to storage conditions and</a:t>
            </a:r>
          </a:p>
          <a:p>
            <a:r>
              <a:t>worker exposure are measurable but are not necessarily incorporated into the control of</a:t>
            </a:r>
          </a:p>
          <a:p>
            <a:r>
              <a:t>air-treatment systems. And timer-based operation of treatment equipment provides no feedback</a:t>
            </a:r>
          </a:p>
          <a:p>
            <a:r>
              <a:t>from the condition of the air being treated.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2.1 and 2.2. The engineering difficulty is rarely the individual sensor. It lies in</a:t>
            </a:r>
          </a:p>
          <a:p>
            <a:r>
              <a:t>integration, in calibration, in keeping a deployed system reporting reliably without</a:t>
            </a:r>
          </a:p>
          <a:p>
            <a:r>
              <a:t>attention, and in ensuring that the quantity driving a control decision is the quantity</a:t>
            </a:r>
          </a:p>
          <a:p>
            <a:r>
              <a:t>intended. That last clause comes back twice in this chapter.</a:t>
            </a:r>
          </a:p>
          <a:p/>
          <a:p>
            <a:r>
              <a:t>Note the qualifier on the takeaway if asked: the system has so far been deployed in one</a:t>
            </a:r>
          </a:p>
          <a:p>
            <a:r>
              <a:t>application, and transferability is a design expectation rather than a demonstrated result.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2.3. Air is drawn through an aluminium duct by a fan set into its end face, passes a</a:t>
            </a:r>
          </a:p>
          <a:p>
            <a:r>
              <a:t>germicidal lamp, and leaves at the other end. The sensing and control enclosure is mounted on</a:t>
            </a:r>
          </a:p>
          <a:p>
            <a:r>
              <a:t>top of the duct near one end, so the electronics sit outside the treated path and the only</a:t>
            </a:r>
          </a:p>
          <a:p>
            <a:r>
              <a:t>things inside it are the lamp and the airflow.</a:t>
            </a:r>
          </a:p>
          <a:p/>
          <a:p>
            <a:r>
              <a:t>The enclosure was designed rather than bought. Acrylic, each face a separate panel held by</a:t>
            </a:r>
          </a:p>
          <a:p>
            <a:r>
              <a:t>3D-printed corner standoffs and slotted machine screws, so any one face can come off without</a:t>
            </a:r>
          </a:p>
          <a:p>
            <a:r>
              <a:t>disturbing the others. The helical long-range antenna passes through the top panel; the</a:t>
            </a:r>
          </a:p>
          <a:p>
            <a:r>
              <a:t>cellular whip mounts externally through a bulkhead connector.</a:t>
            </a:r>
          </a:p>
          <a:p/>
          <a:p>
            <a:r>
              <a:t>One correction worth recording, because earlier project documents have it wrong: the</a:t>
            </a:r>
          </a:p>
          <a:p>
            <a:r>
              <a:t>enclosure is not a cube. The photographs show a box visibly wider than it is deep.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2.3. The two actuators are driven differently and for different reasons. The lamp</a:t>
            </a:r>
          </a:p>
          <a:p>
            <a:r>
              <a:t>runs from mains and is switched through an opto-isolated relay, so there is no electrical</a:t>
            </a:r>
          </a:p>
          <a:p>
            <a:r>
              <a:t>path between the mains side and the logic.</a:t>
            </a:r>
          </a:p>
          <a:p/>
          <a:p>
            <a:r>
              <a:t>Non-selective metal-oxide gas sensors respond to a mixture of reducing gases rather than to</a:t>
            </a:r>
          </a:p>
          <a:p>
            <a:r>
              <a:t>any one species, which is why the index they produce is treated in this work as a relative</a:t>
            </a:r>
          </a:p>
          <a:p>
            <a:r>
              <a:t>signal rather than a concentration.</a:t>
            </a:r>
          </a:p>
          <a:p/>
          <a:p>
            <a:r>
              <a:t>One measurement channel did not do what the system design assumes, and the report records it</a:t>
            </a:r>
          </a:p>
          <a:p>
            <a:r>
              <a:t>rather than leaving it for a reader to discover: ultraviolet irradiance was reported in</a:t>
            </a:r>
          </a:p>
          <a:p>
            <a:r>
              <a:t>milliwatts per square centimetre while the responsivity coefficient was still set to one. The</a:t>
            </a:r>
          </a:p>
          <a:p>
            <a:r>
              <a:t>quantity reported was a voltage carrying the label of a concentration. It reached the display</a:t>
            </a:r>
          </a:p>
          <a:p>
            <a:r>
              <a:t>and both telemetry payloads but appeared in no control path and no alert path, which means the</a:t>
            </a:r>
          </a:p>
          <a:p>
            <a:r>
              <a:t>loop described in some project documents as taking two inputs in fact took 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2.4. The figure is drawn so each channel can be followed separately, because they are</a:t>
            </a:r>
          </a:p>
          <a:p>
            <a:r>
              <a:t>not interchangeable: the three arrive at three different places.</a:t>
            </a:r>
          </a:p>
          <a:p/>
          <a:p>
            <a:r>
              <a:t>The cellular channel is also the only one bidirectional at the human end. The node accepts the</a:t>
            </a:r>
          </a:p>
          <a:p>
            <a:r>
              <a:t>same command vocabulary on every channel, including short messages from a handset, so an</a:t>
            </a:r>
          </a:p>
          <a:p>
            <a:r>
              <a:t>operator with no network access can still ask a node for a snapshot or switch its lamp.</a:t>
            </a:r>
          </a:p>
          <a:p/>
          <a:p>
            <a:r>
              <a:t>Commands from the dashboard travel one of two ways, selected at runtime by a variable read from</a:t>
            </a:r>
          </a:p>
          <a:p>
            <a:r>
              <a:t>the browser address rather than by a firmware change: through the flow engine and the broker</a:t>
            </a:r>
          </a:p>
          <a:p>
            <a:r>
              <a:t>when the node is inside Wi-Fi coverage, or through the control service and out by radio when it</a:t>
            </a:r>
          </a:p>
          <a:p>
            <a:r>
              <a:t>is not. That is what lets a zone move in and out of coverage without anything being reflashed.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2.4. These three were responses to observed failures rather than anticipatory choices,</a:t>
            </a:r>
          </a:p>
          <a:p>
            <a:r>
              <a:t>and it is worth saying so: each one is a fault that was diagnosed and designed out, not a</a:t>
            </a:r>
          </a:p>
          <a:p>
            <a:r>
              <a:t>precaution taken in advance.</a:t>
            </a:r>
          </a:p>
          <a:p/>
          <a:p>
            <a:r>
              <a:t>The security and frequency statements are in the report for the same reason. A bench deployment</a:t>
            </a:r>
          </a:p>
          <a:p>
            <a:r>
              <a:t>on an isolated network does not need message authentication, and the report says exactly that</a:t>
            </a:r>
          </a:p>
          <a:p>
            <a:r>
              <a:t>rather than implying the system has a security posture it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2.5. The figure happens to catch the system 40 ppm above the carbon dioxide threshold,</a:t>
            </a:r>
          </a:p>
          <a:p>
            <a:r>
              <a:t>which is well inside that flapping range.</a:t>
            </a:r>
          </a:p>
          <a:p/>
          <a:p>
            <a:r>
              <a:t>The dashboard is also where the most interesting defect lived. An operator command to switch the</a:t>
            </a:r>
          </a:p>
          <a:p>
            <a:r>
              <a:t>lamp or the fan off actuated correctly and then did not clear automatic mode, so the closed loop</a:t>
            </a:r>
          </a:p>
          <a:p>
            <a:r>
              <a:t>reverted it on its next pass. The on-commands did clear it. The off command is the one an operator</a:t>
            </a:r>
          </a:p>
          <a:p>
            <a:r>
              <a:t>issues to halt automatic actuation, and it is the one that did not persist, which makes it a safety</a:t>
            </a:r>
          </a:p>
          <a:p>
            <a:r>
              <a:t>defect rather than an inconvenience. It has since been fixed, and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2.6. Be careful with the distinction the report is careful with: this is an engineering</a:t>
            </a:r>
          </a:p>
          <a:p>
            <a:r>
              <a:t>result rather than a measured one. A complete system was taken from nothing to a deployment</a:t>
            </a:r>
          </a:p>
          <a:p>
            <a:r>
              <a:t>running unattended, which is real, and it is a different kind of claim from the four measured</a:t>
            </a:r>
          </a:p>
          <a:p>
            <a:r>
              <a:t>results on the robot.</a:t>
            </a:r>
          </a:p>
          <a:p/>
          <a:p>
            <a:r>
              <a:t>The responsivity coefficient that converts photodiode voltage to irradiance is a property of the</a:t>
            </a:r>
          </a:p>
          <a:p>
            <a:r>
              <a:t>installed part and cannot be recovered from firmware, which is why that calibration needs a</a:t>
            </a:r>
          </a:p>
          <a:p>
            <a:r>
              <a:t>radiometer rather than a code change.</a:t>
            </a:r>
          </a:p>
          <a:p/>
          <a:p>
            <a:r>
              <a:t>Beyond those two, the direction is sensor integration, which this architecture was built to</a:t>
            </a:r>
          </a:p>
          <a:p>
            <a:r>
              <a:t>accommodate: a channel is added by configuration, not by rebuilding the node. Zones are templated,</a:t>
            </a:r>
          </a:p>
          <a:p>
            <a:r>
              <a:t>the database takes one schema regardless of transport, retargeting a gateway is three constants and</a:t>
            </a:r>
          </a:p>
          <a:p>
            <a:r>
              <a:t>retargeting its service is four values in a configuration file.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is brief because the work it describes has not yet been carried out. It is carried</a:t>
            </a:r>
          </a:p>
          <a:p>
            <a:r>
              <a:t>in the report because the argument is already specific enough to state, to criticise and to test,</a:t>
            </a:r>
          </a:p>
          <a:p>
            <a:r>
              <a:t>and because the first year of a doctorate is the right time to establish whether a direction is</a:t>
            </a:r>
          </a:p>
          <a:p>
            <a:r>
              <a:t>worth pursuing at all.</a:t>
            </a:r>
          </a:p>
          <a:p/>
          <a:p>
            <a:r>
              <a:t>Do not oversell this strand. The committee will respect a clearly bounded proposal and will not</a:t>
            </a:r>
          </a:p>
          <a:p>
            <a:r>
              <a:t>respect a proposal dressed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3.1 and 3.2. The three reasons in the figure are not equivalent, and the distinction is</a:t>
            </a:r>
          </a:p>
          <a:p>
            <a:r>
              <a:t>the whole argument for the strand.</a:t>
            </a:r>
          </a:p>
          <a:p/>
          <a:p>
            <a:r>
              <a:t>The objections to instrumenting the worker instead of the space are practical rather than</a:t>
            </a:r>
          </a:p>
          <a:p>
            <a:r>
              <a:t>evidential, and the report gives them as design reasoning rather than as findings: a sensor worn</a:t>
            </a:r>
          </a:p>
          <a:p>
            <a:r>
              <a:t>against the skin for an eight-hour shift in these conditions is uncomfortable, electrode contact</a:t>
            </a:r>
          </a:p>
          <a:p>
            <a:r>
              <a:t>and signal quality degrade with perspiration, compliance depends on the worker choosing to wear it,</a:t>
            </a:r>
          </a:p>
          <a:p>
            <a:r>
              <a:t>and a facility employing hundreds of people acquires a daily charging and maintenance burden. None</a:t>
            </a:r>
          </a:p>
          <a:p>
            <a:r>
              <a:t>of these is fatal alone. Together they are why this strand asks whether the measurement can be made</a:t>
            </a:r>
          </a:p>
          <a:p>
            <a:r>
              <a:t>without contact at all.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3.1 and 3.2. The gap is not a shortage of capable sensors. It is that they have not been</a:t>
            </a:r>
          </a:p>
          <a:p>
            <a:r>
              <a:t>fused for this purpose. Existing multi-modal fatigue work is overwhelmingly contact-based or aimed</a:t>
            </a:r>
          </a:p>
          <a:p>
            <a:r>
              <a:t>at seated drivers, and the contactless studies are single-modality and laboratory-bound.</a:t>
            </a:r>
          </a:p>
          <a:p/>
          <a:p>
            <a:r>
              <a:t>The second gap is regulatory rather than technical. India's data protection legislation of 2023 has</a:t>
            </a:r>
          </a:p>
          <a:p>
            <a:r>
              <a:t>created real uncertainty about workplace monitoring, and an architecture that extracts a derived</a:t>
            </a:r>
          </a:p>
          <a:p>
            <a:r>
              <a:t>score on the device and never transmits raw video is a different legal object from one that streams</a:t>
            </a:r>
          </a:p>
          <a:p>
            <a:r>
              <a:t>a camera feed to a server. That distinction is designed in here rather than argued for afterwards.</a:t>
            </a:r>
          </a:p>
          <a:p/>
          <a:p>
            <a:r>
              <a:t>Reported accuracies for the individual contactless modalities, if asked: camera pose estimation at</a:t>
            </a:r>
          </a:p>
          <a:p>
            <a:r>
              <a:t>0.02 s on temporal gait parameters and 4.0, 5.6 and 7.4 degrees on sagittal hip, knee and ankle;</a:t>
            </a:r>
          </a:p>
          <a:p>
            <a:r>
              <a:t>millimetre-wave radar correlating with a reference at 94 per cent on respiration and 80 on heart</a:t>
            </a:r>
          </a:p>
          <a:p>
            <a:r>
              <a:t>rate, though established for near-stationary subjects and degrading with body motion.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3.3. The dashed rule in the figure marks the limit of what the proposal fixes: the sensor set</a:t>
            </a:r>
          </a:p>
          <a:p>
            <a:r>
              <a:t>and its mounting are specified and costed, and everything to the right of the rule is design.</a:t>
            </a:r>
          </a:p>
          <a:p/>
          <a:p>
            <a:r>
              <a:t>The single-subject trade is deliberate. Continuous multi-person tracking is a harder problem than the</a:t>
            </a:r>
          </a:p>
          <a:p>
            <a:r>
              <a:t>one being asked about, and solving it is not a prerequisite for answering whether fatigue is legible</a:t>
            </a:r>
          </a:p>
          <a:p>
            <a:r>
              <a:t>at all.</a:t>
            </a:r>
          </a:p>
          <a:p/>
          <a:p>
            <a:r>
              <a:t>The fusion itself is a convolutional branch per stream followed by a recurrent stage over the sequence,</a:t>
            </a:r>
          </a:p>
          <a:p>
            <a:r>
              <a:t>with attention across the modalities so the model can lean on whichever streams are usable when one is</a:t>
            </a:r>
          </a:p>
          <a:p>
            <a:r>
              <a:t>occluded. It produces a single number per crossing.</a:t>
            </a:r>
          </a:p>
          <a:p/>
          <a:p>
            <a:r>
              <a:t>On identity: the point-cloud gait benchmark cited in the review exists to demonstrate exactly that</a:t>
            </a:r>
          </a:p>
          <a:p>
            <a:r>
              <a:t>capability, which is a thing this strand has to constrain deliberately rather than a feature to exploit.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3.4. Where the previous figure gives the signal path, this one gives the order of work.</a:t>
            </a:r>
          </a:p>
          <a:p>
            <a:r>
              <a:t>Reading down the right-hand column establishes that order: a modality that has not been checked</a:t>
            </a:r>
          </a:p>
          <a:p>
            <a:r>
              <a:t>against motion capture cannot sensibly be fused, and a fused score has nothing to be compared</a:t>
            </a:r>
          </a:p>
          <a:p>
            <a:r>
              <a:t>against until the contact reference has been recorded on the same subjects during the same task.</a:t>
            </a:r>
          </a:p>
          <a:p/>
          <a:p>
            <a:r>
              <a:t>A fused score that cannot beat the best single modality has bought nothing for four sensors and an</a:t>
            </a:r>
          </a:p>
          <a:p>
            <a:r>
              <a:t>edge processor. Say that line; it is the one that shows the strand is set up to be falsified rather</a:t>
            </a:r>
          </a:p>
          <a:p>
            <a:r>
              <a:t>than to be confirmed.</a:t>
            </a:r>
          </a:p>
          <a:p/>
          <a:p>
            <a:r>
              <a:t>One practical constraint sits across all of it. Simultaneously processing four high-bandwidth</a:t>
            </a:r>
          </a:p>
          <a:p>
            <a:r>
              <a:t>streams on a single edge platform generates heat, and a non-air-conditioned Indian warehouse above</a:t>
            </a:r>
          </a:p>
          <a:p>
            <a:r>
              <a:t>40 degrees is precisely where that platform will throttle. That is a design constraint on the node</a:t>
            </a:r>
          </a:p>
          <a:p>
            <a:r>
              <a:t>rather than a footnote, and it is one of the reasons the hardware objective has to be completed and</a:t>
            </a:r>
          </a:p>
          <a:p>
            <a:r>
              <a:t>tested in situ before the algorithmic one means anything.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3.5. The sequence matters more than the schedule.</a:t>
            </a:r>
          </a:p>
          <a:p/>
          <a:p>
            <a:r>
              <a:t>The comparison against surface electromyography on the same subjects during the same task comes as</a:t>
            </a:r>
          </a:p>
          <a:p>
            <a:r>
              <a:t>early as the hardware allows, specifically because it is the step most likely to show that the</a:t>
            </a:r>
          </a:p>
          <a:p>
            <a:r>
              <a:t>approach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4.1. The year also produced a preliminary demonstration of autonomous navigation, and the</a:t>
            </a:r>
          </a:p>
          <a:p>
            <a:r>
              <a:t>deployed monitoring system, which are on the slide as the fifth item and in the body of the talk.</a:t>
            </a:r>
          </a:p>
          <a:p/>
          <a:p>
            <a:r>
              <a:t>The fifth result is deliberately marked as a different kind of claim. The deployed logic has been</a:t>
            </a:r>
          </a:p>
          <a:p>
            <a:r>
              <a:t>shown to produce the configured states for the inputs present at an instant, and has not been shown</a:t>
            </a:r>
          </a:p>
          <a:p>
            <a:r>
              <a:t>responding to a change on a single time axis.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4.2. Three things remain unresolved, and the reasons differ. That is the point of the slide:</a:t>
            </a:r>
          </a:p>
          <a:p>
            <a:r>
              <a:t>they are not three items on one list of shortfalls. One is environmental, one is a comparison not yet</a:t>
            </a:r>
          </a:p>
          <a:p>
            <a:r>
              <a:t>built, and one is an instrument not yet fitted.</a:t>
            </a:r>
          </a:p>
          <a:p/>
          <a:p>
            <a:r>
              <a:t>The question the next stage tests follows directly from the last of those.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4.3. Within each strand the order is real: the items are listed so that each one is possible</a:t>
            </a:r>
          </a:p>
          <a:p>
            <a:r>
              <a:t>once the one above it is done.</a:t>
            </a:r>
          </a:p>
          <a:p/>
          <a:p>
            <a:r>
              <a:t>If pressed on the absence of dates, the last bullet is the answer and it is the report's own. Offer</a:t>
            </a:r>
          </a:p>
          <a:p>
            <a:r>
              <a:t>the dependency order instead: the test space unblocks four entries in the status figure; the inertial</a:t>
            </a:r>
          </a:p>
          <a:p>
            <a:r>
              <a:t>sensor unblocks the heading question; the symmetric baseline closes Objective 3.</a:t>
            </a:r>
          </a:p>
          <a:p/>
          <a:p>
            <a:r>
              <a:t>Each monitoring deployment adds its own sensing and tests the architecture against an application it</a:t>
            </a:r>
          </a:p>
          <a:p>
            <a:r>
              <a:t>was not built for, which is the useful measure of whether it generalises.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4.3, the closing three paragraphs of the report, given as they were written.</a:t>
            </a:r>
          </a:p>
          <a:p/>
          <a:p>
            <a:r>
              <a:t>Stop on the last sentence. It is the methodological conclusion of the year and it is the line to</a:t>
            </a:r>
          </a:p>
          <a:p>
            <a:r>
              <a:t>leave the room with.</a:t>
            </a:r>
          </a:p>
          <a:p/>
          <a:p>
            <a:r>
              <a:t>Thank the supervisor, the laboratory, and the IITB-FedEx ALFA fellowship, then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jpg"/>
          <p:cNvPicPr>
            <a:picLocks noChangeAspect="1"/>
          </p:cNvPicPr>
          <p:nvPr/>
        </p:nvPicPr>
        <p:blipFill>
          <a:blip r:embed="rId2"/>
          <a:srcRect t="480" b="480"/>
          <a:stretch>
            <a:fillRect/>
          </a:stretch>
        </p:blipFill>
        <p:spPr>
          <a:xfrm>
            <a:off x="7573975" y="0"/>
            <a:ext cx="4617720" cy="6858000"/>
          </a:xfrm>
          <a:prstGeom prst="rect">
            <a:avLst/>
          </a:prstGeom>
        </p:spPr>
      </p:pic>
      <p:sp>
        <p:nvSpPr>
          <p:cNvPr id="3" name="Rectangle 2"/>
          <p:cNvSpPr/>
          <p:nvPr/>
        </p:nvSpPr>
        <p:spPr>
          <a:xfrm>
            <a:off x="7573975" y="0"/>
            <a:ext cx="4572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822960"/>
            <a:ext cx="6366967" cy="365760"/>
          </a:xfrm>
          <a:prstGeom prst="rect">
            <a:avLst/>
          </a:prstGeom>
          <a:noFill/>
        </p:spPr>
        <p:txBody>
          <a:bodyPr wrap="square" lIns="0" rIns="0" tIns="0" bIns="0" anchor="t">
            <a:spAutoFit/>
          </a:bodyPr>
          <a:lstStyle/>
          <a:p>
            <a:pPr algn="l">
              <a:lnSpc>
                <a:spcPct val="100000"/>
              </a:lnSpc>
              <a:spcBef>
                <a:spcPts val="0"/>
              </a:spcBef>
              <a:spcAft>
                <a:spcPts val="0"/>
              </a:spcAft>
            </a:pPr>
            <a:r>
              <a:rPr sz="1100" b="1" i="0" spc="160">
                <a:solidFill>
                  <a:srgbClr val="1F4E79"/>
                </a:solidFill>
                <a:latin typeface="Calibri"/>
              </a:rPr>
              <a:t>ANNUAL PROGRESS SEMINAR · FIRST YEAR OF PHD</a:t>
            </a:r>
          </a:p>
        </p:txBody>
      </p:sp>
      <p:sp>
        <p:nvSpPr>
          <p:cNvPr id="5" name="TextBox 4"/>
          <p:cNvSpPr txBox="1"/>
          <p:nvPr/>
        </p:nvSpPr>
        <p:spPr>
          <a:xfrm>
            <a:off x="566928" y="1298448"/>
            <a:ext cx="6440119" cy="2468880"/>
          </a:xfrm>
          <a:prstGeom prst="rect">
            <a:avLst/>
          </a:prstGeom>
          <a:noFill/>
        </p:spPr>
        <p:txBody>
          <a:bodyPr wrap="square" lIns="0" rIns="0" tIns="0" bIns="0" anchor="t">
            <a:spAutoFit/>
          </a:bodyPr>
          <a:lstStyle/>
          <a:p>
            <a:pPr algn="l">
              <a:lnSpc>
                <a:spcPct val="104000"/>
              </a:lnSpc>
              <a:spcBef>
                <a:spcPts val="0"/>
              </a:spcBef>
              <a:spcAft>
                <a:spcPts val="0"/>
              </a:spcAft>
            </a:pPr>
            <a:r>
              <a:rPr sz="3100" b="1" i="0">
                <a:solidFill>
                  <a:srgbClr val="1A2230"/>
                </a:solidFill>
                <a:latin typeface="Cambria"/>
              </a:rPr>
              <a:t>Development and Validation of Narrow-Aisle Robotic and IoT-Based Systems for Warehouse Management</a:t>
            </a:r>
          </a:p>
        </p:txBody>
      </p:sp>
      <p:sp>
        <p:nvSpPr>
          <p:cNvPr id="6" name="Rectangle 5"/>
          <p:cNvSpPr/>
          <p:nvPr/>
        </p:nvSpPr>
        <p:spPr>
          <a:xfrm>
            <a:off x="566928" y="3712463"/>
            <a:ext cx="1005840"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66928" y="4041648"/>
            <a:ext cx="6366967" cy="1920240"/>
          </a:xfrm>
          <a:prstGeom prst="rect">
            <a:avLst/>
          </a:prstGeom>
          <a:noFill/>
        </p:spPr>
        <p:txBody>
          <a:bodyPr wrap="square" lIns="0" rIns="0" tIns="0" bIns="0" anchor="t">
            <a:spAutoFit/>
          </a:bodyPr>
          <a:lstStyle/>
          <a:p>
            <a:pPr algn="l">
              <a:lnSpc>
                <a:spcPct val="100000"/>
              </a:lnSpc>
              <a:spcBef>
                <a:spcPts val="0"/>
              </a:spcBef>
              <a:spcAft>
                <a:spcPts val="600"/>
              </a:spcAft>
            </a:pPr>
            <a:r>
              <a:rPr sz="1050" b="0" i="0">
                <a:solidFill>
                  <a:srgbClr val="838E9F"/>
                </a:solidFill>
                <a:latin typeface="Calibri"/>
              </a:rPr>
              <a:t>   </a:t>
            </a:r>
            <a:r>
              <a:rPr sz="1300" b="1" i="0">
                <a:solidFill>
                  <a:srgbClr val="1A2230"/>
                </a:solidFill>
                <a:latin typeface="Cambria"/>
              </a:rPr>
              <a:t>Aritra Das</a:t>
            </a:r>
          </a:p>
          <a:p>
            <a:pPr algn="l">
              <a:lnSpc>
                <a:spcPct val="100000"/>
              </a:lnSpc>
              <a:spcBef>
                <a:spcPts val="0"/>
              </a:spcBef>
              <a:spcAft>
                <a:spcPts val="600"/>
              </a:spcAft>
            </a:pPr>
            <a:r>
              <a:rPr sz="1050" b="0" i="0">
                <a:solidFill>
                  <a:srgbClr val="838E9F"/>
                </a:solidFill>
                <a:latin typeface="Calibri"/>
              </a:rPr>
              <a:t>Roll No   </a:t>
            </a:r>
            <a:r>
              <a:rPr sz="1300" b="0" i="0">
                <a:solidFill>
                  <a:srgbClr val="3B4557"/>
                </a:solidFill>
                <a:latin typeface="Calibri"/>
              </a:rPr>
              <a:t>25D0074</a:t>
            </a:r>
          </a:p>
          <a:p>
            <a:pPr algn="l">
              <a:lnSpc>
                <a:spcPct val="100000"/>
              </a:lnSpc>
              <a:spcBef>
                <a:spcPts val="0"/>
              </a:spcBef>
              <a:spcAft>
                <a:spcPts val="600"/>
              </a:spcAft>
            </a:pPr>
            <a:r>
              <a:rPr sz="1050" b="0" i="0">
                <a:solidFill>
                  <a:srgbClr val="838E9F"/>
                </a:solidFill>
                <a:latin typeface="Calibri"/>
              </a:rPr>
              <a:t>Supervisor   </a:t>
            </a:r>
            <a:r>
              <a:rPr sz="1300" b="0" i="0">
                <a:solidFill>
                  <a:srgbClr val="3B4557"/>
                </a:solidFill>
                <a:latin typeface="Calibri"/>
              </a:rPr>
              <a:t>Prof. Ambarish Kunwar</a:t>
            </a:r>
          </a:p>
          <a:p>
            <a:pPr algn="l">
              <a:lnSpc>
                <a:spcPct val="100000"/>
              </a:lnSpc>
              <a:spcBef>
                <a:spcPts val="0"/>
              </a:spcBef>
              <a:spcAft>
                <a:spcPts val="600"/>
              </a:spcAft>
            </a:pPr>
            <a:r>
              <a:rPr sz="1050" b="0" i="0">
                <a:solidFill>
                  <a:srgbClr val="838E9F"/>
                </a:solidFill>
                <a:latin typeface="Calibri"/>
              </a:rPr>
              <a:t>Department   </a:t>
            </a:r>
            <a:r>
              <a:rPr sz="1300" b="0" i="0">
                <a:solidFill>
                  <a:srgbClr val="3B4557"/>
                </a:solidFill>
                <a:latin typeface="Calibri"/>
              </a:rPr>
              <a:t>Biosciences and Bioengineering, IIT Bombay</a:t>
            </a:r>
          </a:p>
          <a:p>
            <a:pPr algn="l">
              <a:lnSpc>
                <a:spcPct val="100000"/>
              </a:lnSpc>
              <a:spcBef>
                <a:spcPts val="0"/>
              </a:spcBef>
              <a:spcAft>
                <a:spcPts val="600"/>
              </a:spcAft>
            </a:pPr>
            <a:r>
              <a:rPr sz="1050" b="0" i="0">
                <a:solidFill>
                  <a:srgbClr val="838E9F"/>
                </a:solidFill>
                <a:latin typeface="Calibri"/>
              </a:rPr>
              <a:t>Fellowship   </a:t>
            </a:r>
            <a:r>
              <a:rPr sz="1300" b="0" i="0">
                <a:solidFill>
                  <a:srgbClr val="3B4557"/>
                </a:solidFill>
                <a:latin typeface="Calibri"/>
              </a:rPr>
              <a:t>IITB–FedEx ALFA</a:t>
            </a:r>
          </a:p>
        </p:txBody>
      </p:sp>
      <p:sp>
        <p:nvSpPr>
          <p:cNvPr id="8" name="TextBox 7"/>
          <p:cNvSpPr txBox="1"/>
          <p:nvPr/>
        </p:nvSpPr>
        <p:spPr>
          <a:xfrm>
            <a:off x="566928" y="6144768"/>
            <a:ext cx="6366967" cy="36576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838E9F"/>
                </a:solidFill>
                <a:latin typeface="Calibri"/>
              </a:rPr>
              <a:t>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Three strands, one problem</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OVERVIEW</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They share instrumentation, not a subject</a:t>
            </a:r>
          </a:p>
        </p:txBody>
      </p:sp>
      <p:sp>
        <p:nvSpPr>
          <p:cNvPr id="6" name="Rectangle 5"/>
          <p:cNvSpPr/>
          <p:nvPr/>
        </p:nvSpPr>
        <p:spPr>
          <a:xfrm>
            <a:off x="566928"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316736"/>
            <a:ext cx="3588410"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Strand 1</a:t>
            </a:r>
          </a:p>
          <a:p>
            <a:pPr algn="l">
              <a:lnSpc>
                <a:spcPct val="98000"/>
              </a:lnSpc>
              <a:spcBef>
                <a:spcPts val="200"/>
              </a:spcBef>
              <a:spcAft>
                <a:spcPts val="0"/>
              </a:spcAft>
            </a:pPr>
            <a:r>
              <a:rPr sz="1000" b="0" i="0">
                <a:solidFill>
                  <a:srgbClr val="838E9F"/>
                </a:solidFill>
                <a:latin typeface="Calibri"/>
              </a:rPr>
              <a:t>The machine that moves through the aisle</a:t>
            </a:r>
          </a:p>
        </p:txBody>
      </p:sp>
      <p:sp>
        <p:nvSpPr>
          <p:cNvPr id="9" name="Rectangle 8"/>
          <p:cNvSpPr/>
          <p:nvPr/>
        </p:nvSpPr>
        <p:spPr>
          <a:xfrm>
            <a:off x="4301642"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01642" y="1316736"/>
            <a:ext cx="3588410"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29658"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Strand 2</a:t>
            </a:r>
          </a:p>
          <a:p>
            <a:pPr algn="l">
              <a:lnSpc>
                <a:spcPct val="98000"/>
              </a:lnSpc>
              <a:spcBef>
                <a:spcPts val="200"/>
              </a:spcBef>
              <a:spcAft>
                <a:spcPts val="0"/>
              </a:spcAft>
            </a:pPr>
            <a:r>
              <a:rPr sz="1000" b="0" i="0">
                <a:solidFill>
                  <a:srgbClr val="838E9F"/>
                </a:solidFill>
                <a:latin typeface="Calibri"/>
              </a:rPr>
              <a:t>The air it moves through</a:t>
            </a:r>
          </a:p>
        </p:txBody>
      </p:sp>
      <p:sp>
        <p:nvSpPr>
          <p:cNvPr id="12" name="Rectangle 11"/>
          <p:cNvSpPr/>
          <p:nvPr/>
        </p:nvSpPr>
        <p:spPr>
          <a:xfrm>
            <a:off x="8036356"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36356" y="1316736"/>
            <a:ext cx="3588410"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64372"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Strand 3</a:t>
            </a:r>
          </a:p>
          <a:p>
            <a:pPr algn="l">
              <a:lnSpc>
                <a:spcPct val="98000"/>
              </a:lnSpc>
              <a:spcBef>
                <a:spcPts val="200"/>
              </a:spcBef>
              <a:spcAft>
                <a:spcPts val="0"/>
              </a:spcAft>
            </a:pPr>
            <a:r>
              <a:rPr sz="1000" b="0" i="0">
                <a:solidFill>
                  <a:srgbClr val="838E9F"/>
                </a:solidFill>
                <a:latin typeface="Calibri"/>
              </a:rPr>
              <a:t>The people who share it</a:t>
            </a:r>
          </a:p>
        </p:txBody>
      </p:sp>
      <p:sp>
        <p:nvSpPr>
          <p:cNvPr id="15" name="TextBox 14"/>
          <p:cNvSpPr txBox="1"/>
          <p:nvPr/>
        </p:nvSpPr>
        <p:spPr>
          <a:xfrm>
            <a:off x="566928" y="2377439"/>
            <a:ext cx="9730898" cy="2980944"/>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550" b="1" i="0">
                <a:solidFill>
                  <a:srgbClr val="3B4557"/>
                </a:solidFill>
                <a:latin typeface="Calibri"/>
              </a:rPr>
              <a:t>Robot. </a:t>
            </a:r>
            <a:r>
              <a:rPr sz="1550" b="0" i="0">
                <a:solidFill>
                  <a:srgbClr val="3B4557"/>
                </a:solidFill>
                <a:latin typeface="Calibri"/>
              </a:rPr>
              <a:t>Built, instrumented and measured. 45.54 kg, closed-loop control at every wheel, four results established against physical references.</a:t>
            </a:r>
          </a:p>
          <a:p>
            <a:pPr algn="l" marL="182880" indent="-182880">
              <a:lnSpc>
                <a:spcPct val="105000"/>
              </a:lnSpc>
              <a:spcBef>
                <a:spcPts val="0"/>
              </a:spcBef>
              <a:spcAft>
                <a:spcPts val="1200"/>
              </a:spcAft>
              <a:buClr>
                <a:srgbClr val="4C7AA8"/>
              </a:buClr>
              <a:buFont typeface="Arial"/>
              <a:buChar char="•"/>
            </a:pPr>
            <a:r>
              <a:rPr sz="1550" b="1" i="0">
                <a:solidFill>
                  <a:srgbClr val="3B4557"/>
                </a:solidFill>
                <a:latin typeface="Calibri"/>
              </a:rPr>
              <a:t>Monitoring. </a:t>
            </a:r>
            <a:r>
              <a:rPr sz="1550" b="0" i="0">
                <a:solidFill>
                  <a:srgbClr val="3B4557"/>
                </a:solidFill>
                <a:latin typeface="Calibri"/>
              </a:rPr>
              <a:t>Deployed and running. Four zones, two radio-isolated installations, one database, three concurrent communication channels.</a:t>
            </a:r>
          </a:p>
          <a:p>
            <a:pPr algn="l" marL="182880" indent="-182880">
              <a:lnSpc>
                <a:spcPct val="105000"/>
              </a:lnSpc>
              <a:spcBef>
                <a:spcPts val="0"/>
              </a:spcBef>
              <a:spcAft>
                <a:spcPts val="1200"/>
              </a:spcAft>
              <a:buClr>
                <a:srgbClr val="4C7AA8"/>
              </a:buClr>
              <a:buFont typeface="Arial"/>
              <a:buChar char="•"/>
            </a:pPr>
            <a:r>
              <a:rPr sz="1550" b="1" i="0">
                <a:solidFill>
                  <a:srgbClr val="3B4557"/>
                </a:solidFill>
                <a:latin typeface="Calibri"/>
              </a:rPr>
              <a:t>Fatigue. </a:t>
            </a:r>
            <a:r>
              <a:rPr sz="1550" b="0" i="0">
                <a:solidFill>
                  <a:srgbClr val="3B4557"/>
                </a:solidFill>
                <a:latin typeface="Calibri"/>
              </a:rPr>
              <a:t>A hypothesis and a completed literature survey. No hardware built, no data collected. The chapter opens by saying so.</a:t>
            </a:r>
          </a:p>
          <a:p>
            <a:pPr algn="l" marL="182880" indent="-182880">
              <a:lnSpc>
                <a:spcPct val="105000"/>
              </a:lnSpc>
              <a:spcBef>
                <a:spcPts val="0"/>
              </a:spcBef>
              <a:spcAft>
                <a:spcPts val="1200"/>
              </a:spcAft>
              <a:buClr>
                <a:srgbClr val="4C7AA8"/>
              </a:buClr>
              <a:buFont typeface="Arial"/>
              <a:buChar char="•"/>
            </a:pPr>
            <a:r>
              <a:rPr sz="1550" b="1" i="0">
                <a:solidFill>
                  <a:srgbClr val="3B4557"/>
                </a:solidFill>
                <a:latin typeface="Calibri"/>
              </a:rPr>
              <a:t>What is shared. </a:t>
            </a:r>
            <a:r>
              <a:rPr sz="1550" b="0" i="0">
                <a:solidFill>
                  <a:srgbClr val="3B4557"/>
                </a:solidFill>
                <a:latin typeface="Calibri"/>
              </a:rPr>
              <a:t>Multi-sensor integration, calibration against a physical reference, real-time acquisition, and control that fails safe, recur in all three.</a:t>
            </a:r>
          </a:p>
        </p:txBody>
      </p:sp>
      <p:sp>
        <p:nvSpPr>
          <p:cNvPr id="16" name="Rectangle 1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An error made in one strand has repeatedly become a method in the next.</a:t>
            </a:r>
          </a:p>
        </p:txBody>
      </p:sp>
      <p:sp>
        <p:nvSpPr>
          <p:cNvPr id="19" name="TextBox 1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20" name="TextBox 1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Five objectives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OVERVIEW</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000"/>
              </a:spcAft>
              <a:buClr>
                <a:srgbClr val="4C7AA8"/>
              </a:buClr>
              <a:buFont typeface="Arial"/>
              <a:buChar char="•"/>
            </a:pPr>
            <a:r>
              <a:rPr sz="1450" b="1" i="0">
                <a:solidFill>
                  <a:srgbClr val="3B4557"/>
                </a:solidFill>
                <a:latin typeface="Calibri"/>
              </a:rPr>
              <a:t>O1  </a:t>
            </a:r>
            <a:r>
              <a:rPr sz="1450" b="0" i="0">
                <a:solidFill>
                  <a:srgbClr val="3B4557"/>
                </a:solidFill>
                <a:latin typeface="Calibri"/>
              </a:rPr>
              <a:t>Development and experimental characterisation of a full-scale asymmetric mecanum platform for narrow-aisle operation.</a:t>
            </a:r>
          </a:p>
          <a:p>
            <a:pPr algn="l" marL="182880">
              <a:lnSpc>
                <a:spcPct val="105000"/>
              </a:lnSpc>
              <a:spcBef>
                <a:spcPts val="0"/>
              </a:spcBef>
              <a:spcAft>
                <a:spcPts val="2000"/>
              </a:spcAft>
            </a:pPr>
            <a:r>
              <a:rPr sz="1300" b="0" i="1">
                <a:solidFill>
                  <a:srgbClr val="838E9F"/>
                </a:solidFill>
                <a:latin typeface="Calibri"/>
              </a:rPr>
              <a:t>Closed: controller, kinematics and odometry characterised against measured references.</a:t>
            </a:r>
          </a:p>
          <a:p>
            <a:pPr algn="l" marL="182880" indent="-182880">
              <a:lnSpc>
                <a:spcPct val="105000"/>
              </a:lnSpc>
              <a:spcBef>
                <a:spcPts val="0"/>
              </a:spcBef>
              <a:spcAft>
                <a:spcPts val="1000"/>
              </a:spcAft>
              <a:buClr>
                <a:srgbClr val="4C7AA8"/>
              </a:buClr>
              <a:buFont typeface="Arial"/>
              <a:buChar char="•"/>
            </a:pPr>
            <a:r>
              <a:rPr sz="1450" b="1" i="0">
                <a:solidFill>
                  <a:srgbClr val="3B4557"/>
                </a:solidFill>
                <a:latin typeface="Calibri"/>
              </a:rPr>
              <a:t>O2  </a:t>
            </a:r>
            <a:r>
              <a:rPr sz="1450" b="0" i="0">
                <a:solidFill>
                  <a:srgbClr val="3B4557"/>
                </a:solidFill>
                <a:latin typeface="Calibri"/>
              </a:rPr>
              <a:t>Localisation and autonomous navigation at corridor-width clearances.</a:t>
            </a:r>
          </a:p>
          <a:p>
            <a:pPr algn="l" marL="182880">
              <a:lnSpc>
                <a:spcPct val="105000"/>
              </a:lnSpc>
              <a:spcBef>
                <a:spcPts val="0"/>
              </a:spcBef>
              <a:spcAft>
                <a:spcPts val="2000"/>
              </a:spcAft>
            </a:pPr>
            <a:r>
              <a:rPr sz="1300" b="0" i="1">
                <a:solidFill>
                  <a:srgbClr val="838E9F"/>
                </a:solidFill>
                <a:latin typeface="Calibri"/>
              </a:rPr>
              <a:t>Closes as characterised rather than as optimal. Navigation demonstrated within a live mapping session.</a:t>
            </a:r>
          </a:p>
          <a:p>
            <a:pPr algn="l" marL="182880" indent="-182880">
              <a:lnSpc>
                <a:spcPct val="105000"/>
              </a:lnSpc>
              <a:spcBef>
                <a:spcPts val="0"/>
              </a:spcBef>
              <a:spcAft>
                <a:spcPts val="1000"/>
              </a:spcAft>
              <a:buClr>
                <a:srgbClr val="4C7AA8"/>
              </a:buClr>
              <a:buFont typeface="Arial"/>
              <a:buChar char="•"/>
            </a:pPr>
            <a:r>
              <a:rPr sz="1450" b="1" i="0">
                <a:solidFill>
                  <a:srgbClr val="3B4557"/>
                </a:solidFill>
                <a:latin typeface="Calibri"/>
              </a:rPr>
              <a:t>O3  </a:t>
            </a:r>
            <a:r>
              <a:rPr sz="1450" b="0" i="0">
                <a:solidFill>
                  <a:srgbClr val="3B4557"/>
                </a:solidFill>
                <a:latin typeface="Calibri"/>
              </a:rPr>
              <a:t>Quantification of the cost and benefit of the asymmetric wheel layout.</a:t>
            </a:r>
          </a:p>
          <a:p>
            <a:pPr algn="l" marL="182880">
              <a:lnSpc>
                <a:spcPct val="105000"/>
              </a:lnSpc>
              <a:spcBef>
                <a:spcPts val="0"/>
              </a:spcBef>
              <a:spcAft>
                <a:spcPts val="2000"/>
              </a:spcAft>
            </a:pPr>
            <a:r>
              <a:rPr sz="1300" b="0" i="1">
                <a:solidFill>
                  <a:srgbClr val="838E9F"/>
                </a:solidFill>
                <a:latin typeface="Calibri"/>
              </a:rPr>
              <a:t>Open. No matched symmetric baseline has been built, so the effect of the asymmetry is unquantified.</a:t>
            </a:r>
          </a:p>
          <a:p>
            <a:pPr algn="l" marL="182880" indent="-182880">
              <a:lnSpc>
                <a:spcPct val="105000"/>
              </a:lnSpc>
              <a:spcBef>
                <a:spcPts val="0"/>
              </a:spcBef>
              <a:spcAft>
                <a:spcPts val="1000"/>
              </a:spcAft>
              <a:buClr>
                <a:srgbClr val="4C7AA8"/>
              </a:buClr>
              <a:buFont typeface="Arial"/>
              <a:buChar char="•"/>
            </a:pPr>
            <a:r>
              <a:rPr sz="1450" b="1" i="0">
                <a:solidFill>
                  <a:srgbClr val="3B4557"/>
                </a:solidFill>
                <a:latin typeface="Calibri"/>
              </a:rPr>
              <a:t>O4  </a:t>
            </a:r>
            <a:r>
              <a:rPr sz="1450" b="0" i="0">
                <a:solidFill>
                  <a:srgbClr val="3B4557"/>
                </a:solidFill>
                <a:latin typeface="Calibri"/>
              </a:rPr>
              <a:t>An instrumented, closed-loop environmental monitoring system for warehouse environments.</a:t>
            </a:r>
          </a:p>
          <a:p>
            <a:pPr algn="l" marL="182880">
              <a:lnSpc>
                <a:spcPct val="105000"/>
              </a:lnSpc>
              <a:spcBef>
                <a:spcPts val="0"/>
              </a:spcBef>
              <a:spcAft>
                <a:spcPts val="2000"/>
              </a:spcAft>
            </a:pPr>
            <a:r>
              <a:rPr sz="1300" b="0" i="1">
                <a:solidFill>
                  <a:srgbClr val="838E9F"/>
                </a:solidFill>
                <a:latin typeface="Calibri"/>
              </a:rPr>
              <a:t>Deployed across four zones. Two physical calibrations outstanding before readings can be quoted.</a:t>
            </a:r>
          </a:p>
          <a:p>
            <a:pPr algn="l" marL="182880" indent="-182880">
              <a:lnSpc>
                <a:spcPct val="105000"/>
              </a:lnSpc>
              <a:spcBef>
                <a:spcPts val="0"/>
              </a:spcBef>
              <a:spcAft>
                <a:spcPts val="1000"/>
              </a:spcAft>
              <a:buClr>
                <a:srgbClr val="4C7AA8"/>
              </a:buClr>
              <a:buFont typeface="Arial"/>
              <a:buChar char="•"/>
            </a:pPr>
            <a:r>
              <a:rPr sz="1450" b="1" i="0">
                <a:solidFill>
                  <a:srgbClr val="3B4557"/>
                </a:solidFill>
                <a:latin typeface="Calibri"/>
              </a:rPr>
              <a:t>O5  </a:t>
            </a:r>
            <a:r>
              <a:rPr sz="1450" b="0" i="0">
                <a:solidFill>
                  <a:srgbClr val="3B4557"/>
                </a:solidFill>
                <a:latin typeface="Calibri"/>
              </a:rPr>
              <a:t>A contactless framework for assessing worker fatigue.</a:t>
            </a:r>
          </a:p>
          <a:p>
            <a:pPr algn="l" marL="182880">
              <a:lnSpc>
                <a:spcPct val="105000"/>
              </a:lnSpc>
              <a:spcBef>
                <a:spcPts val="0"/>
              </a:spcBef>
              <a:spcAft>
                <a:spcPts val="2000"/>
              </a:spcAft>
            </a:pPr>
            <a:r>
              <a:rPr sz="1300" b="0" i="1">
                <a:solidFill>
                  <a:srgbClr val="838E9F"/>
                </a:solidFill>
                <a:latin typeface="Calibri"/>
              </a:rPr>
              <a:t>Proposed. Survey complete, hypothesis stated, nothing built.</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Two close on measurement, one closes as characterised rather than optimal, one is open for a reason that is not the platform’s, and one has not begun.</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417320" y="1389888"/>
            <a:ext cx="2743200" cy="868680"/>
          </a:xfrm>
          <a:prstGeom prst="rect">
            <a:avLst/>
          </a:prstGeom>
          <a:noFill/>
        </p:spPr>
        <p:txBody>
          <a:bodyPr wrap="square" lIns="0" rIns="0" tIns="0" bIns="0" anchor="t">
            <a:spAutoFit/>
          </a:bodyPr>
          <a:lstStyle/>
          <a:p>
            <a:pPr algn="l">
              <a:lnSpc>
                <a:spcPct val="90000"/>
              </a:lnSpc>
              <a:spcBef>
                <a:spcPts val="0"/>
              </a:spcBef>
              <a:spcAft>
                <a:spcPts val="0"/>
              </a:spcAft>
            </a:pPr>
            <a:r>
              <a:rPr sz="6200" b="1" i="0">
                <a:solidFill>
                  <a:srgbClr val="BFCFE0"/>
                </a:solidFill>
                <a:latin typeface="Cambria"/>
              </a:rPr>
              <a:t>01</a:t>
            </a:r>
          </a:p>
        </p:txBody>
      </p:sp>
      <p:sp>
        <p:nvSpPr>
          <p:cNvPr id="5" name="TextBox 4"/>
          <p:cNvSpPr txBox="1"/>
          <p:nvPr/>
        </p:nvSpPr>
        <p:spPr>
          <a:xfrm>
            <a:off x="1417320" y="2231136"/>
            <a:ext cx="8778240" cy="384048"/>
          </a:xfrm>
          <a:prstGeom prst="rect">
            <a:avLst/>
          </a:prstGeom>
          <a:noFill/>
        </p:spPr>
        <p:txBody>
          <a:bodyPr wrap="square" lIns="0" rIns="0" tIns="0" bIns="0" anchor="t">
            <a:spAutoFit/>
          </a:bodyPr>
          <a:lstStyle/>
          <a:p>
            <a:pPr algn="l">
              <a:lnSpc>
                <a:spcPct val="100000"/>
              </a:lnSpc>
              <a:spcBef>
                <a:spcPts val="0"/>
              </a:spcBef>
              <a:spcAft>
                <a:spcPts val="0"/>
              </a:spcAft>
            </a:pPr>
            <a:r>
              <a:rPr sz="1150" b="1" i="0" spc="180">
                <a:solidFill>
                  <a:srgbClr val="1F4E79"/>
                </a:solidFill>
                <a:latin typeface="Calibri"/>
              </a:rPr>
              <a:t>STRAND ONE</a:t>
            </a:r>
          </a:p>
        </p:txBody>
      </p:sp>
      <p:sp>
        <p:nvSpPr>
          <p:cNvPr id="6" name="TextBox 5"/>
          <p:cNvSpPr txBox="1"/>
          <p:nvPr/>
        </p:nvSpPr>
        <p:spPr>
          <a:xfrm>
            <a:off x="1417320" y="2651760"/>
            <a:ext cx="8961120" cy="914400"/>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1A2230"/>
                </a:solidFill>
                <a:latin typeface="Cambria"/>
              </a:rPr>
              <a:t>The Narrow-Aisle Robot</a:t>
            </a:r>
          </a:p>
        </p:txBody>
      </p:sp>
      <p:sp>
        <p:nvSpPr>
          <p:cNvPr id="7" name="Rectangle 6"/>
          <p:cNvSpPr/>
          <p:nvPr/>
        </p:nvSpPr>
        <p:spPr>
          <a:xfrm>
            <a:off x="1417320" y="3785615"/>
            <a:ext cx="1005840"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17320" y="4096512"/>
            <a:ext cx="8321040" cy="1005840"/>
          </a:xfrm>
          <a:prstGeom prst="rect">
            <a:avLst/>
          </a:prstGeom>
          <a:noFill/>
        </p:spPr>
        <p:txBody>
          <a:bodyPr wrap="square" lIns="0" rIns="0" tIns="0" bIns="0" anchor="t">
            <a:spAutoFit/>
          </a:bodyPr>
          <a:lstStyle/>
          <a:p>
            <a:pPr algn="l">
              <a:lnSpc>
                <a:spcPct val="115000"/>
              </a:lnSpc>
              <a:spcBef>
                <a:spcPts val="0"/>
              </a:spcBef>
              <a:spcAft>
                <a:spcPts val="0"/>
              </a:spcAft>
            </a:pPr>
            <a:r>
              <a:rPr sz="1500" b="0" i="1">
                <a:solidFill>
                  <a:srgbClr val="3B4557"/>
                </a:solidFill>
                <a:latin typeface="Cambria"/>
              </a:rPr>
              <a:t>A prototype establishes that the transformation between wheel and body velocity is correct. It establishes nothing about a 45.54 kg machine.</a:t>
            </a:r>
          </a:p>
        </p:txBody>
      </p:sp>
      <p:sp>
        <p:nvSpPr>
          <p:cNvPr id="9" name="TextBox 8"/>
          <p:cNvSpPr txBox="1"/>
          <p:nvPr/>
        </p:nvSpPr>
        <p:spPr>
          <a:xfrm>
            <a:off x="1417320" y="5138928"/>
            <a:ext cx="832104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spc="60">
                <a:solidFill>
                  <a:srgbClr val="2E7D52"/>
                </a:solidFill>
                <a:latin typeface="Calibri"/>
              </a:rPr>
              <a:t>Built · instrumented · measured</a:t>
            </a:r>
          </a:p>
        </p:txBody>
      </p:sp>
      <p:sp>
        <p:nvSpPr>
          <p:cNvPr id="10" name="TextBox 9"/>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1" name="TextBox 10"/>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aisle sets the problem</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7356439"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A storage aisle is sized for the goods it holds and for a human picker, not for a vehicle.</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Available clearance is of the order of centimetres rather than metres.</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A differential-drive or steered platform cannot correct a lateral offset without a manoeuvre, and the manoeuvre consumes longitudinal space the corridor does not have.</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Mecanum rollers at 45° give a contact force component along the roller axis, so four wheels at different velocities produce motion in any direction in the plane.</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A lateral offset is then corrected by translating sideways, in the ideal case with no fore-aft travel at all.</a:t>
            </a:r>
          </a:p>
        </p:txBody>
      </p:sp>
      <p:sp>
        <p:nvSpPr>
          <p:cNvPr id="6" name="Rectangle 5"/>
          <p:cNvSpPr/>
          <p:nvPr/>
        </p:nvSpPr>
        <p:spPr>
          <a:xfrm>
            <a:off x="8469950" y="1275588"/>
            <a:ext cx="2992282" cy="4123944"/>
          </a:xfrm>
          <a:prstGeom prst="rect">
            <a:avLst/>
          </a:prstGeom>
          <a:solidFill>
            <a:srgbClr val="FFFFFF"/>
          </a:solidFill>
          <a:ln w="9525">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latform_side.jpg"/>
          <p:cNvPicPr>
            <a:picLocks noChangeAspect="1"/>
          </p:cNvPicPr>
          <p:nvPr/>
        </p:nvPicPr>
        <p:blipFill>
          <a:blip r:embed="rId2"/>
          <a:stretch>
            <a:fillRect/>
          </a:stretch>
        </p:blipFill>
        <p:spPr>
          <a:xfrm>
            <a:off x="8511098" y="1316736"/>
            <a:ext cx="2909986" cy="4041648"/>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Warehouse automation has grown around wide, well-structured routes. The aisle is the part of the building where the geometric constraint is most severe.</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geometry is inherited, not proposed here</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 · prior work in this laboratory [1]</a:t>
            </a:r>
          </a:p>
        </p:txBody>
      </p:sp>
      <p:sp>
        <p:nvSpPr>
          <p:cNvPr id="6" name="TextBox 5"/>
          <p:cNvSpPr txBox="1"/>
          <p:nvPr/>
        </p:nvSpPr>
        <p:spPr>
          <a:xfrm>
            <a:off x="566928" y="1316736"/>
            <a:ext cx="4923714"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Earlier work in this group derived the kinematics for an asymmetric, non-collinear mecanum layout intended for narrow aisles, and demonstrated the principle on a small prototype.</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Panels (a) and (b) are the two chassis variants that paper proposes. Variant (a), with the lateral wheels close together, is the arrangement built here.</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Panel (c) is that paper’s kinematic schematic: wheel origins at longitudinal distances l₁ and l₂ from the body centre, half track d.</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Point-symmetric rather than mirror-symmetric placement preserves the three planar degrees of freedom while relaxing the constraint that sets vehicle width.</a:t>
            </a:r>
          </a:p>
        </p:txBody>
      </p:sp>
      <p:pic>
        <p:nvPicPr>
          <p:cNvPr id="7" name="Picture 6" descr="fig01.png"/>
          <p:cNvPicPr>
            <a:picLocks noChangeAspect="1"/>
          </p:cNvPicPr>
          <p:nvPr/>
        </p:nvPicPr>
        <p:blipFill>
          <a:blip r:embed="rId2"/>
          <a:stretch>
            <a:fillRect/>
          </a:stretch>
        </p:blipFill>
        <p:spPr>
          <a:xfrm>
            <a:off x="5874690" y="2056343"/>
            <a:ext cx="5750076" cy="2562433"/>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What the prior work did not establish is whether the geometry survives the transition to a full-scale machine.</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the non-collinearity actually changes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2 · drawn at the dimensions of the machine built here</a:t>
            </a:r>
          </a:p>
        </p:txBody>
      </p:sp>
      <p:sp>
        <p:nvSpPr>
          <p:cNvPr id="6" name="Rectangle 5"/>
          <p:cNvSpPr/>
          <p:nvPr/>
        </p:nvSpPr>
        <p:spPr>
          <a:xfrm>
            <a:off x="566928"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Kₒ = 0.5607 m</a:t>
            </a:r>
          </a:p>
          <a:p>
            <a:pPr algn="l">
              <a:lnSpc>
                <a:spcPct val="98000"/>
              </a:lnSpc>
              <a:spcBef>
                <a:spcPts val="200"/>
              </a:spcBef>
              <a:spcAft>
                <a:spcPts val="0"/>
              </a:spcAft>
            </a:pPr>
            <a:r>
              <a:rPr sz="1000" b="0" i="0">
                <a:solidFill>
                  <a:srgbClr val="838E9F"/>
                </a:solidFill>
                <a:latin typeface="Calibri"/>
              </a:rPr>
              <a:t>Outer diagonal pair: l₁ + d</a:t>
            </a:r>
          </a:p>
        </p:txBody>
      </p:sp>
      <p:sp>
        <p:nvSpPr>
          <p:cNvPr id="9" name="Rectangle 8"/>
          <p:cNvSpPr/>
          <p:nvPr/>
        </p:nvSpPr>
        <p:spPr>
          <a:xfrm>
            <a:off x="3367963"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367963"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95979"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Kᵢ = 0.4907 m</a:t>
            </a:r>
          </a:p>
          <a:p>
            <a:pPr algn="l">
              <a:lnSpc>
                <a:spcPct val="98000"/>
              </a:lnSpc>
              <a:spcBef>
                <a:spcPts val="200"/>
              </a:spcBef>
              <a:spcAft>
                <a:spcPts val="0"/>
              </a:spcAft>
            </a:pPr>
            <a:r>
              <a:rPr sz="1000" b="0" i="0">
                <a:solidFill>
                  <a:srgbClr val="838E9F"/>
                </a:solidFill>
                <a:latin typeface="Calibri"/>
              </a:rPr>
              <a:t>Inner diagonal pair: l₂ + d</a:t>
            </a:r>
          </a:p>
        </p:txBody>
      </p:sp>
      <p:sp>
        <p:nvSpPr>
          <p:cNvPr id="12" name="Rectangle 11"/>
          <p:cNvSpPr/>
          <p:nvPr/>
        </p:nvSpPr>
        <p:spPr>
          <a:xfrm>
            <a:off x="6168999"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68999" y="1316736"/>
            <a:ext cx="2654731" cy="41148"/>
          </a:xfrm>
          <a:prstGeom prst="rect">
            <a:avLst/>
          </a:prstGeom>
          <a:solidFill>
            <a:srgbClr val="A96F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97015"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A96F15"/>
                </a:solidFill>
                <a:latin typeface="Cambria"/>
              </a:rPr>
              <a:t>14 %</a:t>
            </a:r>
          </a:p>
          <a:p>
            <a:pPr algn="l">
              <a:lnSpc>
                <a:spcPct val="98000"/>
              </a:lnSpc>
              <a:spcBef>
                <a:spcPts val="200"/>
              </a:spcBef>
              <a:spcAft>
                <a:spcPts val="0"/>
              </a:spcAft>
            </a:pPr>
            <a:r>
              <a:rPr sz="1000" b="0" i="0">
                <a:solidFill>
                  <a:srgbClr val="838E9F"/>
                </a:solidFill>
                <a:latin typeface="Calibri"/>
              </a:rPr>
              <a:t>Difference between the two lever arms</a:t>
            </a:r>
          </a:p>
        </p:txBody>
      </p:sp>
      <p:sp>
        <p:nvSpPr>
          <p:cNvPr id="15" name="Rectangle 14"/>
          <p:cNvSpPr/>
          <p:nvPr/>
        </p:nvSpPr>
        <p:spPr>
          <a:xfrm>
            <a:off x="8970035"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970035"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98051"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a:t>
            </a:r>
          </a:p>
          <a:p>
            <a:pPr algn="l">
              <a:lnSpc>
                <a:spcPct val="98000"/>
              </a:lnSpc>
              <a:spcBef>
                <a:spcPts val="200"/>
              </a:spcBef>
              <a:spcAft>
                <a:spcPts val="0"/>
              </a:spcAft>
            </a:pPr>
            <a:r>
              <a:rPr sz="1000" b="0" i="0">
                <a:solidFill>
                  <a:srgbClr val="838E9F"/>
                </a:solidFill>
                <a:latin typeface="Calibri"/>
              </a:rPr>
              <a:t>Translation terms that change</a:t>
            </a:r>
          </a:p>
        </p:txBody>
      </p:sp>
      <p:pic>
        <p:nvPicPr>
          <p:cNvPr id="18" name="Picture 17" descr="fig02.png"/>
          <p:cNvPicPr>
            <a:picLocks noChangeAspect="1"/>
          </p:cNvPicPr>
          <p:nvPr/>
        </p:nvPicPr>
        <p:blipFill>
          <a:blip r:embed="rId2"/>
          <a:stretch>
            <a:fillRect/>
          </a:stretch>
        </p:blipFill>
        <p:spPr>
          <a:xfrm>
            <a:off x="2113218" y="2377439"/>
            <a:ext cx="7965257" cy="2980944"/>
          </a:xfrm>
          <a:prstGeom prst="rect">
            <a:avLst/>
          </a:prstGeom>
        </p:spPr>
      </p:pic>
      <p:sp>
        <p:nvSpPr>
          <p:cNvPr id="19" name="Rectangle 18"/>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Only the yaw column changes. That is the whole of the difference, and it is also the whole of the risk.</a:t>
            </a:r>
          </a:p>
        </p:txBody>
      </p:sp>
      <p:sp>
        <p:nvSpPr>
          <p:cNvPr id="22" name="TextBox 21"/>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23" name="TextBox 22"/>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starting condition, stated plainly</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6029498"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1" i="0">
                <a:solidFill>
                  <a:srgbClr val="3B4557"/>
                </a:solidFill>
                <a:latin typeface="Calibri"/>
              </a:rPr>
              <a:t>Present at the start. </a:t>
            </a:r>
            <a:r>
              <a:rPr sz="1450" b="0" i="0">
                <a:solidFill>
                  <a:srgbClr val="3B4557"/>
                </a:solidFill>
                <a:latin typeface="Calibri"/>
              </a:rPr>
              <a:t>Chassis, four mecanum wheels on the asymmetric layout, four geared drive motors, two motor drivers and the power system. Control by an Arduino Mega 2560.</a:t>
            </a:r>
          </a:p>
          <a:p>
            <a:pPr algn="l" marL="182880" indent="-182880">
              <a:lnSpc>
                <a:spcPct val="105000"/>
              </a:lnSpc>
              <a:spcBef>
                <a:spcPts val="0"/>
              </a:spcBef>
              <a:spcAft>
                <a:spcPts val="900"/>
              </a:spcAft>
              <a:buClr>
                <a:srgbClr val="4C7AA8"/>
              </a:buClr>
              <a:buFont typeface="Arial"/>
              <a:buChar char="•"/>
            </a:pPr>
            <a:r>
              <a:rPr sz="1450" b="1" i="0">
                <a:solidFill>
                  <a:srgbClr val="3B4557"/>
                </a:solidFill>
                <a:latin typeface="Calibri"/>
              </a:rPr>
              <a:t>Absent. </a:t>
            </a:r>
            <a:r>
              <a:rPr sz="1450" b="0" i="0">
                <a:solidFill>
                  <a:srgbClr val="3B4557"/>
                </a:solidFill>
                <a:latin typeface="Calibri"/>
              </a:rPr>
              <a:t>No closed-loop velocity regulation, no odometry, no on-board kinematic model, no perception, no autonomy.</a:t>
            </a:r>
          </a:p>
          <a:p>
            <a:pPr algn="l" marL="182880" indent="-182880">
              <a:lnSpc>
                <a:spcPct val="105000"/>
              </a:lnSpc>
              <a:spcBef>
                <a:spcPts val="0"/>
              </a:spcBef>
              <a:spcAft>
                <a:spcPts val="900"/>
              </a:spcAft>
              <a:buClr>
                <a:srgbClr val="4C7AA8"/>
              </a:buClr>
              <a:buFont typeface="Arial"/>
              <a:buChar char="•"/>
            </a:pPr>
            <a:r>
              <a:rPr sz="1450" b="1" i="0">
                <a:solidFill>
                  <a:srgbClr val="3B4557"/>
                </a:solidFill>
                <a:latin typeface="Calibri"/>
              </a:rPr>
              <a:t>Everything beyond that. </a:t>
            </a:r>
            <a:r>
              <a:rPr sz="1450" b="0" i="0">
                <a:solidFill>
                  <a:srgbClr val="3B4557"/>
                </a:solidFill>
                <a:latin typeface="Calibri"/>
              </a:rPr>
              <a:t>The firmware, the ROS 2 software, the instrumentation and every measurement quoted in this report were carried out by the author.</a:t>
            </a:r>
          </a:p>
        </p:txBody>
      </p:sp>
      <p:sp>
        <p:nvSpPr>
          <p:cNvPr id="6" name="Rectangle 5"/>
          <p:cNvSpPr/>
          <p:nvPr/>
        </p:nvSpPr>
        <p:spPr>
          <a:xfrm>
            <a:off x="6939326" y="1576733"/>
            <a:ext cx="4726588" cy="3521652"/>
          </a:xfrm>
          <a:prstGeom prst="rect">
            <a:avLst/>
          </a:prstGeom>
          <a:solidFill>
            <a:srgbClr val="FFFFFF"/>
          </a:solidFill>
          <a:ln w="9525">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chassis_wheels.jpg"/>
          <p:cNvPicPr>
            <a:picLocks noChangeAspect="1"/>
          </p:cNvPicPr>
          <p:nvPr/>
        </p:nvPicPr>
        <p:blipFill>
          <a:blip r:embed="rId2"/>
          <a:stretch>
            <a:fillRect/>
          </a:stretch>
        </p:blipFill>
        <p:spPr>
          <a:xfrm>
            <a:off x="6980474" y="1617881"/>
            <a:ext cx="4644292" cy="3439356"/>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Establishing which way the scanner counts its angles took a drive against a placed block, because nothing on the sensor says which way it is looking.</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machine as built</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3 · 1.00 m long, 0.36 m wide across the wheels</a:t>
            </a:r>
          </a:p>
        </p:txBody>
      </p:sp>
      <p:sp>
        <p:nvSpPr>
          <p:cNvPr id="6" name="Rectangle 5"/>
          <p:cNvSpPr/>
          <p:nvPr/>
        </p:nvSpPr>
        <p:spPr>
          <a:xfrm>
            <a:off x="566928"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45.54 kg</a:t>
            </a:r>
          </a:p>
          <a:p>
            <a:pPr algn="l">
              <a:lnSpc>
                <a:spcPct val="98000"/>
              </a:lnSpc>
              <a:spcBef>
                <a:spcPts val="200"/>
              </a:spcBef>
              <a:spcAft>
                <a:spcPts val="0"/>
              </a:spcAft>
            </a:pPr>
            <a:r>
              <a:rPr sz="1000" b="0" i="0">
                <a:solidFill>
                  <a:srgbClr val="838E9F"/>
                </a:solidFill>
                <a:latin typeface="Calibri"/>
              </a:rPr>
              <a:t>Mass, measured</a:t>
            </a:r>
          </a:p>
        </p:txBody>
      </p:sp>
      <p:sp>
        <p:nvSpPr>
          <p:cNvPr id="9" name="Rectangle 8"/>
          <p:cNvSpPr/>
          <p:nvPr/>
        </p:nvSpPr>
        <p:spPr>
          <a:xfrm>
            <a:off x="3367963"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367963"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95979"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1.00 × 0.36 m</a:t>
            </a:r>
          </a:p>
          <a:p>
            <a:pPr algn="l">
              <a:lnSpc>
                <a:spcPct val="98000"/>
              </a:lnSpc>
              <a:spcBef>
                <a:spcPts val="200"/>
              </a:spcBef>
              <a:spcAft>
                <a:spcPts val="0"/>
              </a:spcAft>
            </a:pPr>
            <a:r>
              <a:rPr sz="1000" b="0" i="0">
                <a:solidFill>
                  <a:srgbClr val="838E9F"/>
                </a:solidFill>
                <a:latin typeface="Calibri"/>
              </a:rPr>
              <a:t>Footprint, tape-measured</a:t>
            </a:r>
          </a:p>
        </p:txBody>
      </p:sp>
      <p:sp>
        <p:nvSpPr>
          <p:cNvPr id="12" name="Rectangle 11"/>
          <p:cNvSpPr/>
          <p:nvPr/>
        </p:nvSpPr>
        <p:spPr>
          <a:xfrm>
            <a:off x="6168999"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68999"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97015"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0.403 / 0.333 m</a:t>
            </a:r>
          </a:p>
          <a:p>
            <a:pPr algn="l">
              <a:lnSpc>
                <a:spcPct val="98000"/>
              </a:lnSpc>
              <a:spcBef>
                <a:spcPts val="200"/>
              </a:spcBef>
              <a:spcAft>
                <a:spcPts val="0"/>
              </a:spcAft>
            </a:pPr>
            <a:r>
              <a:rPr sz="1000" b="0" i="0">
                <a:solidFill>
                  <a:srgbClr val="838E9F"/>
                </a:solidFill>
                <a:latin typeface="Calibri"/>
              </a:rPr>
              <a:t>Outer and inner wheel longitudinal distance</a:t>
            </a:r>
          </a:p>
        </p:txBody>
      </p:sp>
      <p:sp>
        <p:nvSpPr>
          <p:cNvPr id="15" name="Rectangle 14"/>
          <p:cNvSpPr/>
          <p:nvPr/>
        </p:nvSpPr>
        <p:spPr>
          <a:xfrm>
            <a:off x="8970035"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970035"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98051"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0.0762 m</a:t>
            </a:r>
          </a:p>
          <a:p>
            <a:pPr algn="l">
              <a:lnSpc>
                <a:spcPct val="98000"/>
              </a:lnSpc>
              <a:spcBef>
                <a:spcPts val="200"/>
              </a:spcBef>
              <a:spcAft>
                <a:spcPts val="0"/>
              </a:spcAft>
            </a:pPr>
            <a:r>
              <a:rPr sz="1000" b="0" i="0">
                <a:solidFill>
                  <a:srgbClr val="838E9F"/>
                </a:solidFill>
                <a:latin typeface="Calibri"/>
              </a:rPr>
              <a:t>Wheel radius</a:t>
            </a:r>
          </a:p>
        </p:txBody>
      </p:sp>
      <p:sp>
        <p:nvSpPr>
          <p:cNvPr id="18" name="TextBox 17"/>
          <p:cNvSpPr txBox="1"/>
          <p:nvPr/>
        </p:nvSpPr>
        <p:spPr>
          <a:xfrm>
            <a:off x="566928" y="2377439"/>
            <a:ext cx="6914125" cy="367588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The four mecanum wheels sit non-collinearly rather than at the corners of a rectangle: the pair nearer the camera is visibly offset along the length from the pair behind.</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The vertical mast carries the three ultraviolet tubes and the stepper axis of the cargo arm.</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The mast and its payload sit within the plane of the lidar (the black unit above the battery) and are the cause of the self-occlusion sector measured later.</a:t>
            </a:r>
          </a:p>
        </p:txBody>
      </p:sp>
      <p:pic>
        <p:nvPicPr>
          <p:cNvPr id="19" name="Picture 18" descr="fig03.png"/>
          <p:cNvPicPr>
            <a:picLocks noChangeAspect="1"/>
          </p:cNvPicPr>
          <p:nvPr/>
        </p:nvPicPr>
        <p:blipFill>
          <a:blip r:embed="rId2"/>
          <a:stretch>
            <a:fillRect/>
          </a:stretch>
        </p:blipFill>
        <p:spPr>
          <a:xfrm>
            <a:off x="8321642" y="2377439"/>
            <a:ext cx="2846584" cy="3675888"/>
          </a:xfrm>
          <a:prstGeom prst="rect">
            <a:avLst/>
          </a:prstGeom>
        </p:spPr>
      </p:pic>
      <p:sp>
        <p:nvSpPr>
          <p:cNvPr id="20" name="TextBox 19"/>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21" name="TextBox 20"/>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platform, as measured rather than as specified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Table 1.1 · every figure read off the machine, except the lidar range specification</a:t>
            </a:r>
          </a:p>
        </p:txBody>
      </p:sp>
      <p:sp>
        <p:nvSpPr>
          <p:cNvPr id="6" name="TextBox 5"/>
          <p:cNvSpPr txBox="1"/>
          <p:nvPr/>
        </p:nvSpPr>
        <p:spPr>
          <a:xfrm>
            <a:off x="621792" y="1362456"/>
            <a:ext cx="2875888" cy="336804"/>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
            </a:r>
          </a:p>
        </p:txBody>
      </p:sp>
      <p:sp>
        <p:nvSpPr>
          <p:cNvPr id="7" name="TextBox 6"/>
          <p:cNvSpPr txBox="1"/>
          <p:nvPr/>
        </p:nvSpPr>
        <p:spPr>
          <a:xfrm>
            <a:off x="3607408" y="1362456"/>
            <a:ext cx="7962494" cy="336804"/>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
            </a:r>
          </a:p>
        </p:txBody>
      </p:sp>
      <p:sp>
        <p:nvSpPr>
          <p:cNvPr id="8" name="Rectangle 7"/>
          <p:cNvSpPr/>
          <p:nvPr/>
        </p:nvSpPr>
        <p:spPr>
          <a:xfrm>
            <a:off x="566928" y="1606387"/>
            <a:ext cx="11057839" cy="1645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738975"/>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Mass</a:t>
            </a:r>
          </a:p>
        </p:txBody>
      </p:sp>
      <p:sp>
        <p:nvSpPr>
          <p:cNvPr id="10" name="TextBox 9"/>
          <p:cNvSpPr txBox="1"/>
          <p:nvPr/>
        </p:nvSpPr>
        <p:spPr>
          <a:xfrm>
            <a:off x="3607408" y="1738975"/>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45.54 kg</a:t>
            </a:r>
          </a:p>
        </p:txBody>
      </p:sp>
      <p:sp>
        <p:nvSpPr>
          <p:cNvPr id="11" name="Rectangle 10"/>
          <p:cNvSpPr/>
          <p:nvPr/>
        </p:nvSpPr>
        <p:spPr>
          <a:xfrm>
            <a:off x="566928" y="2016343"/>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075779"/>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Half track width</a:t>
            </a:r>
          </a:p>
        </p:txBody>
      </p:sp>
      <p:sp>
        <p:nvSpPr>
          <p:cNvPr id="13" name="TextBox 12"/>
          <p:cNvSpPr txBox="1"/>
          <p:nvPr/>
        </p:nvSpPr>
        <p:spPr>
          <a:xfrm>
            <a:off x="3607408" y="2075779"/>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0.15769 m, identical for all four wheels</a:t>
            </a:r>
          </a:p>
        </p:txBody>
      </p:sp>
      <p:sp>
        <p:nvSpPr>
          <p:cNvPr id="14" name="Rectangle 13"/>
          <p:cNvSpPr/>
          <p:nvPr/>
        </p:nvSpPr>
        <p:spPr>
          <a:xfrm>
            <a:off x="566928" y="2353147"/>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2412583"/>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Drive motors</a:t>
            </a:r>
          </a:p>
        </p:txBody>
      </p:sp>
      <p:sp>
        <p:nvSpPr>
          <p:cNvPr id="16" name="TextBox 15"/>
          <p:cNvSpPr txBox="1"/>
          <p:nvPr/>
        </p:nvSpPr>
        <p:spPr>
          <a:xfrm>
            <a:off x="3607408" y="2412583"/>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4 × geared DC, 24 V, 1:47 reduction, 60 rpm rated</a:t>
            </a:r>
          </a:p>
        </p:txBody>
      </p:sp>
      <p:sp>
        <p:nvSpPr>
          <p:cNvPr id="17" name="Rectangle 16"/>
          <p:cNvSpPr/>
          <p:nvPr/>
        </p:nvSpPr>
        <p:spPr>
          <a:xfrm>
            <a:off x="566928" y="2689951"/>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1792" y="2749387"/>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Encoders</a:t>
            </a:r>
          </a:p>
        </p:txBody>
      </p:sp>
      <p:sp>
        <p:nvSpPr>
          <p:cNvPr id="19" name="TextBox 18"/>
          <p:cNvSpPr txBox="1"/>
          <p:nvPr/>
        </p:nvSpPr>
        <p:spPr>
          <a:xfrm>
            <a:off x="3607408" y="2749387"/>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Front pair GTK08, 186,264 counts/rev at the wheel; rear pair optical, 93,132</a:t>
            </a:r>
          </a:p>
        </p:txBody>
      </p:sp>
      <p:sp>
        <p:nvSpPr>
          <p:cNvPr id="20" name="Rectangle 19"/>
          <p:cNvSpPr/>
          <p:nvPr/>
        </p:nvSpPr>
        <p:spPr>
          <a:xfrm>
            <a:off x="566928" y="3026755"/>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3086191"/>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Motor drivers</a:t>
            </a:r>
          </a:p>
        </p:txBody>
      </p:sp>
      <p:sp>
        <p:nvSpPr>
          <p:cNvPr id="22" name="TextBox 21"/>
          <p:cNvSpPr txBox="1"/>
          <p:nvPr/>
        </p:nvSpPr>
        <p:spPr>
          <a:xfrm>
            <a:off x="3607408" y="3086191"/>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2 × dual-channel, 20 A continuous, 1.5 V logic threshold</a:t>
            </a:r>
          </a:p>
        </p:txBody>
      </p:sp>
      <p:sp>
        <p:nvSpPr>
          <p:cNvPr id="23" name="Rectangle 22"/>
          <p:cNvSpPr/>
          <p:nvPr/>
        </p:nvSpPr>
        <p:spPr>
          <a:xfrm>
            <a:off x="566928" y="3363559"/>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1792" y="3422995"/>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Real-time controller</a:t>
            </a:r>
          </a:p>
        </p:txBody>
      </p:sp>
      <p:sp>
        <p:nvSpPr>
          <p:cNvPr id="25" name="TextBox 24"/>
          <p:cNvSpPr txBox="1"/>
          <p:nvPr/>
        </p:nvSpPr>
        <p:spPr>
          <a:xfrm>
            <a:off x="3607408" y="3422995"/>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ESP32, 100 Hz control loop, hardware quadrature decoding</a:t>
            </a:r>
          </a:p>
        </p:txBody>
      </p:sp>
      <p:sp>
        <p:nvSpPr>
          <p:cNvPr id="26" name="Rectangle 25"/>
          <p:cNvSpPr/>
          <p:nvPr/>
        </p:nvSpPr>
        <p:spPr>
          <a:xfrm>
            <a:off x="566928" y="3700363"/>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3759799"/>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Host computer</a:t>
            </a:r>
          </a:p>
        </p:txBody>
      </p:sp>
      <p:sp>
        <p:nvSpPr>
          <p:cNvPr id="28" name="TextBox 27"/>
          <p:cNvSpPr txBox="1"/>
          <p:nvPr/>
        </p:nvSpPr>
        <p:spPr>
          <a:xfrm>
            <a:off x="3607408" y="3759799"/>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Raspberry Pi 5, Ubuntu 24.04, ROS 2</a:t>
            </a:r>
          </a:p>
        </p:txBody>
      </p:sp>
      <p:sp>
        <p:nvSpPr>
          <p:cNvPr id="29" name="Rectangle 28"/>
          <p:cNvSpPr/>
          <p:nvPr/>
        </p:nvSpPr>
        <p:spPr>
          <a:xfrm>
            <a:off x="566928" y="4037167"/>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1792" y="4096603"/>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Lidar</a:t>
            </a:r>
          </a:p>
        </p:txBody>
      </p:sp>
      <p:sp>
        <p:nvSpPr>
          <p:cNvPr id="31" name="TextBox 30"/>
          <p:cNvSpPr txBox="1"/>
          <p:nvPr/>
        </p:nvSpPr>
        <p:spPr>
          <a:xfrm>
            <a:off x="3607408" y="4096603"/>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YDLIDAR X4 Pro, single-plane triangulation, 360°, 0.12–10 m rated</a:t>
            </a:r>
          </a:p>
        </p:txBody>
      </p:sp>
      <p:sp>
        <p:nvSpPr>
          <p:cNvPr id="32" name="Rectangle 31"/>
          <p:cNvSpPr/>
          <p:nvPr/>
        </p:nvSpPr>
        <p:spPr>
          <a:xfrm>
            <a:off x="566928" y="4373971"/>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21792" y="4433407"/>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Power</a:t>
            </a:r>
          </a:p>
        </p:txBody>
      </p:sp>
      <p:sp>
        <p:nvSpPr>
          <p:cNvPr id="34" name="TextBox 33"/>
          <p:cNvSpPr txBox="1"/>
          <p:nvPr/>
        </p:nvSpPr>
        <p:spPr>
          <a:xfrm>
            <a:off x="3607408" y="4433407"/>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LiFePO₄ 12.8 V 30 Ah, boost to 24 V drive, buck to 5 V logic</a:t>
            </a:r>
          </a:p>
        </p:txBody>
      </p:sp>
      <p:sp>
        <p:nvSpPr>
          <p:cNvPr id="35" name="Rectangle 34"/>
          <p:cNvSpPr/>
          <p:nvPr/>
        </p:nvSpPr>
        <p:spPr>
          <a:xfrm>
            <a:off x="566928" y="4710775"/>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1792" y="4770211"/>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Cargo arm and lighting</a:t>
            </a:r>
          </a:p>
        </p:txBody>
      </p:sp>
      <p:sp>
        <p:nvSpPr>
          <p:cNvPr id="37" name="TextBox 36"/>
          <p:cNvSpPr txBox="1"/>
          <p:nvPr/>
        </p:nvSpPr>
        <p:spPr>
          <a:xfrm>
            <a:off x="3607408" y="4770211"/>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Two lateral and one vertical stepper axis, three-tube staged UV</a:t>
            </a:r>
          </a:p>
        </p:txBody>
      </p:sp>
      <p:sp>
        <p:nvSpPr>
          <p:cNvPr id="38" name="Rectangle 37"/>
          <p:cNvSpPr/>
          <p:nvPr/>
        </p:nvSpPr>
        <p:spPr>
          <a:xfrm>
            <a:off x="566928" y="5047579"/>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21792" y="5107015"/>
            <a:ext cx="2875888"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Operating velocity limit</a:t>
            </a:r>
          </a:p>
        </p:txBody>
      </p:sp>
      <p:sp>
        <p:nvSpPr>
          <p:cNvPr id="40" name="TextBox 39"/>
          <p:cNvSpPr txBox="1"/>
          <p:nvPr/>
        </p:nvSpPr>
        <p:spPr>
          <a:xfrm>
            <a:off x="3607408" y="5107015"/>
            <a:ext cx="7962494" cy="336804"/>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0.12 m/s linear, 0.30 rad/s yaw</a:t>
            </a:r>
          </a:p>
        </p:txBody>
      </p:sp>
      <p:sp>
        <p:nvSpPr>
          <p:cNvPr id="41" name="Rectangle 40"/>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manufacturer’s lidar accuracy figure is treated as a factory acceptance condition, not as a runtime error distribution.</a:t>
            </a:r>
          </a:p>
        </p:txBody>
      </p:sp>
      <p:sp>
        <p:nvSpPr>
          <p:cNvPr id="44" name="TextBox 43"/>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45" name="TextBox 44"/>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Why the drive controller changed, in one calculation</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94944"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558,792</a:t>
            </a:r>
          </a:p>
          <a:p>
            <a:pPr algn="l">
              <a:lnSpc>
                <a:spcPct val="98000"/>
              </a:lnSpc>
              <a:spcBef>
                <a:spcPts val="200"/>
              </a:spcBef>
              <a:spcAft>
                <a:spcPts val="0"/>
              </a:spcAft>
            </a:pPr>
            <a:r>
              <a:rPr sz="1000" b="0" i="0">
                <a:solidFill>
                  <a:srgbClr val="838E9F"/>
                </a:solidFill>
                <a:latin typeface="Calibri"/>
              </a:rPr>
              <a:t>Counted encoder edges per second, four motors at rated speed</a:t>
            </a:r>
          </a:p>
        </p:txBody>
      </p:sp>
      <p:sp>
        <p:nvSpPr>
          <p:cNvPr id="8" name="Rectangle 7"/>
          <p:cNvSpPr/>
          <p:nvPr/>
        </p:nvSpPr>
        <p:spPr>
          <a:xfrm>
            <a:off x="3367963"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3367963" y="1316736"/>
            <a:ext cx="2654731"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95979"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16 MHz</a:t>
            </a:r>
          </a:p>
          <a:p>
            <a:pPr algn="l">
              <a:lnSpc>
                <a:spcPct val="98000"/>
              </a:lnSpc>
              <a:spcBef>
                <a:spcPts val="200"/>
              </a:spcBef>
              <a:spcAft>
                <a:spcPts val="0"/>
              </a:spcAft>
            </a:pPr>
            <a:r>
              <a:rPr sz="1000" b="0" i="0">
                <a:solidFill>
                  <a:srgbClr val="838E9F"/>
                </a:solidFill>
                <a:latin typeface="Calibri"/>
              </a:rPr>
              <a:t>ATmega2560 instruction rate</a:t>
            </a:r>
          </a:p>
        </p:txBody>
      </p:sp>
      <p:sp>
        <p:nvSpPr>
          <p:cNvPr id="11" name="Rectangle 10"/>
          <p:cNvSpPr/>
          <p:nvPr/>
        </p:nvSpPr>
        <p:spPr>
          <a:xfrm>
            <a:off x="6168999"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68999" y="1316736"/>
            <a:ext cx="2654731" cy="41148"/>
          </a:xfrm>
          <a:prstGeom prst="rect">
            <a:avLst/>
          </a:prstGeom>
          <a:solidFill>
            <a:srgbClr val="B03A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97015"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B03A34"/>
                </a:solidFill>
                <a:latin typeface="Cambria"/>
              </a:rPr>
              <a:t>≈ 29</a:t>
            </a:r>
          </a:p>
          <a:p>
            <a:pPr algn="l">
              <a:lnSpc>
                <a:spcPct val="98000"/>
              </a:lnSpc>
              <a:spcBef>
                <a:spcPts val="200"/>
              </a:spcBef>
              <a:spcAft>
                <a:spcPts val="0"/>
              </a:spcAft>
            </a:pPr>
            <a:r>
              <a:rPr sz="1000" b="0" i="0">
                <a:solidFill>
                  <a:srgbClr val="838E9F"/>
                </a:solidFill>
                <a:latin typeface="Calibri"/>
              </a:rPr>
              <a:t>Cycles available per edge for the entire interrupt routine</a:t>
            </a:r>
          </a:p>
        </p:txBody>
      </p:sp>
      <p:sp>
        <p:nvSpPr>
          <p:cNvPr id="14" name="Rectangle 13"/>
          <p:cNvSpPr/>
          <p:nvPr/>
        </p:nvSpPr>
        <p:spPr>
          <a:xfrm>
            <a:off x="8970035"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970035"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098051"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4</a:t>
            </a:r>
          </a:p>
          <a:p>
            <a:pPr algn="l">
              <a:lnSpc>
                <a:spcPct val="98000"/>
              </a:lnSpc>
              <a:spcBef>
                <a:spcPts val="200"/>
              </a:spcBef>
              <a:spcAft>
                <a:spcPts val="0"/>
              </a:spcAft>
            </a:pPr>
            <a:r>
              <a:rPr sz="1000" b="0" i="0">
                <a:solidFill>
                  <a:srgbClr val="838E9F"/>
                </a:solidFill>
                <a:latin typeface="Calibri"/>
              </a:rPr>
              <a:t>ESP32 hardware quadrature units, one per motor</a:t>
            </a:r>
          </a:p>
        </p:txBody>
      </p:sp>
      <p:sp>
        <p:nvSpPr>
          <p:cNvPr id="17" name="TextBox 16"/>
          <p:cNvSpPr txBox="1"/>
          <p:nvPr/>
        </p:nvSpPr>
        <p:spPr>
          <a:xfrm>
            <a:off x="566928" y="2377439"/>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THE TIMING ARGUMENT</a:t>
            </a:r>
          </a:p>
        </p:txBody>
      </p:sp>
      <p:sp>
        <p:nvSpPr>
          <p:cNvPr id="18" name="TextBox 17"/>
          <p:cNvSpPr txBox="1"/>
          <p:nvPr/>
        </p:nvSpPr>
        <p:spPr>
          <a:xfrm>
            <a:off x="566928" y="2779775"/>
            <a:ext cx="5277459" cy="327355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Front encoders give 186,264 counts per revolution at the wheel, rear 93,132, both after quadrature decoding and gear reduction.</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At rated speed the output shaft turns once per second.</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Interrupt entry, register save, decode, counter update and return do not fit in 29 cycles. Encoder counting alone saturates the processor.</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ESP32’s pulse counter decodes quadrature in hardware, so the processor is free for the 100 Hz loop and the serial link.</a:t>
            </a:r>
          </a:p>
        </p:txBody>
      </p:sp>
      <p:sp>
        <p:nvSpPr>
          <p:cNvPr id="19" name="TextBox 18"/>
          <p:cNvSpPr txBox="1"/>
          <p:nvPr/>
        </p:nvSpPr>
        <p:spPr>
          <a:xfrm>
            <a:off x="6347307" y="2377439"/>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THE INTERFACE PROBLEM IT CREATED</a:t>
            </a:r>
          </a:p>
        </p:txBody>
      </p:sp>
      <p:sp>
        <p:nvSpPr>
          <p:cNvPr id="20" name="TextBox 19"/>
          <p:cNvSpPr txBox="1"/>
          <p:nvPr/>
        </p:nvSpPr>
        <p:spPr>
          <a:xfrm>
            <a:off x="6347307" y="2779775"/>
            <a:ext cx="5277459" cy="327355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ESP32 inputs are 3.3 V parts with an absolute maximum near 3.6 V. The fitted encoders produce close to 4.7 V.</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All eight encoder channels pass through an eight-channel bidirectional level translator on discrete transistors.</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Only the feedback direction is translated. The drivers threshold at 1.5 V and accept 3.3 V command signals directly.</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 fault in the command path moves the machine. A fault in the feedback path only misreports it.</a:t>
            </a:r>
          </a:p>
        </p:txBody>
      </p:sp>
      <p:sp>
        <p:nvSpPr>
          <p:cNvPr id="21" name="TextBox 2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22" name="TextBox 2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Deployed electronics, end to end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5 · organised in three layers, each on its own rail colour</a:t>
            </a:r>
          </a:p>
        </p:txBody>
      </p:sp>
      <p:sp>
        <p:nvSpPr>
          <p:cNvPr id="6" name="TextBox 5"/>
          <p:cNvSpPr txBox="1"/>
          <p:nvPr/>
        </p:nvSpPr>
        <p:spPr>
          <a:xfrm>
            <a:off x="566928" y="1316736"/>
            <a:ext cx="6692969" cy="473659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1" i="0">
                <a:solidFill>
                  <a:srgbClr val="3B4557"/>
                </a:solidFill>
                <a:latin typeface="Calibri"/>
              </a:rPr>
              <a:t>Power distribution. </a:t>
            </a:r>
            <a:r>
              <a:rPr sz="1300" b="0" i="0">
                <a:solidFill>
                  <a:srgbClr val="3B4557"/>
                </a:solidFill>
                <a:latin typeface="Calibri"/>
              </a:rPr>
              <a:t>LiFePO₄ 12.8 V 30 Ah, boosted to the 24 V drive rail and bucked to the 5 V logic rail.</a:t>
            </a:r>
          </a:p>
          <a:p>
            <a:pPr algn="l" marL="182880" indent="-182880">
              <a:lnSpc>
                <a:spcPct val="105000"/>
              </a:lnSpc>
              <a:spcBef>
                <a:spcPts val="0"/>
              </a:spcBef>
              <a:spcAft>
                <a:spcPts val="900"/>
              </a:spcAft>
              <a:buClr>
                <a:srgbClr val="4C7AA8"/>
              </a:buClr>
              <a:buFont typeface="Arial"/>
              <a:buChar char="•"/>
            </a:pPr>
            <a:r>
              <a:rPr sz="1300" b="1" i="0">
                <a:solidFill>
                  <a:srgbClr val="3B4557"/>
                </a:solidFill>
                <a:latin typeface="Calibri"/>
              </a:rPr>
              <a:t>Compute and command. </a:t>
            </a:r>
            <a:r>
              <a:rPr sz="1300" b="0" i="0">
                <a:solidFill>
                  <a:srgbClr val="3B4557"/>
                </a:solidFill>
                <a:latin typeface="Calibri"/>
              </a:rPr>
              <a:t>Raspberry Pi 5 for planning and perception; ESP32 for the 100 Hz real-time loop; the original Arduino Mega reassigned to the cargo arm and the ultraviolet lighting rather than discarded.</a:t>
            </a:r>
          </a:p>
          <a:p>
            <a:pPr algn="l" marL="182880" indent="-182880">
              <a:lnSpc>
                <a:spcPct val="105000"/>
              </a:lnSpc>
              <a:spcBef>
                <a:spcPts val="0"/>
              </a:spcBef>
              <a:spcAft>
                <a:spcPts val="900"/>
              </a:spcAft>
              <a:buClr>
                <a:srgbClr val="4C7AA8"/>
              </a:buClr>
              <a:buFont typeface="Arial"/>
              <a:buChar char="•"/>
            </a:pPr>
            <a:r>
              <a:rPr sz="1300" b="1" i="0">
                <a:solidFill>
                  <a:srgbClr val="3B4557"/>
                </a:solidFill>
                <a:latin typeface="Calibri"/>
              </a:rPr>
              <a:t>Drive and odometry feedback. </a:t>
            </a:r>
            <a:r>
              <a:rPr sz="1300" b="0" i="0">
                <a:solidFill>
                  <a:srgbClr val="3B4557"/>
                </a:solidFill>
                <a:latin typeface="Calibri"/>
              </a:rPr>
              <a:t>Four motors through two dual-channel drivers, with all eight encoder channels returning through the level translator.</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control constants shown against the microcontroller are the deployed ones, and they are the values derived later in this section.</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encoder rows carry their wire colours, because the front and rear motors do not share a convention, and that difference has already put a channel on the wrong pin once during commissioning.</a:t>
            </a:r>
          </a:p>
        </p:txBody>
      </p:sp>
      <p:pic>
        <p:nvPicPr>
          <p:cNvPr id="7" name="Picture 6" descr="fig05.png"/>
          <p:cNvPicPr>
            <a:picLocks noChangeAspect="1"/>
          </p:cNvPicPr>
          <p:nvPr/>
        </p:nvPicPr>
        <p:blipFill>
          <a:blip r:embed="rId2"/>
          <a:stretch>
            <a:fillRect/>
          </a:stretch>
        </p:blipFill>
        <p:spPr>
          <a:xfrm>
            <a:off x="7866200" y="1316736"/>
            <a:ext cx="3536311" cy="4736592"/>
          </a:xfrm>
          <a:prstGeom prst="rect">
            <a:avLst/>
          </a:prstGeom>
        </p:spPr>
      </p:pic>
      <p:sp>
        <p:nvSpPr>
          <p:cNvPr id="8" name="TextBox 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9" name="TextBox 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Kinematic model</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6 · dimensioned plan view, taken from the mechanical assembly</a:t>
            </a:r>
          </a:p>
        </p:txBody>
      </p:sp>
      <p:sp>
        <p:nvSpPr>
          <p:cNvPr id="6" name="TextBox 5"/>
          <p:cNvSpPr txBox="1"/>
          <p:nvPr/>
        </p:nvSpPr>
        <p:spPr>
          <a:xfrm>
            <a:off x="566928" y="1316736"/>
            <a:ext cx="5587185"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The outer diagonal pair (front-right and rear-left) sits at l₁ = 0.403 m from the body centre; the inner pair at l₂ = 0.333 m. Half track d = 0.15769 m is common to all four.</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Two derived constants carry the asymmetry through every equation: Kₒ = l₁ + d = 0.5607 m and Kᵢ = l₂ + d = 0.4907 m.</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ωᶠᴿ = (u + v + ωKₒ)/r,  ωᶠᴸ = (u − v − ωKᵢ)/r,  ωᴿᴿ = (u − v + ωKᵢ)/r,  ωᴿᴸ = (u + v − ωKₒ)/r.</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Two width figures appear in the report and they measure the same span by different means: 360 mm by tape, 375.4 mm from the assembly. Every experimental result is referenced to the tape figure.</a:t>
            </a:r>
          </a:p>
        </p:txBody>
      </p:sp>
      <p:pic>
        <p:nvPicPr>
          <p:cNvPr id="7" name="Picture 6" descr="fig06.png"/>
          <p:cNvPicPr>
            <a:picLocks noChangeAspect="1"/>
          </p:cNvPicPr>
          <p:nvPr/>
        </p:nvPicPr>
        <p:blipFill>
          <a:blip r:embed="rId2"/>
          <a:stretch>
            <a:fillRect/>
          </a:stretch>
        </p:blipFill>
        <p:spPr>
          <a:xfrm>
            <a:off x="6538161" y="1876316"/>
            <a:ext cx="5086606" cy="2922486"/>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Substituting a single shared coefficient anywhere in the software reduces the machine, in that code path alone, to an ordinary symmetric mecanum platform.</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A free observable, and why it is worth less than it looks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400" b="0" i="0">
                <a:solidFill>
                  <a:srgbClr val="3B4557"/>
                </a:solidFill>
                <a:latin typeface="Calibri"/>
              </a:rPr>
              <a:t>The first and fourth rows of the inverse kinematic matrix share a translational term, and the second and third share its complement. Each diagonal pair therefore yields an independent yaw-rate estimate on its own lever arm.</a:t>
            </a:r>
          </a:p>
          <a:p>
            <a:pPr algn="l" marL="182880" indent="-182880">
              <a:lnSpc>
                <a:spcPct val="105000"/>
              </a:lnSpc>
              <a:spcBef>
                <a:spcPts val="0"/>
              </a:spcBef>
              <a:spcAft>
                <a:spcPts val="1200"/>
              </a:spcAft>
              <a:buClr>
                <a:srgbClr val="4C7AA8"/>
              </a:buClr>
              <a:buFont typeface="Arial"/>
              <a:buChar char="•"/>
            </a:pPr>
            <a:r>
              <a:rPr sz="1400" b="0" i="0">
                <a:solidFill>
                  <a:srgbClr val="3B4557"/>
                </a:solidFill>
                <a:latin typeface="Calibri"/>
              </a:rPr>
              <a:t>The mean of the two is the published yaw rate. Their difference is an encoder-derived yaw-consistency residual, obtained without any additional sensor.</a:t>
            </a:r>
          </a:p>
          <a:p>
            <a:pPr algn="l" marL="182880" indent="-182880">
              <a:lnSpc>
                <a:spcPct val="105000"/>
              </a:lnSpc>
              <a:spcBef>
                <a:spcPts val="0"/>
              </a:spcBef>
              <a:spcAft>
                <a:spcPts val="1200"/>
              </a:spcAft>
              <a:buClr>
                <a:srgbClr val="4C7AA8"/>
              </a:buClr>
              <a:buFont typeface="Arial"/>
              <a:buChar char="•"/>
            </a:pPr>
            <a:r>
              <a:rPr sz="1400" b="0" i="0">
                <a:solidFill>
                  <a:srgbClr val="3B4557"/>
                </a:solidFill>
                <a:latin typeface="Calibri"/>
              </a:rPr>
              <a:t>It is not a calibrated measurement of slip. Unequal effective wheel radii, encoder scale error, backlash and mechanical compliance all contribute to the same residual.</a:t>
            </a:r>
          </a:p>
          <a:p>
            <a:pPr algn="l" marL="182880" indent="-182880">
              <a:lnSpc>
                <a:spcPct val="105000"/>
              </a:lnSpc>
              <a:spcBef>
                <a:spcPts val="0"/>
              </a:spcBef>
              <a:spcAft>
                <a:spcPts val="1200"/>
              </a:spcAft>
              <a:buClr>
                <a:srgbClr val="4C7AA8"/>
              </a:buClr>
              <a:buFont typeface="Arial"/>
              <a:buChar char="•"/>
            </a:pPr>
            <a:r>
              <a:rPr sz="1400" b="0" i="0">
                <a:solidFill>
                  <a:srgbClr val="3B4557"/>
                </a:solidFill>
                <a:latin typeface="Calibri"/>
              </a:rPr>
              <a:t>The two estimates are formed from disjoint pairs of wheels, which is what makes them separate estimates, not the lever arms differing. A symmetric platform carries a residual of exactly the same form.</a:t>
            </a:r>
          </a:p>
          <a:p>
            <a:pPr algn="l" marL="182880" indent="-182880">
              <a:lnSpc>
                <a:spcPct val="105000"/>
              </a:lnSpc>
              <a:spcBef>
                <a:spcPts val="0"/>
              </a:spcBef>
              <a:spcAft>
                <a:spcPts val="1200"/>
              </a:spcAft>
              <a:buClr>
                <a:srgbClr val="4C7AA8"/>
              </a:buClr>
              <a:buFont typeface="Arial"/>
              <a:buChar char="•"/>
            </a:pPr>
            <a:r>
              <a:rPr sz="1400" b="0" i="0">
                <a:solidFill>
                  <a:srgbClr val="3B4557"/>
                </a:solidFill>
                <a:latin typeface="Calibri"/>
              </a:rPr>
              <a:t>What the differing lever arms change is the weighting: eω = (r/2)(δₒ/Kₒ − δᵢ/Kᵢ). On a symmetric platform the common-mode component cancels exactly. Here it survives, scaled by (r/2)(1/Kₒ − 1/Kᵢ) = 0.0097.</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asymmetry does not create the observable. It makes the residual sensitive to a class of error a symmetric layout cancels, at about one per cent of that error’s magnitude.</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per-wheel velocity loop</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7 · as the deployed firmware runs it, one loop per wheel at 100 Hz</a:t>
            </a:r>
          </a:p>
        </p:txBody>
      </p:sp>
      <p:sp>
        <p:nvSpPr>
          <p:cNvPr id="6" name="TextBox 5"/>
          <p:cNvSpPr txBox="1"/>
          <p:nvPr/>
        </p:nvSpPr>
        <p:spPr>
          <a:xfrm>
            <a:off x="566928" y="1316736"/>
            <a:ext cx="4702558" cy="473659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Not a plain PID. A two-term feedforward model supplies most of the drive from the commanded velocity alone, and the three feedback terms correct only what the feedforward gets wrong.</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That separation is what permits the integral gain to be as large as it is without the loop becoming oscillatory.</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The derivative term acts on the measurement rather than on the error, so a step in the commanded velocity produces no derivative kick.</a:t>
            </a:r>
          </a:p>
          <a:p>
            <a:pPr algn="l" marL="182880" indent="-182880">
              <a:lnSpc>
                <a:spcPct val="105000"/>
              </a:lnSpc>
              <a:spcBef>
                <a:spcPts val="0"/>
              </a:spcBef>
              <a:spcAft>
                <a:spcPts val="900"/>
              </a:spcAft>
              <a:buClr>
                <a:srgbClr val="4C7AA8"/>
              </a:buClr>
              <a:buFont typeface="Arial"/>
              <a:buChar char="•"/>
            </a:pPr>
            <a:r>
              <a:rPr sz="1450" b="0" i="0">
                <a:solidFill>
                  <a:srgbClr val="3B4557"/>
                </a:solidFill>
                <a:latin typeface="Calibri"/>
              </a:rPr>
              <a:t>It is taken through a heavier filter than the velocity signal, because differentiating amplifies whatever noise survives the first filter.</a:t>
            </a:r>
          </a:p>
        </p:txBody>
      </p:sp>
      <p:pic>
        <p:nvPicPr>
          <p:cNvPr id="7" name="Picture 6" descr="fig07.png"/>
          <p:cNvPicPr>
            <a:picLocks noChangeAspect="1"/>
          </p:cNvPicPr>
          <p:nvPr/>
        </p:nvPicPr>
        <p:blipFill>
          <a:blip r:embed="rId2"/>
          <a:stretch>
            <a:fillRect/>
          </a:stretch>
        </p:blipFill>
        <p:spPr>
          <a:xfrm>
            <a:off x="5653534" y="2199435"/>
            <a:ext cx="5971233" cy="2971193"/>
          </a:xfrm>
          <a:prstGeom prst="rect">
            <a:avLst/>
          </a:prstGeom>
        </p:spPr>
      </p:pic>
      <p:sp>
        <p:nvSpPr>
          <p:cNvPr id="8" name="TextBox 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9" name="TextBox 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feedforward was fitted, not tuned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8 · two-term model against measured open-loop data</a:t>
            </a:r>
          </a:p>
        </p:txBody>
      </p:sp>
      <p:sp>
        <p:nvSpPr>
          <p:cNvPr id="6" name="TextBox 5"/>
          <p:cNvSpPr txBox="1"/>
          <p:nvPr/>
        </p:nvSpPr>
        <p:spPr>
          <a:xfrm>
            <a:off x="566928" y="1316736"/>
            <a:ext cx="514487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Form: a speed-proportional term plus a static term carrying the sign of the command.</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The speed-proportional coefficient sits between 37.3 and 38.4 drive counts per rad/s across the four motors, a spread of 3 per cent. The static term is 8 counts on all four.</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Fitted against three independent open-loop campaigns: a manual drive logged at steady state, an automated sweep in 1.5 s windows, and a back-calculation from an earlier closed-loop run.</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The ratio of drive command to resulting wheel speed rises as speed falls, the signature of breakaway friction that a straight line through the origin cannot reproduce.</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The two-term fit holds every measured point inside 8 per cent, and the two high-confidence points inside 2.2 per cent.</a:t>
            </a:r>
          </a:p>
        </p:txBody>
      </p:sp>
      <p:pic>
        <p:nvPicPr>
          <p:cNvPr id="7" name="Picture 6" descr="fig08.png"/>
          <p:cNvPicPr>
            <a:picLocks noChangeAspect="1"/>
          </p:cNvPicPr>
          <p:nvPr/>
        </p:nvPicPr>
        <p:blipFill>
          <a:blip r:embed="rId2"/>
          <a:stretch>
            <a:fillRect/>
          </a:stretch>
        </p:blipFill>
        <p:spPr>
          <a:xfrm>
            <a:off x="6095847" y="2471469"/>
            <a:ext cx="5528919" cy="1732181"/>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static term is faded in across 0.05 to 0.20 rad/s rather than stepped, so a very small commanded velocity does not produce a discontinuity in the drive.</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Where the gains came from</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Including the part of the argument that does not work out</a:t>
            </a:r>
          </a:p>
        </p:txBody>
      </p:sp>
      <p:sp>
        <p:nvSpPr>
          <p:cNvPr id="6" name="TextBox 5"/>
          <p:cNvSpPr txBox="1"/>
          <p:nvPr/>
        </p:nvSpPr>
        <p:spPr>
          <a:xfrm>
            <a:off x="566928"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COMPUTED, NOT SEARCHED</a:t>
            </a:r>
          </a:p>
        </p:txBody>
      </p:sp>
      <p:sp>
        <p:nvSpPr>
          <p:cNvPr id="7" name="TextBox 6"/>
          <p:cNvSpPr txBox="1"/>
          <p:nvPr/>
        </p:nvSpPr>
        <p:spPr>
          <a:xfrm>
            <a:off x="566928"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Inverting the fitted slope gives a plant gain of about 0.0263 rad/s per drive count.</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For a first-order plant, direct synthesis fixes the integral gain from that and a chosen closed-loop time constant alone.</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τ = 0.15 s chosen (fifteen control periods, deliberately conservative), giving Kᵢ = 253. The deployed value is 250.</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That is the single largest change from the previous firmware, where it was 30. At 30 the integral moved roughly three drive counts per second; an air run in May settled in up to 3.79 s, and what was settling it was mostly the proportional term.</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Raising it eightfold was only safe because of the feedforward.</a:t>
            </a:r>
          </a:p>
        </p:txBody>
      </p:sp>
      <p:sp>
        <p:nvSpPr>
          <p:cNvPr id="8" name="TextBox 7"/>
          <p:cNvSpPr txBox="1"/>
          <p:nvPr/>
        </p:nvSpPr>
        <p:spPr>
          <a:xfrm>
            <a:off x="6347307"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THE GAIN WHOSE ARGUMENT WAS WRONG</a:t>
            </a:r>
          </a:p>
        </p:txBody>
      </p:sp>
      <p:sp>
        <p:nvSpPr>
          <p:cNvPr id="9" name="TextBox 8"/>
          <p:cNvSpPr txBox="1"/>
          <p:nvPr/>
        </p:nvSpPr>
        <p:spPr>
          <a:xfrm>
            <a:off x="6347307"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Kₚ = 45, from an assumed plant time constant of 0.18 s, plausible for a 100 W motor behind a 47:1 gearbox, but never measured, because every bench run to that point had logged steady-state points and no transients.</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Plant identification later put the true constant at about 0.09 s, half what had been assumed, which by the same formula calls for roughly 22.</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Two recomputed gains were run against the gain already in service, across sixteen combinations of setpoint and motor. Both produced more overshoot.</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The original value was kept, on measured evidence rather than on the theory that produced it.</a:t>
            </a:r>
          </a:p>
        </p:txBody>
      </p:sp>
      <p:sp>
        <p:nvSpPr>
          <p:cNvPr id="10" name="Rectangle 9"/>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deployed gain is right. The argument that originally justified it rested on a number that was wrong by a factor of two, and the report records it as such.</a:t>
            </a:r>
          </a:p>
        </p:txBody>
      </p:sp>
      <p:sp>
        <p:nvSpPr>
          <p:cNvPr id="13" name="TextBox 12"/>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4" name="TextBox 13"/>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Three arrangements that do more than the gains do</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350" b="1" i="0">
                <a:solidFill>
                  <a:srgbClr val="3B4557"/>
                </a:solidFill>
                <a:latin typeface="Calibri"/>
              </a:rPr>
              <a:t>The integral. </a:t>
            </a:r>
            <a:r>
              <a:rPr sz="1350" b="0" i="0">
                <a:solidFill>
                  <a:srgbClr val="3B4557"/>
                </a:solidFill>
                <a:latin typeface="Calibri"/>
              </a:rPr>
              <a:t>Clamped dynamically, to whatever command range is left after the feedforward and the proportional and derivative terms have taken their share, rather than to a fixed bound. The previous firmware’s fixed clamp let the integral state reach values it could never usefully act on.</a:t>
            </a:r>
          </a:p>
          <a:p>
            <a:pPr algn="l" marL="182880" indent="-182880">
              <a:lnSpc>
                <a:spcPct val="105000"/>
              </a:lnSpc>
              <a:spcBef>
                <a:spcPts val="0"/>
              </a:spcBef>
              <a:spcAft>
                <a:spcPts val="1200"/>
              </a:spcAft>
              <a:buClr>
                <a:srgbClr val="4C7AA8"/>
              </a:buClr>
              <a:buFont typeface="Arial"/>
              <a:buChar char="•"/>
            </a:pPr>
            <a:r>
              <a:rPr sz="1350" b="1" i="0">
                <a:solidFill>
                  <a:srgbClr val="3B4557"/>
                </a:solidFill>
                <a:latin typeface="Calibri"/>
              </a:rPr>
              <a:t>A slew limit of </a:t>
            </a:r>
            <a:r>
              <a:rPr sz="1350" b="0" i="0">
                <a:solidFill>
                  <a:srgbClr val="3B4557"/>
                </a:solidFill>
                <a:latin typeface="Calibri"/>
              </a:rPr>
              <a:t>12 rad/s², applied before the loop sees the command, so a step from the host cannot ask for an acceleration the hardware will not produce, the condition that drives an integrator into saturation in the first place.</a:t>
            </a:r>
          </a:p>
          <a:p>
            <a:pPr algn="l" marL="182880" indent="-182880">
              <a:lnSpc>
                <a:spcPct val="105000"/>
              </a:lnSpc>
              <a:spcBef>
                <a:spcPts val="0"/>
              </a:spcBef>
              <a:spcAft>
                <a:spcPts val="1200"/>
              </a:spcAft>
              <a:buClr>
                <a:srgbClr val="4C7AA8"/>
              </a:buClr>
              <a:buFont typeface="Arial"/>
              <a:buChar char="•"/>
            </a:pPr>
            <a:r>
              <a:rPr sz="1350" b="1" i="0">
                <a:solidFill>
                  <a:srgbClr val="3B4557"/>
                </a:solidFill>
                <a:latin typeface="Calibri"/>
              </a:rPr>
              <a:t>Minimum drive output. </a:t>
            </a:r>
            <a:r>
              <a:rPr sz="1350" b="0" i="0">
                <a:solidFill>
                  <a:srgbClr val="3B4557"/>
                </a:solidFill>
                <a:latin typeface="Calibri"/>
              </a:rPr>
              <a:t>Lowered from 15 counts to 5. The larger value suppressed audible hum but cut a dead zone through the middle of the range in which the controller does its fine regulation, and produced a limit cycle at low speed.</a:t>
            </a:r>
          </a:p>
          <a:p>
            <a:pPr algn="l" marL="182880" indent="-182880">
              <a:lnSpc>
                <a:spcPct val="105000"/>
              </a:lnSpc>
              <a:spcBef>
                <a:spcPts val="0"/>
              </a:spcBef>
              <a:spcAft>
                <a:spcPts val="1200"/>
              </a:spcAft>
              <a:buClr>
                <a:srgbClr val="4C7AA8"/>
              </a:buClr>
              <a:buFont typeface="Arial"/>
              <a:buChar char="•"/>
            </a:pPr>
            <a:r>
              <a:rPr sz="1350" b="1" i="0">
                <a:solidFill>
                  <a:srgbClr val="3B4557"/>
                </a:solidFill>
                <a:latin typeface="Calibri"/>
              </a:rPr>
              <a:t>Three trips per wheel. </a:t>
            </a:r>
            <a:r>
              <a:rPr sz="1350" b="0" i="0">
                <a:solidFill>
                  <a:srgbClr val="3B4557"/>
                </a:solidFill>
                <a:latin typeface="Calibri"/>
              </a:rPr>
              <a:t>Overspeed, stall, and a runaway detector looking for a saturated command pushing one way while the wheel turns the other. Drive sign and encoder sign must agree; if they disagree the loop sees positive feedback, and a motor rated at 60 rpm cannot overspeed its way past the overspeed threshold, so nothing else would catch it.</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Velocity ceiling 5.20 rad/s per wheel, chosen so the worst of the four motors needs about 208 of 255 drive counts, leaving roughly 18 per cent as feedback authority. That is an in-air figure.</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the loop tracks, in air and on the floor</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9 · wheel velocity against command, wheels free of the ground</a:t>
            </a:r>
          </a:p>
        </p:txBody>
      </p:sp>
      <p:sp>
        <p:nvSpPr>
          <p:cNvPr id="6" name="Rectangle 5"/>
          <p:cNvSpPr/>
          <p:nvPr/>
        </p:nvSpPr>
        <p:spPr>
          <a:xfrm>
            <a:off x="566928"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316736"/>
            <a:ext cx="3588410"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0.040–0.047</a:t>
            </a:r>
          </a:p>
          <a:p>
            <a:pPr algn="l">
              <a:lnSpc>
                <a:spcPct val="98000"/>
              </a:lnSpc>
              <a:spcBef>
                <a:spcPts val="200"/>
              </a:spcBef>
              <a:spcAft>
                <a:spcPts val="0"/>
              </a:spcAft>
            </a:pPr>
            <a:r>
              <a:rPr sz="1000" b="0" i="0">
                <a:solidFill>
                  <a:srgbClr val="838E9F"/>
                </a:solidFill>
                <a:latin typeface="Calibri"/>
              </a:rPr>
              <a:t>rad/s RMS per wheel, unloaded · 26,468 samples</a:t>
            </a:r>
          </a:p>
        </p:txBody>
      </p:sp>
      <p:sp>
        <p:nvSpPr>
          <p:cNvPr id="9" name="Rectangle 8"/>
          <p:cNvSpPr/>
          <p:nvPr/>
        </p:nvSpPr>
        <p:spPr>
          <a:xfrm>
            <a:off x="4301642"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01642" y="1316736"/>
            <a:ext cx="3588410"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29658"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0.066–0.074</a:t>
            </a:r>
          </a:p>
          <a:p>
            <a:pPr algn="l">
              <a:lnSpc>
                <a:spcPct val="98000"/>
              </a:lnSpc>
              <a:spcBef>
                <a:spcPts val="200"/>
              </a:spcBef>
              <a:spcAft>
                <a:spcPts val="0"/>
              </a:spcAft>
            </a:pPr>
            <a:r>
              <a:rPr sz="1000" b="0" i="0">
                <a:solidFill>
                  <a:srgbClr val="838E9F"/>
                </a:solidFill>
                <a:latin typeface="Calibri"/>
              </a:rPr>
              <a:t>rad/s RMS per wheel, under chassis weight · 35,248 samples</a:t>
            </a:r>
          </a:p>
        </p:txBody>
      </p:sp>
      <p:sp>
        <p:nvSpPr>
          <p:cNvPr id="12" name="Rectangle 11"/>
          <p:cNvSpPr/>
          <p:nvPr/>
        </p:nvSpPr>
        <p:spPr>
          <a:xfrm>
            <a:off x="8036356"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36356" y="1316736"/>
            <a:ext cx="3588410"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64372"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0.0 %</a:t>
            </a:r>
          </a:p>
          <a:p>
            <a:pPr algn="l">
              <a:lnSpc>
                <a:spcPct val="98000"/>
              </a:lnSpc>
              <a:spcBef>
                <a:spcPts val="200"/>
              </a:spcBef>
              <a:spcAft>
                <a:spcPts val="0"/>
              </a:spcAft>
            </a:pPr>
            <a:r>
              <a:rPr sz="1000" b="0" i="0">
                <a:solidFill>
                  <a:srgbClr val="838E9F"/>
                </a:solidFill>
                <a:latin typeface="Calibri"/>
              </a:rPr>
              <a:t>Saturated samples, every channel, every recorded run</a:t>
            </a:r>
          </a:p>
        </p:txBody>
      </p:sp>
      <p:sp>
        <p:nvSpPr>
          <p:cNvPr id="15" name="TextBox 14"/>
          <p:cNvSpPr txBox="1"/>
          <p:nvPr/>
        </p:nvSpPr>
        <p:spPr>
          <a:xfrm>
            <a:off x="566928" y="2377439"/>
            <a:ext cx="5144871" cy="367588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wheel reaches within 5 per cent of the commanded −2.207 rad/s in 0.20 s, overshoots by 3.5 per cent, and holds to a mean offset of 0.003 rad/s.</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Tracking error excursions coincide with commanded step edges, not with steady state.</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autonomous drive falls in the same band as the loaded case, which is the band that matters operationally.</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Largest drive demand observed at the operating velocity limit was 131 of 255, headroom in the command, not a measurement of torque or traction reserve.</a:t>
            </a:r>
          </a:p>
        </p:txBody>
      </p:sp>
      <p:pic>
        <p:nvPicPr>
          <p:cNvPr id="16" name="Picture 15" descr="fig09.png"/>
          <p:cNvPicPr>
            <a:picLocks noChangeAspect="1"/>
          </p:cNvPicPr>
          <p:nvPr/>
        </p:nvPicPr>
        <p:blipFill>
          <a:blip r:embed="rId2"/>
          <a:stretch>
            <a:fillRect/>
          </a:stretch>
        </p:blipFill>
        <p:spPr>
          <a:xfrm>
            <a:off x="6478320" y="2377439"/>
            <a:ext cx="4763973" cy="3675888"/>
          </a:xfrm>
          <a:prstGeom prst="rect">
            <a:avLst/>
          </a:prstGeom>
        </p:spPr>
      </p:pic>
      <p:sp>
        <p:nvSpPr>
          <p:cNvPr id="17" name="TextBox 16"/>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8" name="TextBox 17"/>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a prediction written down, then tested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10 · steady-state drive demand per unit wheel speed, unloaded against loaded</a:t>
            </a:r>
          </a:p>
        </p:txBody>
      </p:sp>
      <p:sp>
        <p:nvSpPr>
          <p:cNvPr id="6" name="TextBox 5"/>
          <p:cNvSpPr txBox="1"/>
          <p:nvPr/>
        </p:nvSpPr>
        <p:spPr>
          <a:xfrm>
            <a:off x="566928" y="1316736"/>
            <a:ext cx="514487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band of 10 to 30 per cent was written down before the measurement was made.</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Measured increases: 22.5, 23.6, 30.3 and 21.0 per cent, a mean of 24.</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Three of the four motors fall inside the predicted band. The rear-right reaches 30.3 per cent, 0.3 points above its upper bound, and is reported as an exceedance rather than rounded into agreement.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Two later runs the same afternoon, at the same commanded levels but over different patches of floor, gave means of 14 and 3 per cent.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So the increase is real while its size is not established to better than the width of the band it was predicted against. The likeliest reason is the surface rather than the load.</a:t>
            </a:r>
          </a:p>
        </p:txBody>
      </p:sp>
      <p:pic>
        <p:nvPicPr>
          <p:cNvPr id="7" name="Picture 6" descr="fig10.png"/>
          <p:cNvPicPr>
            <a:picLocks noChangeAspect="1"/>
          </p:cNvPicPr>
          <p:nvPr/>
        </p:nvPicPr>
        <p:blipFill>
          <a:blip r:embed="rId2"/>
          <a:stretch>
            <a:fillRect/>
          </a:stretch>
        </p:blipFill>
        <p:spPr>
          <a:xfrm>
            <a:off x="6095847" y="2464488"/>
            <a:ext cx="5528919" cy="1746142"/>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 staircase test holding position and sweeping demand is what would settle the figure. It has not been run on the floor. The one motor at the edge of the band is worth keeping in view when it is.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two checks that do not involve the floor</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94944"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2.22 × 10⁻¹⁶</a:t>
            </a:r>
          </a:p>
          <a:p>
            <a:pPr algn="l">
              <a:lnSpc>
                <a:spcPct val="98000"/>
              </a:lnSpc>
              <a:spcBef>
                <a:spcPts val="200"/>
              </a:spcBef>
              <a:spcAft>
                <a:spcPts val="0"/>
              </a:spcAft>
            </a:pPr>
            <a:r>
              <a:rPr sz="1000" b="0" i="0">
                <a:solidFill>
                  <a:srgbClr val="838E9F"/>
                </a:solidFill>
                <a:latin typeface="Calibri"/>
              </a:rPr>
              <a:t>Worst-case forward-kinematic round trip, 20,000 generated cases</a:t>
            </a:r>
          </a:p>
        </p:txBody>
      </p:sp>
      <p:sp>
        <p:nvSpPr>
          <p:cNvPr id="8" name="Rectangle 7"/>
          <p:cNvSpPr/>
          <p:nvPr/>
        </p:nvSpPr>
        <p:spPr>
          <a:xfrm>
            <a:off x="3367963"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3367963"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95979"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0.0054 m</a:t>
            </a:r>
          </a:p>
          <a:p>
            <a:pPr algn="l">
              <a:lnSpc>
                <a:spcPct val="98000"/>
              </a:lnSpc>
              <a:spcBef>
                <a:spcPts val="200"/>
              </a:spcBef>
              <a:spcAft>
                <a:spcPts val="0"/>
              </a:spcAft>
            </a:pPr>
            <a:r>
              <a:rPr sz="1000" b="0" i="0">
                <a:solidFill>
                  <a:srgbClr val="838E9F"/>
                </a:solidFill>
                <a:latin typeface="Calibri"/>
              </a:rPr>
              <a:t>Largest divergence, live estimate against offline re-integration</a:t>
            </a:r>
          </a:p>
        </p:txBody>
      </p:sp>
      <p:sp>
        <p:nvSpPr>
          <p:cNvPr id="11" name="Rectangle 10"/>
          <p:cNvSpPr/>
          <p:nvPr/>
        </p:nvSpPr>
        <p:spPr>
          <a:xfrm>
            <a:off x="6168999"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68999"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97015"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0.0000 m</a:t>
            </a:r>
          </a:p>
          <a:p>
            <a:pPr algn="l">
              <a:lnSpc>
                <a:spcPct val="98000"/>
              </a:lnSpc>
              <a:spcBef>
                <a:spcPts val="200"/>
              </a:spcBef>
              <a:spcAft>
                <a:spcPts val="0"/>
              </a:spcAft>
            </a:pPr>
            <a:r>
              <a:rPr sz="1000" b="0" i="0">
                <a:solidFill>
                  <a:srgbClr val="838E9F"/>
                </a:solidFill>
                <a:latin typeface="Calibri"/>
              </a:rPr>
              <a:t>Divergence at the end of the drive</a:t>
            </a:r>
          </a:p>
        </p:txBody>
      </p:sp>
      <p:sp>
        <p:nvSpPr>
          <p:cNvPr id="14" name="Rectangle 13"/>
          <p:cNvSpPr/>
          <p:nvPr/>
        </p:nvSpPr>
        <p:spPr>
          <a:xfrm>
            <a:off x="8970035" y="1316736"/>
            <a:ext cx="2654731"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970035" y="1316736"/>
            <a:ext cx="2654731"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098051" y="1453895"/>
            <a:ext cx="2398699"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0.035 rad/s</a:t>
            </a:r>
          </a:p>
          <a:p>
            <a:pPr algn="l">
              <a:lnSpc>
                <a:spcPct val="98000"/>
              </a:lnSpc>
              <a:spcBef>
                <a:spcPts val="200"/>
              </a:spcBef>
              <a:spcAft>
                <a:spcPts val="0"/>
              </a:spcAft>
            </a:pPr>
            <a:r>
              <a:rPr sz="1000" b="0" i="0">
                <a:solidFill>
                  <a:srgbClr val="838E9F"/>
                </a:solidFill>
                <a:latin typeface="Calibri"/>
              </a:rPr>
              <a:t>Median yaw-consistency residual while moving, four drives</a:t>
            </a:r>
          </a:p>
        </p:txBody>
      </p:sp>
      <p:sp>
        <p:nvSpPr>
          <p:cNvPr id="17" name="TextBox 16"/>
          <p:cNvSpPr txBox="1"/>
          <p:nvPr/>
        </p:nvSpPr>
        <p:spPr>
          <a:xfrm>
            <a:off x="566928" y="2377439"/>
            <a:ext cx="9730898" cy="2980944"/>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The implemented forward-kinematic transformation reproduces independently generated reference twists to the order of machine epsilon for double precision. The transformation is coded correctly and contributes no numerical error of its own.</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Position recomputed offline from the raw encoder record agrees with the estimate the robot published live. That rules out a discrepancy between them as the source of the observed drift. It does not rule out an error shared by both.</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Yaw-consistency residual across four analysed drives, one of them deliberately irregular: 95th percentile 0.111 to 0.124 rad/s, worst instantaneous value 0.354 rad/s. No sample crossed the 0.5 rad/s episode threshold, which was fixed before the drives were analysed.</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That threshold sits about four times the observed 95th percentile, so it detects gross events and would not resolve a slow systematic drift.</a:t>
            </a:r>
          </a:p>
        </p:txBody>
      </p:sp>
      <p:sp>
        <p:nvSpPr>
          <p:cNvPr id="18" name="Rectangle 1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Within the sensitivity of this measure, the asymmetric geometry is not producing the sustained wheel-fight or scrubbing a non-symmetric layout might be expected to. The measure is blind to all four wheels slipping together.</a:t>
            </a:r>
          </a:p>
        </p:txBody>
      </p:sp>
      <p:sp>
        <p:nvSpPr>
          <p:cNvPr id="21" name="TextBox 2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22" name="TextBox 2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endpoint closure, against a mark on the floor</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11 · three logged drives, each driven back to its starting mark</a:t>
            </a:r>
          </a:p>
        </p:txBody>
      </p:sp>
      <p:sp>
        <p:nvSpPr>
          <p:cNvPr id="6" name="TextBox 5"/>
          <p:cNvSpPr txBox="1"/>
          <p:nvPr/>
        </p:nvSpPr>
        <p:spPr>
          <a:xfrm>
            <a:off x="566928" y="1316736"/>
            <a:ext cx="4923714"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19 mm over 8.00 m, 28 mm over 9.61 m and 96 mm over 10.61 m, which is 0.23, 0.29 and 0.91 per cent of path travelled.</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longest of the three, which includes the most rotation, is the worst.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On an 18 m route the same estimator closed 0.229 m (1.27 per cent), and on a second long route 0.257 m over 18.14 m (1.42 per cent).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Marking and re-reading a floor position by tape and eye is good to a few millimetres at best, so a 4.582 m route closing to 3.1 mm reads as closure at the resolution of the reference rather than as a 3.1 mm measurement.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Error grows with the amount of rotation a route contains as well as with its length, consistent with increased lateral roller motion during rotational manoeuvres.</a:t>
            </a:r>
          </a:p>
        </p:txBody>
      </p:sp>
      <p:pic>
        <p:nvPicPr>
          <p:cNvPr id="7" name="Picture 6" descr="fig11.png"/>
          <p:cNvPicPr>
            <a:picLocks noChangeAspect="1"/>
          </p:cNvPicPr>
          <p:nvPr/>
        </p:nvPicPr>
        <p:blipFill>
          <a:blip r:embed="rId2"/>
          <a:stretch>
            <a:fillRect/>
          </a:stretch>
        </p:blipFill>
        <p:spPr>
          <a:xfrm>
            <a:off x="5874690" y="2286117"/>
            <a:ext cx="5750076" cy="2102885"/>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Closure stays below 1 per cent of path out to about 10 m, and sits between 1.1 and 1.5 per cent on the longest routes driven. It should not be generalised past that.</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what the robot cannot see</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12 · the occluded sector, re-measured at five independent headings</a:t>
            </a:r>
          </a:p>
        </p:txBody>
      </p:sp>
      <p:sp>
        <p:nvSpPr>
          <p:cNvPr id="6" name="Rectangle 5"/>
          <p:cNvSpPr/>
          <p:nvPr/>
        </p:nvSpPr>
        <p:spPr>
          <a:xfrm>
            <a:off x="566928"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316736"/>
            <a:ext cx="3588410" cy="41148"/>
          </a:xfrm>
          <a:prstGeom prst="rect">
            <a:avLst/>
          </a:prstGeom>
          <a:solidFill>
            <a:srgbClr val="A96F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A96F15"/>
                </a:solidFill>
                <a:latin typeface="Cambria"/>
              </a:rPr>
              <a:t>≈ 90°</a:t>
            </a:r>
          </a:p>
          <a:p>
            <a:pPr algn="l">
              <a:lnSpc>
                <a:spcPct val="98000"/>
              </a:lnSpc>
              <a:spcBef>
                <a:spcPts val="200"/>
              </a:spcBef>
              <a:spcAft>
                <a:spcPts val="0"/>
              </a:spcAft>
            </a:pPr>
            <a:r>
              <a:rPr sz="1000" b="0" i="0">
                <a:solidFill>
                  <a:srgbClr val="838E9F"/>
                </a:solidFill>
                <a:latin typeface="Calibri"/>
              </a:rPr>
              <a:t>Blind wedge, mast and payload in the scan plane</a:t>
            </a:r>
          </a:p>
        </p:txBody>
      </p:sp>
      <p:sp>
        <p:nvSpPr>
          <p:cNvPr id="9" name="Rectangle 8"/>
          <p:cNvSpPr/>
          <p:nvPr/>
        </p:nvSpPr>
        <p:spPr>
          <a:xfrm>
            <a:off x="4301642"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01642" y="1316736"/>
            <a:ext cx="3588410" cy="41148"/>
          </a:xfrm>
          <a:prstGeom prst="rect">
            <a:avLst/>
          </a:prstGeom>
          <a:solidFill>
            <a:srgbClr val="A96F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29658"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A96F15"/>
                </a:solidFill>
                <a:latin typeface="Cambria"/>
              </a:rPr>
              <a:t>107 / 430</a:t>
            </a:r>
          </a:p>
          <a:p>
            <a:pPr algn="l">
              <a:lnSpc>
                <a:spcPct val="98000"/>
              </a:lnSpc>
              <a:spcBef>
                <a:spcPts val="200"/>
              </a:spcBef>
              <a:spcAft>
                <a:spcPts val="0"/>
              </a:spcAft>
            </a:pPr>
            <a:r>
              <a:rPr sz="1000" b="0" i="0">
                <a:solidFill>
                  <a:srgbClr val="838E9F"/>
                </a:solidFill>
                <a:latin typeface="Calibri"/>
              </a:rPr>
              <a:t>Beams masked, per revolution</a:t>
            </a:r>
          </a:p>
        </p:txBody>
      </p:sp>
      <p:sp>
        <p:nvSpPr>
          <p:cNvPr id="12" name="Rectangle 11"/>
          <p:cNvSpPr/>
          <p:nvPr/>
        </p:nvSpPr>
        <p:spPr>
          <a:xfrm>
            <a:off x="8036356"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36356" y="1316736"/>
            <a:ext cx="3588410"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64372"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5</a:t>
            </a:r>
          </a:p>
          <a:p>
            <a:pPr algn="l">
              <a:lnSpc>
                <a:spcPct val="98000"/>
              </a:lnSpc>
              <a:spcBef>
                <a:spcPts val="200"/>
              </a:spcBef>
              <a:spcAft>
                <a:spcPts val="0"/>
              </a:spcAft>
            </a:pPr>
            <a:r>
              <a:rPr sz="1000" b="0" i="0">
                <a:solidFill>
                  <a:srgbClr val="838E9F"/>
                </a:solidFill>
                <a:latin typeface="Calibri"/>
              </a:rPr>
              <a:t>Independent headings the sector was measured at</a:t>
            </a:r>
          </a:p>
        </p:txBody>
      </p:sp>
      <p:sp>
        <p:nvSpPr>
          <p:cNvPr id="15" name="TextBox 14"/>
          <p:cNvSpPr txBox="1"/>
          <p:nvPr/>
        </p:nvSpPr>
        <p:spPr>
          <a:xfrm>
            <a:off x="566928" y="2377439"/>
            <a:ext cx="5808341" cy="367588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robot occludes its own scanner over part of the sweep, because the mast and payload sit within the scan plane.</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Those beams are masked in software before the scan reaches the mapping layer. Unmasked, a self-return is interpreted as a stationary obstacle travelling with the robot.</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It is stated as a result because it is a general consequence of carrying a payload above a single-plane scanner, and the trade-off between sensor placement, sector masking and accepted coverage loss does not appear to be characterised quantitatively in the literature.</a:t>
            </a:r>
          </a:p>
        </p:txBody>
      </p:sp>
      <p:pic>
        <p:nvPicPr>
          <p:cNvPr id="16" name="Picture 15" descr="fig12.png"/>
          <p:cNvPicPr>
            <a:picLocks noChangeAspect="1"/>
          </p:cNvPicPr>
          <p:nvPr/>
        </p:nvPicPr>
        <p:blipFill>
          <a:blip r:embed="rId2"/>
          <a:stretch>
            <a:fillRect/>
          </a:stretch>
        </p:blipFill>
        <p:spPr>
          <a:xfrm>
            <a:off x="6759317" y="2921680"/>
            <a:ext cx="4865449" cy="2587406"/>
          </a:xfrm>
          <a:prstGeom prst="rect">
            <a:avLst/>
          </a:prstGeom>
        </p:spPr>
      </p:pic>
      <p:sp>
        <p:nvSpPr>
          <p:cNvPr id="17" name="TextBox 16"/>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8" name="TextBox 17"/>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rotating in place maps almost nothing</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13 · map coverage accumulated under three drive patterns</a:t>
            </a:r>
          </a:p>
        </p:txBody>
      </p:sp>
      <p:sp>
        <p:nvSpPr>
          <p:cNvPr id="6" name="TextBox 5"/>
          <p:cNvSpPr txBox="1"/>
          <p:nvPr/>
        </p:nvSpPr>
        <p:spPr>
          <a:xfrm>
            <a:off x="566928" y="1316736"/>
            <a:ext cx="4923714"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A deliberate 714-degree rotation over 642 s produced 43 occupied cells, 2.1 m on this measure.</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A 111 s arc combining rotation with translation produced 1545 cells, 77.2 m: 88 per cent of what a full perimeter drive accumulates, in 18 per cent of its duration.</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commissioning procedure in use had specified rotating in place at each corner to survey the space. That procedure discards its own corner observations.</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effect is a property of this mapping configuration rather than of lidar in general: the thresholds governing scan integration and pose-graph node insertion are both motion-dependent, and neither was varied here.</a:t>
            </a:r>
          </a:p>
        </p:txBody>
      </p:sp>
      <p:pic>
        <p:nvPicPr>
          <p:cNvPr id="7" name="Picture 6" descr="fig13.png"/>
          <p:cNvPicPr>
            <a:picLocks noChangeAspect="1"/>
          </p:cNvPicPr>
          <p:nvPr/>
        </p:nvPicPr>
        <p:blipFill>
          <a:blip r:embed="rId2"/>
          <a:stretch>
            <a:fillRect/>
          </a:stretch>
        </p:blipFill>
        <p:spPr>
          <a:xfrm>
            <a:off x="5874690" y="2233705"/>
            <a:ext cx="5750076" cy="2207708"/>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Coverage accumulates through translation. Turns are taken as rounded arcs while rolling, not as stationary pivots. No hardware modification is needed, and it is the highest-value procedural change identified during this work.</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repeatable maps, one criterion the room refuses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14 · the three commissioning maps of 15 September, from the saved occupancy grids</a:t>
            </a:r>
          </a:p>
        </p:txBody>
      </p:sp>
      <p:sp>
        <p:nvSpPr>
          <p:cNvPr id="6" name="TextBox 5"/>
          <p:cNvSpPr txBox="1"/>
          <p:nvPr/>
        </p:nvSpPr>
        <p:spPr>
          <a:xfrm>
            <a:off x="566928" y="1316736"/>
            <a:ext cx="514487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1" i="0">
                <a:solidFill>
                  <a:srgbClr val="2E7D52"/>
                </a:solidFill>
                <a:latin typeface="Calibri"/>
              </a:rPr>
              <a:t>Not folded: pass.  </a:t>
            </a:r>
            <a:r>
              <a:rPr sz="1250" b="0" i="0">
                <a:solidFill>
                  <a:srgbClr val="3B4557"/>
                </a:solidFill>
                <a:latin typeface="Calibri"/>
              </a:rPr>
              <a:t>None of the three is folded.</a:t>
            </a:r>
          </a:p>
          <a:p>
            <a:pPr algn="l" marL="182880" indent="-182880">
              <a:lnSpc>
                <a:spcPct val="105000"/>
              </a:lnSpc>
              <a:spcBef>
                <a:spcPts val="0"/>
              </a:spcBef>
              <a:spcAft>
                <a:spcPts val="900"/>
              </a:spcAft>
              <a:buClr>
                <a:srgbClr val="4C7AA8"/>
              </a:buClr>
              <a:buFont typeface="Arial"/>
              <a:buChar char="•"/>
            </a:pPr>
            <a:r>
              <a:rPr sz="1250" b="1" i="0">
                <a:solidFill>
                  <a:srgbClr val="2E7D52"/>
                </a:solidFill>
                <a:latin typeface="Calibri"/>
              </a:rPr>
              <a:t>Return to mark &lt; 0.15 m: pass.  </a:t>
            </a:r>
            <a:r>
              <a:rPr sz="1250" b="0" i="0">
                <a:solidFill>
                  <a:srgbClr val="3B4557"/>
                </a:solidFill>
                <a:latin typeface="Calibri"/>
              </a:rPr>
              <a:t>Passes comfortably on each; best measured at 6.4 mm.</a:t>
            </a:r>
          </a:p>
          <a:p>
            <a:pPr algn="l" marL="182880" indent="-182880">
              <a:lnSpc>
                <a:spcPct val="105000"/>
              </a:lnSpc>
              <a:spcBef>
                <a:spcPts val="0"/>
              </a:spcBef>
              <a:spcAft>
                <a:spcPts val="900"/>
              </a:spcAft>
              <a:buClr>
                <a:srgbClr val="4C7AA8"/>
              </a:buClr>
              <a:buFont typeface="Arial"/>
              <a:buChar char="•"/>
            </a:pPr>
            <a:r>
              <a:rPr sz="1250" b="1" i="0">
                <a:solidFill>
                  <a:srgbClr val="A96F15"/>
                </a:solidFill>
                <a:latin typeface="Calibri"/>
              </a:rPr>
              <a:t>Doubled walls &lt; 1 %: two of three.  </a:t>
            </a:r>
            <a:r>
              <a:rPr sz="1250" b="0" i="0">
                <a:solidFill>
                  <a:srgbClr val="3B4557"/>
                </a:solidFill>
                <a:latin typeface="Calibri"/>
              </a:rPr>
              <a:t>0.7, 0.8 and 2.9 per cent. Two clear the bar; the third misses by close to a factor of three.</a:t>
            </a:r>
          </a:p>
          <a:p>
            <a:pPr algn="l" marL="182880" indent="-182880">
              <a:lnSpc>
                <a:spcPct val="105000"/>
              </a:lnSpc>
              <a:spcBef>
                <a:spcPts val="0"/>
              </a:spcBef>
              <a:spcAft>
                <a:spcPts val="900"/>
              </a:spcAft>
              <a:buClr>
                <a:srgbClr val="4C7AA8"/>
              </a:buClr>
              <a:buFont typeface="Arial"/>
              <a:buChar char="•"/>
            </a:pPr>
            <a:r>
              <a:rPr sz="1250" b="1" i="0">
                <a:solidFill>
                  <a:srgbClr val="B03A34"/>
                </a:solidFill>
                <a:latin typeface="Calibri"/>
              </a:rPr>
              <a:t>Unclassified &lt; 50 %: fail.  </a:t>
            </a:r>
            <a:r>
              <a:rPr sz="1250" b="0" i="0">
                <a:solidFill>
                  <a:srgbClr val="3B4557"/>
                </a:solidFill>
                <a:latin typeface="Calibri"/>
              </a:rPr>
              <a:t>73.0, 78.3 and 84.6 per cent against a threshold of 50.</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run with the best coverage has the worst doubled-wall figure, because it was driven with the loosest lidar quality gate. Tightening the gate reduced doubled walls to 1.1 and 0.9 per cent, but tore the free space into disconnected regions and the map graded folded.</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looser gate was retained: a connected map with thicker walls is more useful than a clean one that has come apart.</a:t>
            </a:r>
          </a:p>
        </p:txBody>
      </p:sp>
      <p:pic>
        <p:nvPicPr>
          <p:cNvPr id="7" name="Picture 6" descr="fig14.png"/>
          <p:cNvPicPr>
            <a:picLocks noChangeAspect="1"/>
          </p:cNvPicPr>
          <p:nvPr/>
        </p:nvPicPr>
        <p:blipFill>
          <a:blip r:embed="rId2"/>
          <a:stretch>
            <a:fillRect/>
          </a:stretch>
        </p:blipFill>
        <p:spPr>
          <a:xfrm>
            <a:off x="6095847" y="2279049"/>
            <a:ext cx="5528919" cy="2117021"/>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Coverage accumulates through translation past surfaces, and the available circuit is a few metres of it. The robot classifies what it drives past.</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scan matching, measured rather than assumed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Table 1.3 · same wheel data and same scans on each row</a:t>
            </a:r>
          </a:p>
        </p:txBody>
      </p:sp>
      <p:sp>
        <p:nvSpPr>
          <p:cNvPr id="6" name="TextBox 5"/>
          <p:cNvSpPr txBox="1"/>
          <p:nvPr/>
        </p:nvSpPr>
        <p:spPr>
          <a:xfrm>
            <a:off x="621792" y="1362456"/>
            <a:ext cx="3649937" cy="35433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Route</a:t>
            </a:r>
          </a:p>
        </p:txBody>
      </p:sp>
      <p:sp>
        <p:nvSpPr>
          <p:cNvPr id="7" name="TextBox 6"/>
          <p:cNvSpPr txBox="1"/>
          <p:nvPr/>
        </p:nvSpPr>
        <p:spPr>
          <a:xfrm>
            <a:off x="4381457" y="1362456"/>
            <a:ext cx="1217212" cy="35433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Range cap</a:t>
            </a:r>
          </a:p>
        </p:txBody>
      </p:sp>
      <p:sp>
        <p:nvSpPr>
          <p:cNvPr id="8" name="TextBox 7"/>
          <p:cNvSpPr txBox="1"/>
          <p:nvPr/>
        </p:nvSpPr>
        <p:spPr>
          <a:xfrm>
            <a:off x="5708398" y="1362456"/>
            <a:ext cx="2544153" cy="35433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Wheel odometry alone</a:t>
            </a:r>
          </a:p>
        </p:txBody>
      </p:sp>
      <p:sp>
        <p:nvSpPr>
          <p:cNvPr id="9" name="TextBox 8"/>
          <p:cNvSpPr txBox="1"/>
          <p:nvPr/>
        </p:nvSpPr>
        <p:spPr>
          <a:xfrm>
            <a:off x="8362279" y="1362456"/>
            <a:ext cx="3207623" cy="35433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F4E79"/>
                </a:solidFill>
                <a:latin typeface="Calibri"/>
              </a:rPr>
              <a:t>With the scan-matching front end</a:t>
            </a:r>
          </a:p>
        </p:txBody>
      </p:sp>
      <p:sp>
        <p:nvSpPr>
          <p:cNvPr id="10" name="Rectangle 9"/>
          <p:cNvSpPr/>
          <p:nvPr/>
        </p:nvSpPr>
        <p:spPr>
          <a:xfrm>
            <a:off x="566928" y="1621459"/>
            <a:ext cx="11057839" cy="1645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1754047"/>
            <a:ext cx="3649937"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38 s square, 1.42 m of path</a:t>
            </a:r>
          </a:p>
        </p:txBody>
      </p:sp>
      <p:sp>
        <p:nvSpPr>
          <p:cNvPr id="12" name="TextBox 11"/>
          <p:cNvSpPr txBox="1"/>
          <p:nvPr/>
        </p:nvSpPr>
        <p:spPr>
          <a:xfrm>
            <a:off x="4381457" y="1754047"/>
            <a:ext cx="1217212"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10 m</a:t>
            </a:r>
          </a:p>
        </p:txBody>
      </p:sp>
      <p:sp>
        <p:nvSpPr>
          <p:cNvPr id="13" name="TextBox 12"/>
          <p:cNvSpPr txBox="1"/>
          <p:nvPr/>
        </p:nvSpPr>
        <p:spPr>
          <a:xfrm>
            <a:off x="5708398" y="1754047"/>
            <a:ext cx="2544153"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2.58 cm</a:t>
            </a:r>
          </a:p>
        </p:txBody>
      </p:sp>
      <p:sp>
        <p:nvSpPr>
          <p:cNvPr id="14" name="TextBox 13"/>
          <p:cNvSpPr txBox="1"/>
          <p:nvPr/>
        </p:nvSpPr>
        <p:spPr>
          <a:xfrm>
            <a:off x="8362279" y="1754047"/>
            <a:ext cx="3207623" cy="354330"/>
          </a:xfrm>
          <a:prstGeom prst="rect">
            <a:avLst/>
          </a:prstGeom>
          <a:noFill/>
        </p:spPr>
        <p:txBody>
          <a:bodyPr wrap="square" lIns="0" rIns="0" tIns="0" bIns="0" anchor="t">
            <a:spAutoFit/>
          </a:bodyPr>
          <a:lstStyle/>
          <a:p>
            <a:pPr algn="l">
              <a:lnSpc>
                <a:spcPct val="98000"/>
              </a:lnSpc>
              <a:spcBef>
                <a:spcPts val="0"/>
              </a:spcBef>
              <a:spcAft>
                <a:spcPts val="0"/>
              </a:spcAft>
            </a:pPr>
            <a:r>
              <a:rPr sz="1250" b="1" i="0">
                <a:solidFill>
                  <a:srgbClr val="B03A34"/>
                </a:solidFill>
                <a:latin typeface="Cambria"/>
              </a:rPr>
              <a:t>6.2 cm</a:t>
            </a:r>
          </a:p>
        </p:txBody>
      </p:sp>
      <p:sp>
        <p:nvSpPr>
          <p:cNvPr id="15" name="Rectangle 14"/>
          <p:cNvSpPr/>
          <p:nvPr/>
        </p:nvSpPr>
        <p:spPr>
          <a:xfrm>
            <a:off x="566928" y="2048941"/>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2108377"/>
            <a:ext cx="3649937"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1047 s drive, 21.85 m of wheel path</a:t>
            </a:r>
          </a:p>
        </p:txBody>
      </p:sp>
      <p:sp>
        <p:nvSpPr>
          <p:cNvPr id="17" name="TextBox 16"/>
          <p:cNvSpPr txBox="1"/>
          <p:nvPr/>
        </p:nvSpPr>
        <p:spPr>
          <a:xfrm>
            <a:off x="4381457" y="2108377"/>
            <a:ext cx="1217212"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10 m</a:t>
            </a:r>
          </a:p>
        </p:txBody>
      </p:sp>
      <p:sp>
        <p:nvSpPr>
          <p:cNvPr id="18" name="TextBox 17"/>
          <p:cNvSpPr txBox="1"/>
          <p:nvPr/>
        </p:nvSpPr>
        <p:spPr>
          <a:xfrm>
            <a:off x="5708398" y="2108377"/>
            <a:ext cx="2544153"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0.229 m, 10.53°</a:t>
            </a:r>
          </a:p>
        </p:txBody>
      </p:sp>
      <p:sp>
        <p:nvSpPr>
          <p:cNvPr id="19" name="TextBox 18"/>
          <p:cNvSpPr txBox="1"/>
          <p:nvPr/>
        </p:nvSpPr>
        <p:spPr>
          <a:xfrm>
            <a:off x="8362279" y="2108377"/>
            <a:ext cx="3207623" cy="354330"/>
          </a:xfrm>
          <a:prstGeom prst="rect">
            <a:avLst/>
          </a:prstGeom>
          <a:noFill/>
        </p:spPr>
        <p:txBody>
          <a:bodyPr wrap="square" lIns="0" rIns="0" tIns="0" bIns="0" anchor="t">
            <a:spAutoFit/>
          </a:bodyPr>
          <a:lstStyle/>
          <a:p>
            <a:pPr algn="l">
              <a:lnSpc>
                <a:spcPct val="98000"/>
              </a:lnSpc>
              <a:spcBef>
                <a:spcPts val="0"/>
              </a:spcBef>
              <a:spcAft>
                <a:spcPts val="0"/>
              </a:spcAft>
            </a:pPr>
            <a:r>
              <a:rPr sz="1250" b="1" i="0">
                <a:solidFill>
                  <a:srgbClr val="B03A34"/>
                </a:solidFill>
                <a:latin typeface="Cambria"/>
              </a:rPr>
              <a:t>0.477 m, 16.18°</a:t>
            </a:r>
          </a:p>
        </p:txBody>
      </p:sp>
      <p:sp>
        <p:nvSpPr>
          <p:cNvPr id="20" name="Rectangle 19"/>
          <p:cNvSpPr/>
          <p:nvPr/>
        </p:nvSpPr>
        <p:spPr>
          <a:xfrm>
            <a:off x="566928" y="2403271"/>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2462707"/>
            <a:ext cx="3649937"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82.5 s circle, 3.193 m of path</a:t>
            </a:r>
          </a:p>
        </p:txBody>
      </p:sp>
      <p:sp>
        <p:nvSpPr>
          <p:cNvPr id="22" name="TextBox 21"/>
          <p:cNvSpPr txBox="1"/>
          <p:nvPr/>
        </p:nvSpPr>
        <p:spPr>
          <a:xfrm>
            <a:off x="4381457" y="2462707"/>
            <a:ext cx="1217212"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5 m</a:t>
            </a:r>
          </a:p>
        </p:txBody>
      </p:sp>
      <p:sp>
        <p:nvSpPr>
          <p:cNvPr id="23" name="TextBox 22"/>
          <p:cNvSpPr txBox="1"/>
          <p:nvPr/>
        </p:nvSpPr>
        <p:spPr>
          <a:xfrm>
            <a:off x="5708398" y="2462707"/>
            <a:ext cx="2544153" cy="354330"/>
          </a:xfrm>
          <a:prstGeom prst="rect">
            <a:avLst/>
          </a:prstGeom>
          <a:noFill/>
        </p:spPr>
        <p:txBody>
          <a:bodyPr wrap="square" lIns="0" rIns="0" tIns="0" bIns="0" anchor="t">
            <a:spAutoFit/>
          </a:bodyPr>
          <a:lstStyle/>
          <a:p>
            <a:pPr algn="l">
              <a:lnSpc>
                <a:spcPct val="98000"/>
              </a:lnSpc>
              <a:spcBef>
                <a:spcPts val="0"/>
              </a:spcBef>
              <a:spcAft>
                <a:spcPts val="0"/>
              </a:spcAft>
            </a:pPr>
            <a:r>
              <a:rPr sz="1250" b="0" i="0">
                <a:solidFill>
                  <a:srgbClr val="3B4557"/>
                </a:solidFill>
                <a:latin typeface="Calibri"/>
              </a:rPr>
              <a:t>16.2 mm, 0.51 %</a:t>
            </a:r>
          </a:p>
        </p:txBody>
      </p:sp>
      <p:sp>
        <p:nvSpPr>
          <p:cNvPr id="24" name="TextBox 23"/>
          <p:cNvSpPr txBox="1"/>
          <p:nvPr/>
        </p:nvSpPr>
        <p:spPr>
          <a:xfrm>
            <a:off x="8362279" y="2462707"/>
            <a:ext cx="3207623" cy="354330"/>
          </a:xfrm>
          <a:prstGeom prst="rect">
            <a:avLst/>
          </a:prstGeom>
          <a:noFill/>
        </p:spPr>
        <p:txBody>
          <a:bodyPr wrap="square" lIns="0" rIns="0" tIns="0" bIns="0" anchor="t">
            <a:spAutoFit/>
          </a:bodyPr>
          <a:lstStyle/>
          <a:p>
            <a:pPr algn="l">
              <a:lnSpc>
                <a:spcPct val="98000"/>
              </a:lnSpc>
              <a:spcBef>
                <a:spcPts val="0"/>
              </a:spcBef>
              <a:spcAft>
                <a:spcPts val="0"/>
              </a:spcAft>
            </a:pPr>
            <a:r>
              <a:rPr sz="1250" b="1" i="0">
                <a:solidFill>
                  <a:srgbClr val="B03A34"/>
                </a:solidFill>
                <a:latin typeface="Cambria"/>
              </a:rPr>
              <a:t>206.7 mm, 6.47 %</a:t>
            </a:r>
          </a:p>
        </p:txBody>
      </p:sp>
      <p:sp>
        <p:nvSpPr>
          <p:cNvPr id="25" name="TextBox 24"/>
          <p:cNvSpPr txBox="1"/>
          <p:nvPr/>
        </p:nvSpPr>
        <p:spPr>
          <a:xfrm>
            <a:off x="566928" y="3013633"/>
            <a:ext cx="9730898" cy="2344750"/>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On the 21.85 m route the front end applied 11.08 m of cumulative correction and roughly doubled the error. Nineteen loop closures fired, so this is not a back end that never ran.</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The third row was run last, to test the objection that every earlier measurement used a cap of 10 m or more. The cap was reduced to 5 m and verified against the live node before the drive. The cap did not rescue the matcher.</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All seventeen corrections in that run fired at a mean odometry spacing of 0.183 m, with about a centimetre of spread across the whole drive. The smallest was 106.7 mm against a search half-width of 150 mm.</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Four revert criteria had been written down before the drive and three fired. Of five keep criteria, the only one met was the one predicted to be neutral.</a:t>
            </a:r>
          </a:p>
        </p:txBody>
      </p:sp>
      <p:sp>
        <p:nvSpPr>
          <p:cNvPr id="26" name="Rectangle 2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 front end that corrects at a fixed odometric interval is responding to a schedule, not to disagreement between scans. It is switched off.</a:t>
            </a:r>
          </a:p>
        </p:txBody>
      </p:sp>
      <p:sp>
        <p:nvSpPr>
          <p:cNvPr id="29" name="TextBox 2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30" name="TextBox 2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the robot came back. The estimators did not.</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316736"/>
            <a:ext cx="3588410" cy="41148"/>
          </a:xfrm>
          <a:prstGeom prst="rect">
            <a:avLst/>
          </a:prstGeom>
          <a:solidFill>
            <a:srgbClr val="B03A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94944"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B03A34"/>
                </a:solidFill>
                <a:latin typeface="Cambria"/>
              </a:rPr>
              <a:t>3.85° and 4.49°</a:t>
            </a:r>
          </a:p>
          <a:p>
            <a:pPr algn="l">
              <a:lnSpc>
                <a:spcPct val="98000"/>
              </a:lnSpc>
              <a:spcBef>
                <a:spcPts val="200"/>
              </a:spcBef>
              <a:spcAft>
                <a:spcPts val="0"/>
              </a:spcAft>
            </a:pPr>
            <a:r>
              <a:rPr sz="1000" b="0" i="0">
                <a:solidFill>
                  <a:srgbClr val="838E9F"/>
                </a:solidFill>
                <a:latin typeface="Calibri"/>
              </a:rPr>
              <a:t>Heading change reported by wheel odometry, the published estimate and the SLAM pose, on two structurally different routes</a:t>
            </a:r>
          </a:p>
        </p:txBody>
      </p:sp>
      <p:sp>
        <p:nvSpPr>
          <p:cNvPr id="8" name="Rectangle 7"/>
          <p:cNvSpPr/>
          <p:nvPr/>
        </p:nvSpPr>
        <p:spPr>
          <a:xfrm>
            <a:off x="4301642"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301642" y="1316736"/>
            <a:ext cx="3588410" cy="41148"/>
          </a:xfrm>
          <a:prstGeom prst="rect">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29658"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2E7D52"/>
                </a:solidFill>
                <a:latin typeface="Cambria"/>
              </a:rPr>
              <a:t>0.03°</a:t>
            </a:r>
          </a:p>
          <a:p>
            <a:pPr algn="l">
              <a:lnSpc>
                <a:spcPct val="98000"/>
              </a:lnSpc>
              <a:spcBef>
                <a:spcPts val="200"/>
              </a:spcBef>
              <a:spcAft>
                <a:spcPts val="0"/>
              </a:spcAft>
            </a:pPr>
            <a:r>
              <a:rPr sz="1000" b="0" i="0">
                <a:solidFill>
                  <a:srgbClr val="838E9F"/>
                </a:solidFill>
                <a:latin typeface="Calibri"/>
              </a:rPr>
              <a:t>What the floor said, read photogrammetrically against the tile grout</a:t>
            </a:r>
          </a:p>
        </p:txBody>
      </p:sp>
      <p:sp>
        <p:nvSpPr>
          <p:cNvPr id="11" name="Rectangle 10"/>
          <p:cNvSpPr/>
          <p:nvPr/>
        </p:nvSpPr>
        <p:spPr>
          <a:xfrm>
            <a:off x="8036356"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036356" y="1316736"/>
            <a:ext cx="3588410"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64372"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1F4E79"/>
                </a:solidFill>
                <a:latin typeface="Cambria"/>
              </a:rPr>
              <a:t>≈ 1°</a:t>
            </a:r>
          </a:p>
          <a:p>
            <a:pPr algn="l">
              <a:lnSpc>
                <a:spcPct val="98000"/>
              </a:lnSpc>
              <a:spcBef>
                <a:spcPts val="200"/>
              </a:spcBef>
              <a:spcAft>
                <a:spcPts val="0"/>
              </a:spcAft>
            </a:pPr>
            <a:r>
              <a:rPr sz="1000" b="0" i="0">
                <a:solidFill>
                  <a:srgbClr val="838E9F"/>
                </a:solidFill>
                <a:latin typeface="Calibri"/>
              </a:rPr>
              <a:t>Demonstrated resolution of the instrument itself</a:t>
            </a:r>
          </a:p>
        </p:txBody>
      </p:sp>
      <p:sp>
        <p:nvSpPr>
          <p:cNvPr id="14" name="TextBox 13"/>
          <p:cNvSpPr txBox="1"/>
          <p:nvPr/>
        </p:nvSpPr>
        <p:spPr>
          <a:xfrm>
            <a:off x="566928" y="2377439"/>
            <a:ext cx="9730898" cy="2980944"/>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Heading was measured from video against world-static floor features, using tile-grout orientation as the reference. Frames extracted with ffmpeg, position from a threshold centroid on floor brackets, heading from a gradient-orientation histogram on the grout.</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The instrument was validated before its output was believed: −27.07° against a commanded −28.0°, and −18.50° against −19.4°. Two failure modes were found and corrected during that validation, the first being a camera mounted on the robot’s own mast, which by construction reports no rotation at all.</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Three estimates agreeing with one another while all three disagree with the floor is the signature of an error they share, not one that separates them.</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Two candidates remain. </a:t>
            </a:r>
            <a:r>
              <a:rPr sz="1250" b="0" i="0">
                <a:solidFill>
                  <a:srgbClr val="3B4557"/>
                </a:solidFill>
                <a:latin typeface="Calibri"/>
              </a:rPr>
              <a:t>Either an encoder or wheel-radius scale error, which is estimator error and recoverable by calibration, or a slip mode in which all four wheels slip together and the platform’s motion stays rigid, which is physical and is not.</a:t>
            </a:r>
          </a:p>
        </p:txBody>
      </p:sp>
      <p:sp>
        <p:nvSpPr>
          <p:cNvPr id="15" name="Rectangle 14"/>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elimination is not exhaustive. A geometric parameter error, a systematic mounting offset or a timing error between the encoder and pose streams would produce a similar signature and have not been separately excluded.</a:t>
            </a:r>
          </a:p>
        </p:txBody>
      </p:sp>
      <p:sp>
        <p:nvSpPr>
          <p:cNvPr id="18" name="TextBox 1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9" name="TextBox 1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Result: autonomous navigation, as far as it goes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6692969"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first complete autonomous round trip, in August: the robot drove out, reversed its heading and returned, holding direction to within 5.5 and 3.7 degrees on the two legs and stopping 4.6 cm short of the commanded stop point.</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In later trials goals were selected by tapping the map in the dashboard, and the platform reached them in 21 and 26 s. Three goals were commanded across three trials and all three were reached.</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operator interface was verified geometrically rather than by eye: the tapped-pixel to world-coordinate transform agrees with its analytic value to within one part in a million at three display pixel densities, well under a millimetre over the test map.</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That is a check that the transformation is coded correctly, not a statement about pointing accuracy, which is set by the size of a fingertip against the map scale and was not measured.</a:t>
            </a:r>
          </a:p>
        </p:txBody>
      </p:sp>
      <p:sp>
        <p:nvSpPr>
          <p:cNvPr id="6" name="Rectangle 5"/>
          <p:cNvSpPr/>
          <p:nvPr/>
        </p:nvSpPr>
        <p:spPr>
          <a:xfrm>
            <a:off x="7602797" y="1765454"/>
            <a:ext cx="4063118" cy="3144211"/>
          </a:xfrm>
          <a:prstGeom prst="rect">
            <a:avLst/>
          </a:prstGeom>
          <a:solidFill>
            <a:srgbClr val="FFFFFF"/>
          </a:solidFill>
          <a:ln w="9525">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three_quarter.jpg"/>
          <p:cNvPicPr>
            <a:picLocks noChangeAspect="1"/>
          </p:cNvPicPr>
          <p:nvPr/>
        </p:nvPicPr>
        <p:blipFill>
          <a:blip r:embed="rId2"/>
          <a:stretch>
            <a:fillRect/>
          </a:stretch>
        </p:blipFill>
        <p:spPr>
          <a:xfrm>
            <a:off x="7643945" y="1806602"/>
            <a:ext cx="3980822" cy="3061915"/>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Demonstrated within a live mapping session rather than against a saved map. The number of trials is small, and it is reported as what it is.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No inertial sensor: a decision, not an omission</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Objective 2 asks for a pose estimate characterised against an independently measured physical reference, with an explicit account of which sensors are required to reach it. That third clause is the research content, and it is a question about sensors rather than a requirement to own one.</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Fitting inertial measurement at the start would have removed the ability to answer it. Fusion improves the estimate; without a characterised unfused baseline at the operating scale there is no way to say by how much, or which error it removed. The unfused platform is that baseline.</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Heading errors of 3.85° and 4.49° were invisible to every instrument on the robot, because all of them derive from the same wheel measurements.</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A rate gyroscope measures angular rate independently of the wheels. Integrating it gives a heading estimate that drifts with bias but does not share the wheel-derived error, which is what would separate an encoder scale error from a rigid all-wheel slip mode.</a:t>
            </a:r>
          </a:p>
          <a:p>
            <a:pPr algn="l" marL="182880" indent="-182880">
              <a:lnSpc>
                <a:spcPct val="105000"/>
              </a:lnSpc>
              <a:spcBef>
                <a:spcPts val="0"/>
              </a:spcBef>
              <a:spcAft>
                <a:spcPts val="1200"/>
              </a:spcAft>
              <a:buClr>
                <a:srgbClr val="4C7AA8"/>
              </a:buClr>
              <a:buFont typeface="Arial"/>
              <a:buChar char="•"/>
            </a:pPr>
            <a:r>
              <a:rPr sz="1350" b="1" i="0">
                <a:solidFill>
                  <a:srgbClr val="3B4557"/>
                </a:solidFill>
                <a:latin typeface="Calibri"/>
              </a:rPr>
              <a:t>What is not claimed. </a:t>
            </a:r>
            <a:r>
              <a:rPr sz="1350" b="0" i="0">
                <a:solidFill>
                  <a:srgbClr val="3B4557"/>
                </a:solidFill>
                <a:latin typeface="Calibri"/>
              </a:rPr>
              <a:t>That the platform is better off without one. Fusion would reduce heading error, an inertial sensor is the right next purchase, and nothing here argues otherwise. The claim is about order of work.</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Objective 2 closes as characterised rather than as optimal, and inertial measurement now carries a specific number to be tested against rather than a general expectation.</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is established, and on what evidence</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15, upper half · green: measured and reproduced. Orange: works, below its requested update rate.</a:t>
            </a:r>
          </a:p>
        </p:txBody>
      </p:sp>
      <p:pic>
        <p:nvPicPr>
          <p:cNvPr id="6" name="Picture 5" descr="fig15a.png"/>
          <p:cNvPicPr>
            <a:picLocks noChangeAspect="1"/>
          </p:cNvPicPr>
          <p:nvPr/>
        </p:nvPicPr>
        <p:blipFill>
          <a:blip r:embed="rId2"/>
          <a:stretch>
            <a:fillRect/>
          </a:stretch>
        </p:blipFill>
        <p:spPr>
          <a:xfrm>
            <a:off x="1345947" y="1316736"/>
            <a:ext cx="9499800" cy="4462272"/>
          </a:xfrm>
          <a:prstGeom prst="rect">
            <a:avLst/>
          </a:prstGeom>
        </p:spPr>
      </p:pic>
      <p:sp>
        <p:nvSpPr>
          <p:cNvPr id="7" name="TextBox 6"/>
          <p:cNvSpPr txBox="1"/>
          <p:nvPr/>
        </p:nvSpPr>
        <p:spPr>
          <a:xfrm>
            <a:off x="566928" y="5852160"/>
            <a:ext cx="11057839" cy="256032"/>
          </a:xfrm>
          <a:prstGeom prst="rect">
            <a:avLst/>
          </a:prstGeom>
          <a:noFill/>
        </p:spPr>
        <p:txBody>
          <a:bodyPr wrap="square" lIns="0" rIns="0" tIns="0" bIns="0" anchor="t">
            <a:spAutoFit/>
          </a:bodyPr>
          <a:lstStyle/>
          <a:p>
            <a:pPr algn="ctr">
              <a:lnSpc>
                <a:spcPct val="100000"/>
              </a:lnSpc>
              <a:spcBef>
                <a:spcPts val="0"/>
              </a:spcBef>
              <a:spcAft>
                <a:spcPts val="0"/>
              </a:spcAft>
            </a:pPr>
            <a:r>
              <a:rPr sz="1050" b="0" i="1">
                <a:solidFill>
                  <a:srgbClr val="838E9F"/>
                </a:solidFill>
                <a:latin typeface="Calibri"/>
              </a:rPr>
              <a:t>The evidence is not all of one kind: closure against the floor is an external reference; the kinematics and odometry rows are checks against an independent implementation; the planner, controller and safety rows are operational demonstrations rather than measurements against a reference.</a:t>
            </a:r>
          </a:p>
        </p:txBody>
      </p:sp>
      <p:sp>
        <p:nvSpPr>
          <p:cNvPr id="8" name="TextBox 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9" name="TextBox 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is not, and the reason stated against each row</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15, lower half · remaining work, with the reason it has not been done</a:t>
            </a:r>
          </a:p>
        </p:txBody>
      </p:sp>
      <p:pic>
        <p:nvPicPr>
          <p:cNvPr id="6" name="Picture 5" descr="fig15b.png"/>
          <p:cNvPicPr>
            <a:picLocks noChangeAspect="1"/>
          </p:cNvPicPr>
          <p:nvPr/>
        </p:nvPicPr>
        <p:blipFill>
          <a:blip r:embed="rId2"/>
          <a:stretch>
            <a:fillRect/>
          </a:stretch>
        </p:blipFill>
        <p:spPr>
          <a:xfrm>
            <a:off x="566928" y="1675897"/>
            <a:ext cx="11057839" cy="3743948"/>
          </a:xfrm>
          <a:prstGeom prst="rect">
            <a:avLst/>
          </a:prstGeom>
        </p:spPr>
      </p:pic>
      <p:sp>
        <p:nvSpPr>
          <p:cNvPr id="7" name="TextBox 6"/>
          <p:cNvSpPr txBox="1"/>
          <p:nvPr/>
        </p:nvSpPr>
        <p:spPr>
          <a:xfrm>
            <a:off x="566928" y="5852160"/>
            <a:ext cx="11057839" cy="256032"/>
          </a:xfrm>
          <a:prstGeom prst="rect">
            <a:avLst/>
          </a:prstGeom>
          <a:noFill/>
        </p:spPr>
        <p:txBody>
          <a:bodyPr wrap="square" lIns="0" rIns="0" tIns="0" bIns="0" anchor="t">
            <a:spAutoFit/>
          </a:bodyPr>
          <a:lstStyle/>
          <a:p>
            <a:pPr algn="ctr">
              <a:lnSpc>
                <a:spcPct val="100000"/>
              </a:lnSpc>
              <a:spcBef>
                <a:spcPts val="0"/>
              </a:spcBef>
              <a:spcAft>
                <a:spcPts val="0"/>
              </a:spcAft>
            </a:pPr>
            <a:r>
              <a:rPr sz="1050" b="0" i="1">
                <a:solidFill>
                  <a:srgbClr val="838E9F"/>
                </a:solidFill>
                <a:latin typeface="Calibri"/>
              </a:rPr>
              <a:t>For the five layers that are not yet established, the entry states the specific reason rather than recording a failure, and in three of those five the reason is the size of the available test area rather than anything on the platform.</a:t>
            </a:r>
          </a:p>
        </p:txBody>
      </p:sp>
      <p:sp>
        <p:nvSpPr>
          <p:cNvPr id="8" name="TextBox 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9" name="TextBox 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Everything still open resolves to two constraints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ONE: THE SIZE OF THE AVAILABLE TEST AREA</a:t>
            </a:r>
          </a:p>
        </p:txBody>
      </p:sp>
      <p:sp>
        <p:nvSpPr>
          <p:cNvPr id="6" name="TextBox 5"/>
          <p:cNvSpPr txBox="1"/>
          <p:nvPr/>
        </p:nvSpPr>
        <p:spPr>
          <a:xfrm>
            <a:off x="566928"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Coverage accumulates through translation past surfaces, at a rate set by how far the robot can drive while observing new geometry. The laboratory available permits a traversable circuit of a few metres.</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That single limit holds the coverage criterion below threshold, which withholds an accepted commissioning map, which leaves localisation against a saved map unexercised, which gives the named-location library no coordinates to store.</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Four entries in the status figure, and one cause. No further work on the platform moves any of them.</a:t>
            </a:r>
          </a:p>
        </p:txBody>
      </p:sp>
      <p:sp>
        <p:nvSpPr>
          <p:cNvPr id="7" name="TextBox 6"/>
          <p:cNvSpPr txBox="1"/>
          <p:nvPr/>
        </p:nvSpPr>
        <p:spPr>
          <a:xfrm>
            <a:off x="6347307"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TWO: THE DELIBERATE ABSENCE OF INERTIAL MEASUREMENT</a:t>
            </a:r>
          </a:p>
        </p:txBody>
      </p:sp>
      <p:sp>
        <p:nvSpPr>
          <p:cNvPr id="8" name="TextBox 7"/>
          <p:cNvSpPr txBox="1"/>
          <p:nvPr/>
        </p:nvSpPr>
        <p:spPr>
          <a:xfrm>
            <a:off x="6347307"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Working without it is what made the unfused baseline measurable.</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The cost is one specific error class that stays unobservable to a wheel-only instrument set.</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Adding the sensor is the first item of the research plan, and it now has a measured target to be tested against.</a:t>
            </a:r>
          </a:p>
          <a:p>
            <a:pPr algn="l" marL="182880" indent="-182880">
              <a:lnSpc>
                <a:spcPct val="105000"/>
              </a:lnSpc>
              <a:spcBef>
                <a:spcPts val="0"/>
              </a:spcBef>
              <a:spcAft>
                <a:spcPts val="900"/>
              </a:spcAft>
              <a:buClr>
                <a:srgbClr val="4C7AA8"/>
              </a:buClr>
              <a:buFont typeface="Arial"/>
              <a:buChar char="•"/>
            </a:pPr>
            <a:r>
              <a:rPr sz="1350" b="0" i="0">
                <a:solidFill>
                  <a:srgbClr val="3B4557"/>
                </a:solidFill>
                <a:latin typeface="Calibri"/>
              </a:rPr>
              <a:t>Scan matching is the one entry switched off by choice rather than by constraint, on the measurement reported earlier in this section.</a:t>
            </a:r>
          </a:p>
        </p:txBody>
      </p:sp>
      <p:sp>
        <p:nvSpPr>
          <p:cNvPr id="9" name="Rectangle 8"/>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 test space offering a continuous traversable loop lifts all four together. An initial target of fifteen to twenty metres of path is proposed.</a:t>
            </a:r>
          </a:p>
        </p:txBody>
      </p:sp>
      <p:sp>
        <p:nvSpPr>
          <p:cNvPr id="12" name="TextBox 11"/>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3" name="TextBox 12"/>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Conclusions on the robot</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THE NARROW-AISLE ROBOT</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736592"/>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The geometry survives full scale. </a:t>
            </a:r>
            <a:r>
              <a:rPr sz="1300" b="0" i="0">
                <a:solidFill>
                  <a:srgbClr val="3B4557"/>
                </a:solidFill>
                <a:latin typeface="Calibri"/>
              </a:rPr>
              <a:t>No asymmetry-specific penalty has been detected in any experiment performed. The transformation is implemented correctly to the limit of double precision, tracking is clean on every axis including the lateral and rotational ones, endpoint closure holds below 1 per cent of path out to 10.61 m, and no yaw-consistency residual above the episode threshold has appeared.</a:t>
            </a:r>
          </a:p>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Stated in the form the evidence supports. </a:t>
            </a:r>
            <a:r>
              <a:rPr sz="1300" b="0" i="0">
                <a:solidFill>
                  <a:srgbClr val="3B4557"/>
                </a:solidFill>
                <a:latin typeface="Calibri"/>
              </a:rPr>
              <a:t>An absence of penalty across a year of measurement is not the same thing as a measured cost of zero. Objective 3 is not closed until a matched symmetric baseline exists to compare against.</a:t>
            </a:r>
          </a:p>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Below the map, characterised. </a:t>
            </a:r>
            <a:r>
              <a:rPr sz="1300" b="0" i="0">
                <a:solidFill>
                  <a:srgbClr val="3B4557"/>
                </a:solidFill>
                <a:latin typeface="Calibri"/>
              </a:rPr>
              <a:t>The motors track to a known error loaded and unloaded, the encoder path is clean after the level-translation work, the feedforward is fitted rather than guessed, and the kinematic and odometry implementations have been checked against an independent reference rather than against themselves.</a:t>
            </a:r>
          </a:p>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At and above the map, three layers are not. </a:t>
            </a:r>
            <a:r>
              <a:rPr sz="1300" b="0" i="0">
                <a:solidFill>
                  <a:srgbClr val="3B4557"/>
                </a:solidFill>
                <a:latin typeface="Calibri"/>
              </a:rPr>
              <a:t>Mapping produces consistent and repeatable geometry but cannot meet a coverage criterion in a room this size. Localisation against a saved map has never been run, because there is no accepted map to run it against. And a scan-matching front end, measured rather than assumed, made the pose estimate worse on all three routes it was tested on.</a:t>
            </a:r>
          </a:p>
        </p:txBody>
      </p:sp>
      <p:sp>
        <p:nvSpPr>
          <p:cNvPr id="6" name="TextBox 5"/>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7" name="TextBox 6"/>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417320" y="1389888"/>
            <a:ext cx="2743200" cy="868680"/>
          </a:xfrm>
          <a:prstGeom prst="rect">
            <a:avLst/>
          </a:prstGeom>
          <a:noFill/>
        </p:spPr>
        <p:txBody>
          <a:bodyPr wrap="square" lIns="0" rIns="0" tIns="0" bIns="0" anchor="t">
            <a:spAutoFit/>
          </a:bodyPr>
          <a:lstStyle/>
          <a:p>
            <a:pPr algn="l">
              <a:lnSpc>
                <a:spcPct val="90000"/>
              </a:lnSpc>
              <a:spcBef>
                <a:spcPts val="0"/>
              </a:spcBef>
              <a:spcAft>
                <a:spcPts val="0"/>
              </a:spcAft>
            </a:pPr>
            <a:r>
              <a:rPr sz="6200" b="1" i="0">
                <a:solidFill>
                  <a:srgbClr val="BFCFE0"/>
                </a:solidFill>
                <a:latin typeface="Cambria"/>
              </a:rPr>
              <a:t>02</a:t>
            </a:r>
          </a:p>
        </p:txBody>
      </p:sp>
      <p:sp>
        <p:nvSpPr>
          <p:cNvPr id="5" name="TextBox 4"/>
          <p:cNvSpPr txBox="1"/>
          <p:nvPr/>
        </p:nvSpPr>
        <p:spPr>
          <a:xfrm>
            <a:off x="1417320" y="2231136"/>
            <a:ext cx="8778240" cy="384048"/>
          </a:xfrm>
          <a:prstGeom prst="rect">
            <a:avLst/>
          </a:prstGeom>
          <a:noFill/>
        </p:spPr>
        <p:txBody>
          <a:bodyPr wrap="square" lIns="0" rIns="0" tIns="0" bIns="0" anchor="t">
            <a:spAutoFit/>
          </a:bodyPr>
          <a:lstStyle/>
          <a:p>
            <a:pPr algn="l">
              <a:lnSpc>
                <a:spcPct val="100000"/>
              </a:lnSpc>
              <a:spcBef>
                <a:spcPts val="0"/>
              </a:spcBef>
              <a:spcAft>
                <a:spcPts val="0"/>
              </a:spcAft>
            </a:pPr>
            <a:r>
              <a:rPr sz="1150" b="1" i="0" spc="180">
                <a:solidFill>
                  <a:srgbClr val="1F4E79"/>
                </a:solidFill>
                <a:latin typeface="Calibri"/>
              </a:rPr>
              <a:t>STRAND TWO</a:t>
            </a:r>
          </a:p>
        </p:txBody>
      </p:sp>
      <p:sp>
        <p:nvSpPr>
          <p:cNvPr id="6" name="TextBox 5"/>
          <p:cNvSpPr txBox="1"/>
          <p:nvPr/>
        </p:nvSpPr>
        <p:spPr>
          <a:xfrm>
            <a:off x="1417320" y="2651760"/>
            <a:ext cx="8961120" cy="914400"/>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1A2230"/>
                </a:solidFill>
                <a:latin typeface="Cambria"/>
              </a:rPr>
              <a:t>Environmental Monitoring for the Warehouse Space</a:t>
            </a:r>
          </a:p>
        </p:txBody>
      </p:sp>
      <p:sp>
        <p:nvSpPr>
          <p:cNvPr id="7" name="Rectangle 6"/>
          <p:cNvSpPr/>
          <p:nvPr/>
        </p:nvSpPr>
        <p:spPr>
          <a:xfrm>
            <a:off x="1417320" y="3785615"/>
            <a:ext cx="1005840"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17320" y="4096512"/>
            <a:ext cx="8321040" cy="1005840"/>
          </a:xfrm>
          <a:prstGeom prst="rect">
            <a:avLst/>
          </a:prstGeom>
          <a:noFill/>
        </p:spPr>
        <p:txBody>
          <a:bodyPr wrap="square" lIns="0" rIns="0" tIns="0" bIns="0" anchor="t">
            <a:spAutoFit/>
          </a:bodyPr>
          <a:lstStyle/>
          <a:p>
            <a:pPr algn="l">
              <a:lnSpc>
                <a:spcPct val="115000"/>
              </a:lnSpc>
              <a:spcBef>
                <a:spcPts val="0"/>
              </a:spcBef>
              <a:spcAft>
                <a:spcPts val="0"/>
              </a:spcAft>
            </a:pPr>
            <a:r>
              <a:rPr sz="1500" b="0" i="1">
                <a:solidFill>
                  <a:srgbClr val="3B4557"/>
                </a:solidFill>
                <a:latin typeface="Cambria"/>
              </a:rPr>
              <a:t>A treatment duct running on a timer cannot raise airflow when the air is contaminated, and it cannot report the failure of its own lamp.</a:t>
            </a:r>
          </a:p>
        </p:txBody>
      </p:sp>
      <p:sp>
        <p:nvSpPr>
          <p:cNvPr id="9" name="TextBox 8"/>
          <p:cNvSpPr txBox="1"/>
          <p:nvPr/>
        </p:nvSpPr>
        <p:spPr>
          <a:xfrm>
            <a:off x="1417320" y="5138928"/>
            <a:ext cx="832104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spc="60">
                <a:solidFill>
                  <a:srgbClr val="2E7D52"/>
                </a:solidFill>
                <a:latin typeface="Calibri"/>
              </a:rPr>
              <a:t>Deployed · four zones · running unattended</a:t>
            </a:r>
          </a:p>
        </p:txBody>
      </p:sp>
      <p:sp>
        <p:nvSpPr>
          <p:cNvPr id="10" name="TextBox 9"/>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1" name="TextBox 10"/>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Why a closed loop, and why local</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Storage temperature and relative humidity are the principal levers on quality loss and shelf life for perishable produce. Carbon dioxide concentration is a long-established surrogate for ventilation adequacy. Particulate load affects both product quality and worker health. In Indian conditions these quantities frequently sit outside the range in which either people or goods do well.</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Continuous monitoring in a laboratory or store room is usually done one of two ways: with proprietary instruments, which are costly and closed to modification, or by manual transcription, which introduces recording error and leaves a gap in the record whenever the space is unattended.</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An air-treatment appliance adds a second requirement. It must act on what it measures, and the effect of that action must be independently confirmable.</a:t>
            </a:r>
          </a:p>
          <a:p>
            <a:pPr algn="l" marL="182880" indent="-182880">
              <a:lnSpc>
                <a:spcPct val="105000"/>
              </a:lnSpc>
              <a:spcBef>
                <a:spcPts val="0"/>
              </a:spcBef>
              <a:spcAft>
                <a:spcPts val="1200"/>
              </a:spcAft>
              <a:buClr>
                <a:srgbClr val="4C7AA8"/>
              </a:buClr>
              <a:buFont typeface="Arial"/>
              <a:buChar char="•"/>
            </a:pPr>
            <a:r>
              <a:rPr sz="1350" b="0" i="0">
                <a:solidFill>
                  <a:srgbClr val="3B4557"/>
                </a:solidFill>
                <a:latin typeface="Calibri"/>
              </a:rPr>
              <a:t>Cloud-hosted monitoring makes continuity of monitoring dependent on external connectivity. For a facility where the monitored condition matters most during a disruption, that dependency is misplaced. A locally hosted data platform removes it.</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same architecture is intended to transfer to cold storage, to controlled-atmosphere rooms used for produce ripening, and to general warehouse environmental monitoring.</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appliance and the sensing node, as built</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16 · the integrated unit, and both control boxes powered and linked</a:t>
            </a:r>
          </a:p>
        </p:txBody>
      </p:sp>
      <p:pic>
        <p:nvPicPr>
          <p:cNvPr id="6" name="Picture 5" descr="fig16.png"/>
          <p:cNvPicPr>
            <a:picLocks noChangeAspect="1"/>
          </p:cNvPicPr>
          <p:nvPr/>
        </p:nvPicPr>
        <p:blipFill>
          <a:blip r:embed="rId2"/>
          <a:stretch>
            <a:fillRect/>
          </a:stretch>
        </p:blipFill>
        <p:spPr>
          <a:xfrm>
            <a:off x="1257774" y="1316736"/>
            <a:ext cx="9676146" cy="4462272"/>
          </a:xfrm>
          <a:prstGeom prst="rect">
            <a:avLst/>
          </a:prstGeom>
        </p:spPr>
      </p:pic>
      <p:sp>
        <p:nvSpPr>
          <p:cNvPr id="7" name="TextBox 6"/>
          <p:cNvSpPr txBox="1"/>
          <p:nvPr/>
        </p:nvSpPr>
        <p:spPr>
          <a:xfrm>
            <a:off x="566928" y="5852160"/>
            <a:ext cx="11057839" cy="256032"/>
          </a:xfrm>
          <a:prstGeom prst="rect">
            <a:avLst/>
          </a:prstGeom>
          <a:noFill/>
        </p:spPr>
        <p:txBody>
          <a:bodyPr wrap="square" lIns="0" rIns="0" tIns="0" bIns="0" anchor="t">
            <a:spAutoFit/>
          </a:bodyPr>
          <a:lstStyle/>
          <a:p>
            <a:pPr algn="ctr">
              <a:lnSpc>
                <a:spcPct val="100000"/>
              </a:lnSpc>
              <a:spcBef>
                <a:spcPts val="0"/>
              </a:spcBef>
              <a:spcAft>
                <a:spcPts val="0"/>
              </a:spcAft>
            </a:pPr>
            <a:r>
              <a:rPr sz="1050" b="0" i="1">
                <a:solidFill>
                  <a:srgbClr val="838E9F"/>
                </a:solidFill>
                <a:latin typeface="Calibri"/>
              </a:rPr>
              <a:t>The displays are reading live, which is how a node is checked without attaching a computer to it: irradiance and gas state on the left, uptime and firmware build on the right.</a:t>
            </a:r>
          </a:p>
        </p:txBody>
      </p:sp>
      <p:sp>
        <p:nvSpPr>
          <p:cNvPr id="8" name="TextBox 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9" name="TextBox 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Five sensing devices, two actuators, one microcontroller</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Table 2.1 · parts as fitted, read off the assembled unit or out of its firmware</a:t>
            </a:r>
          </a:p>
        </p:txBody>
      </p:sp>
      <p:sp>
        <p:nvSpPr>
          <p:cNvPr id="6" name="TextBox 5"/>
          <p:cNvSpPr txBox="1"/>
          <p:nvPr/>
        </p:nvSpPr>
        <p:spPr>
          <a:xfrm>
            <a:off x="621792" y="1362456"/>
            <a:ext cx="2765310" cy="384048"/>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F4E79"/>
                </a:solidFill>
                <a:latin typeface="Calibri"/>
              </a:rPr>
              <a:t/>
            </a:r>
          </a:p>
        </p:txBody>
      </p:sp>
      <p:sp>
        <p:nvSpPr>
          <p:cNvPr id="7" name="TextBox 6"/>
          <p:cNvSpPr txBox="1"/>
          <p:nvPr/>
        </p:nvSpPr>
        <p:spPr>
          <a:xfrm>
            <a:off x="3496830" y="1362456"/>
            <a:ext cx="8073073" cy="384048"/>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F4E79"/>
                </a:solidFill>
                <a:latin typeface="Calibri"/>
              </a:rPr>
              <a:t/>
            </a:r>
          </a:p>
        </p:txBody>
      </p:sp>
      <p:sp>
        <p:nvSpPr>
          <p:cNvPr id="8" name="Rectangle 7"/>
          <p:cNvSpPr/>
          <p:nvPr/>
        </p:nvSpPr>
        <p:spPr>
          <a:xfrm>
            <a:off x="566928" y="1647017"/>
            <a:ext cx="11057839" cy="1645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779605"/>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Sensing node</a:t>
            </a:r>
          </a:p>
        </p:txBody>
      </p:sp>
      <p:sp>
        <p:nvSpPr>
          <p:cNvPr id="10" name="TextBox 9"/>
          <p:cNvSpPr txBox="1"/>
          <p:nvPr/>
        </p:nvSpPr>
        <p:spPr>
          <a:xfrm>
            <a:off x="3496830" y="1779605"/>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Arduino UNO R4 WiFi, Renesas RA4M1 core</a:t>
            </a:r>
          </a:p>
        </p:txBody>
      </p:sp>
      <p:sp>
        <p:nvSpPr>
          <p:cNvPr id="11" name="Rectangle 10"/>
          <p:cNvSpPr/>
          <p:nvPr/>
        </p:nvSpPr>
        <p:spPr>
          <a:xfrm>
            <a:off x="566928" y="2104217"/>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163653"/>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CO₂, temperature, humidity</a:t>
            </a:r>
          </a:p>
        </p:txBody>
      </p:sp>
      <p:sp>
        <p:nvSpPr>
          <p:cNvPr id="13" name="TextBox 12"/>
          <p:cNvSpPr txBox="1"/>
          <p:nvPr/>
        </p:nvSpPr>
        <p:spPr>
          <a:xfrm>
            <a:off x="3496830" y="2163653"/>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Sensirion SCD40, 400–5000 ppm. Three quantities, one device, one calibration</a:t>
            </a:r>
          </a:p>
        </p:txBody>
      </p:sp>
      <p:sp>
        <p:nvSpPr>
          <p:cNvPr id="14" name="Rectangle 13"/>
          <p:cNvSpPr/>
          <p:nvPr/>
        </p:nvSpPr>
        <p:spPr>
          <a:xfrm>
            <a:off x="566928" y="2488265"/>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2547701"/>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Particulate matter</a:t>
            </a:r>
          </a:p>
        </p:txBody>
      </p:sp>
      <p:sp>
        <p:nvSpPr>
          <p:cNvPr id="16" name="TextBox 15"/>
          <p:cNvSpPr txBox="1"/>
          <p:nvPr/>
        </p:nvSpPr>
        <p:spPr>
          <a:xfrm>
            <a:off x="3496830" y="2547701"/>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MPM10-AS optical counter on the same bus, PM2.5 and PM10</a:t>
            </a:r>
          </a:p>
        </p:txBody>
      </p:sp>
      <p:sp>
        <p:nvSpPr>
          <p:cNvPr id="17" name="Rectangle 16"/>
          <p:cNvSpPr/>
          <p:nvPr/>
        </p:nvSpPr>
        <p:spPr>
          <a:xfrm>
            <a:off x="566928" y="2872313"/>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1792" y="2931749"/>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Gas</a:t>
            </a:r>
          </a:p>
        </p:txBody>
      </p:sp>
      <p:sp>
        <p:nvSpPr>
          <p:cNvPr id="19" name="TextBox 18"/>
          <p:cNvSpPr txBox="1"/>
          <p:nvPr/>
        </p:nvSpPr>
        <p:spPr>
          <a:xfrm>
            <a:off x="3496830" y="2931749"/>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MQ-135 metal-oxide module, an index of 0 to 500, not a concentration</a:t>
            </a:r>
          </a:p>
        </p:txBody>
      </p:sp>
      <p:sp>
        <p:nvSpPr>
          <p:cNvPr id="20" name="Rectangle 19"/>
          <p:cNvSpPr/>
          <p:nvPr/>
        </p:nvSpPr>
        <p:spPr>
          <a:xfrm>
            <a:off x="566928" y="3256361"/>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3315797"/>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Ultraviolet irradiance</a:t>
            </a:r>
          </a:p>
        </p:txBody>
      </p:sp>
      <p:sp>
        <p:nvSpPr>
          <p:cNvPr id="22" name="TextBox 21"/>
          <p:cNvSpPr txBox="1"/>
          <p:nvPr/>
        </p:nvSpPr>
        <p:spPr>
          <a:xfrm>
            <a:off x="3496830" y="3315797"/>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GUVA-S12SD photodiode, 240–370 nm</a:t>
            </a:r>
          </a:p>
        </p:txBody>
      </p:sp>
      <p:sp>
        <p:nvSpPr>
          <p:cNvPr id="23" name="Rectangle 22"/>
          <p:cNvSpPr/>
          <p:nvPr/>
        </p:nvSpPr>
        <p:spPr>
          <a:xfrm>
            <a:off x="566928" y="3640409"/>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1792" y="3699845"/>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Actuators</a:t>
            </a:r>
          </a:p>
        </p:txBody>
      </p:sp>
      <p:sp>
        <p:nvSpPr>
          <p:cNvPr id="25" name="TextBox 24"/>
          <p:cNvSpPr txBox="1"/>
          <p:nvPr/>
        </p:nvSpPr>
        <p:spPr>
          <a:xfrm>
            <a:off x="3496830" y="3699845"/>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Opto-isolated relay switching the lamp mains; 120 mm four-wire fan with tachometer feedback</a:t>
            </a:r>
          </a:p>
        </p:txBody>
      </p:sp>
      <p:sp>
        <p:nvSpPr>
          <p:cNvPr id="26" name="Rectangle 25"/>
          <p:cNvSpPr/>
          <p:nvPr/>
        </p:nvSpPr>
        <p:spPr>
          <a:xfrm>
            <a:off x="566928" y="4024457"/>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4083893"/>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Control law</a:t>
            </a:r>
          </a:p>
        </p:txBody>
      </p:sp>
      <p:sp>
        <p:nvSpPr>
          <p:cNvPr id="28" name="TextBox 27"/>
          <p:cNvSpPr txBox="1"/>
          <p:nvPr/>
        </p:nvSpPr>
        <p:spPr>
          <a:xfrm>
            <a:off x="3496830" y="4083893"/>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Lamp on above gas index 200, off below 150; fan ramped from half to full across 200–500</a:t>
            </a:r>
          </a:p>
        </p:txBody>
      </p:sp>
      <p:sp>
        <p:nvSpPr>
          <p:cNvPr id="29" name="Rectangle 28"/>
          <p:cNvSpPr/>
          <p:nvPr/>
        </p:nvSpPr>
        <p:spPr>
          <a:xfrm>
            <a:off x="566928" y="4408505"/>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1792" y="4467941"/>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Alert thresholds</a:t>
            </a:r>
          </a:p>
        </p:txBody>
      </p:sp>
      <p:sp>
        <p:nvSpPr>
          <p:cNvPr id="31" name="TextBox 30"/>
          <p:cNvSpPr txBox="1"/>
          <p:nvPr/>
        </p:nvSpPr>
        <p:spPr>
          <a:xfrm>
            <a:off x="3496830" y="4467941"/>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38 °C, 1200 ppm CO₂, gas index 200, 55 µg/m³ PM2.5</a:t>
            </a:r>
          </a:p>
        </p:txBody>
      </p:sp>
      <p:sp>
        <p:nvSpPr>
          <p:cNvPr id="32" name="Rectangle 31"/>
          <p:cNvSpPr/>
          <p:nvPr/>
        </p:nvSpPr>
        <p:spPr>
          <a:xfrm>
            <a:off x="566928" y="4792553"/>
            <a:ext cx="11057839" cy="7315"/>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21792" y="4851989"/>
            <a:ext cx="2765310"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Power</a:t>
            </a:r>
          </a:p>
        </p:txBody>
      </p:sp>
      <p:sp>
        <p:nvSpPr>
          <p:cNvPr id="34" name="TextBox 33"/>
          <p:cNvSpPr txBox="1"/>
          <p:nvPr/>
        </p:nvSpPr>
        <p:spPr>
          <a:xfrm>
            <a:off x="3496830" y="4851989"/>
            <a:ext cx="8073073" cy="384048"/>
          </a:xfrm>
          <a:prstGeom prst="rect">
            <a:avLst/>
          </a:prstGeom>
          <a:noFill/>
        </p:spPr>
        <p:txBody>
          <a:bodyPr wrap="square" lIns="0" rIns="0" tIns="0" bIns="0" anchor="t">
            <a:spAutoFit/>
          </a:bodyPr>
          <a:lstStyle/>
          <a:p>
            <a:pPr algn="l">
              <a:lnSpc>
                <a:spcPct val="98000"/>
              </a:lnSpc>
              <a:spcBef>
                <a:spcPts val="0"/>
              </a:spcBef>
              <a:spcAft>
                <a:spcPts val="0"/>
              </a:spcAft>
            </a:pPr>
            <a:r>
              <a:rPr sz="1200" b="0" i="0">
                <a:solidFill>
                  <a:srgbClr val="3B4557"/>
                </a:solidFill>
                <a:latin typeface="Calibri"/>
              </a:rPr>
              <a:t>Two isolated 12 V supplies brought to a single common ground point</a:t>
            </a:r>
          </a:p>
        </p:txBody>
      </p:sp>
      <p:sp>
        <p:nvSpPr>
          <p:cNvPr id="35" name="Rectangle 34"/>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fan is the one actuator in the system whose response can be confirmed rather than assumed. The power split is not an elegance: the next slide gives the failure it exists to prevent.</a:t>
            </a:r>
          </a:p>
        </p:txBody>
      </p:sp>
      <p:sp>
        <p:nvSpPr>
          <p:cNvPr id="38" name="TextBox 3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39" name="TextBox 3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Three channels at once, not a failover chain</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17 · devices, three transports, and the containerised stack that ingests and stores</a:t>
            </a:r>
          </a:p>
        </p:txBody>
      </p:sp>
      <p:sp>
        <p:nvSpPr>
          <p:cNvPr id="6" name="TextBox 5"/>
          <p:cNvSpPr txBox="1"/>
          <p:nvPr/>
        </p:nvSpPr>
        <p:spPr>
          <a:xfrm>
            <a:off x="566928" y="1316736"/>
            <a:ext cx="448140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1" i="0">
                <a:solidFill>
                  <a:srgbClr val="3B4557"/>
                </a:solidFill>
                <a:latin typeface="Calibri"/>
              </a:rPr>
              <a:t>Wi-Fi. </a:t>
            </a:r>
            <a:r>
              <a:rPr sz="1250" b="0" i="0">
                <a:solidFill>
                  <a:srgbClr val="3B4557"/>
                </a:solidFill>
                <a:latin typeface="Calibri"/>
              </a:rPr>
              <a:t>A full message every 5 s to a broker on the server, where a flow engine ingests it and writes to the time-series database.</a:t>
            </a:r>
          </a:p>
          <a:p>
            <a:pPr algn="l" marL="182880" indent="-182880">
              <a:lnSpc>
                <a:spcPct val="105000"/>
              </a:lnSpc>
              <a:spcBef>
                <a:spcPts val="0"/>
              </a:spcBef>
              <a:spcAft>
                <a:spcPts val="900"/>
              </a:spcAft>
              <a:buClr>
                <a:srgbClr val="4C7AA8"/>
              </a:buClr>
              <a:buFont typeface="Arial"/>
              <a:buChar char="•"/>
            </a:pPr>
            <a:r>
              <a:rPr sz="1250" b="1" i="0">
                <a:solidFill>
                  <a:srgbClr val="3B4557"/>
                </a:solidFill>
                <a:latin typeface="Calibri"/>
              </a:rPr>
              <a:t>Long-range radio. </a:t>
            </a:r>
            <a:r>
              <a:rPr sz="1250" b="0" i="0">
                <a:solidFill>
                  <a:srgbClr val="3B4557"/>
                </a:solidFill>
                <a:latin typeface="Calibri"/>
              </a:rPr>
              <a:t>At most 240 bytes every 30 s to a gateway microcontroller; a dedicated service reads that gateway over serial and writes to the same database with the same schema, distinguished only by a source tag.</a:t>
            </a:r>
          </a:p>
          <a:p>
            <a:pPr algn="l" marL="182880" indent="-182880">
              <a:lnSpc>
                <a:spcPct val="105000"/>
              </a:lnSpc>
              <a:spcBef>
                <a:spcPts val="0"/>
              </a:spcBef>
              <a:spcAft>
                <a:spcPts val="900"/>
              </a:spcAft>
              <a:buClr>
                <a:srgbClr val="4C7AA8"/>
              </a:buClr>
              <a:buFont typeface="Arial"/>
              <a:buChar char="•"/>
            </a:pPr>
            <a:r>
              <a:rPr sz="1250" b="1" i="0">
                <a:solidFill>
                  <a:srgbClr val="3B4557"/>
                </a:solidFill>
                <a:latin typeface="Calibri"/>
              </a:rPr>
              <a:t>Cellular. </a:t>
            </a:r>
            <a:r>
              <a:rPr sz="1250" b="0" i="0">
                <a:solidFill>
                  <a:srgbClr val="3B4557"/>
                </a:solidFill>
                <a:latin typeface="Calibri"/>
              </a:rPr>
              <a:t>A short message on any threshold breach, on the corresponding clear, and a summary every 30 minutes. It delivers to a person; nothing on the server records it.</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 failover design must detect failure before it can switch, and detection is the first thing to fail in a dead network. Running independent channels concurrently avoids that dependency, at a bandwidth cost a low-rate telemetry system can absorb.</a:t>
            </a:r>
          </a:p>
        </p:txBody>
      </p:sp>
      <p:pic>
        <p:nvPicPr>
          <p:cNvPr id="7" name="Picture 6" descr="fig17.png"/>
          <p:cNvPicPr>
            <a:picLocks noChangeAspect="1"/>
          </p:cNvPicPr>
          <p:nvPr/>
        </p:nvPicPr>
        <p:blipFill>
          <a:blip r:embed="rId2"/>
          <a:stretch>
            <a:fillRect/>
          </a:stretch>
        </p:blipFill>
        <p:spPr>
          <a:xfrm>
            <a:off x="5432377" y="1726477"/>
            <a:ext cx="6192389" cy="3222164"/>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Only two of the three reach the database. A reader who assumes all three converge on the broker would draw the wrong conclusion about what a server outage costs.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Three design decisions that answered observed failures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Driving the long-range radio from the host computer’s GPIO. </a:t>
            </a:r>
            <a:r>
              <a:rPr sz="1300" b="0" i="0">
                <a:solidFill>
                  <a:srgbClr val="3B4557"/>
                </a:solidFill>
                <a:latin typeface="Calibri"/>
              </a:rPr>
              <a:t>Attempted and abandoned. The command protocol requires deterministic timing that a non-real-time operating system does not provide, and scheduler jitter produced dropped packets that were indistinguishable from radio link failures. Interposing a dedicated microcontroller moved the timing-critical work to where timing is deterministic.</a:t>
            </a:r>
          </a:p>
          <a:p>
            <a:pPr algn="l" marL="182880" indent="-182880">
              <a:lnSpc>
                <a:spcPct val="105000"/>
              </a:lnSpc>
              <a:spcBef>
                <a:spcPts val="0"/>
              </a:spcBef>
              <a:spcAft>
                <a:spcPts val="1200"/>
              </a:spcAft>
              <a:buClr>
                <a:srgbClr val="4C7AA8"/>
              </a:buClr>
              <a:buFont typeface="Arial"/>
              <a:buChar char="•"/>
            </a:pPr>
            <a:r>
              <a:rPr sz="1300" b="1" i="0">
                <a:solidFill>
                  <a:srgbClr val="3B4557"/>
                </a:solidFill>
                <a:latin typeface="Calibri"/>
              </a:rPr>
              <a:t>The cellular modem draws approximately 2 A in transmit bursts. </a:t>
            </a:r>
            <a:r>
              <a:rPr sz="1300" b="0" i="0">
                <a:solidFill>
                  <a:srgbClr val="3B4557"/>
                </a:solidFill>
                <a:latin typeface="Calibri"/>
              </a:rPr>
              <a:t>Sharing a supply rail with the microcontroller produced brownout resets. Two supplies with a single common ground point eliminated them.</a:t>
            </a:r>
          </a:p>
          <a:p>
            <a:pPr algn="l" marL="182880" indent="-182880">
              <a:lnSpc>
                <a:spcPct val="105000"/>
              </a:lnSpc>
              <a:spcBef>
                <a:spcPts val="0"/>
              </a:spcBef>
              <a:spcAft>
                <a:spcPts val="1200"/>
              </a:spcAft>
              <a:buClr>
                <a:srgbClr val="4C7AA8"/>
              </a:buClr>
              <a:buFont typeface="Arial"/>
              <a:buChar char="•"/>
            </a:pPr>
            <a:r>
              <a:rPr sz="1300" b="0" i="0">
                <a:solidFill>
                  <a:srgbClr val="3B4557"/>
                </a:solidFill>
                <a:latin typeface="Calibri"/>
              </a:rPr>
              <a:t>The three channels run concurrently rather than as a chain, for the detection reason on the previous slide.</a:t>
            </a:r>
          </a:p>
          <a:p>
            <a:pPr algn="l" marL="182880" indent="-182880">
              <a:lnSpc>
                <a:spcPct val="105000"/>
              </a:lnSpc>
              <a:spcBef>
                <a:spcPts val="0"/>
              </a:spcBef>
              <a:spcAft>
                <a:spcPts val="1200"/>
              </a:spcAft>
              <a:buClr>
                <a:srgbClr val="4C7AA8"/>
              </a:buClr>
              <a:buFont typeface="Arial"/>
              <a:buChar char="•"/>
            </a:pPr>
            <a:r>
              <a:rPr sz="1300" b="1" i="0">
                <a:solidFill>
                  <a:srgbClr val="B03A34"/>
                </a:solidFill>
                <a:latin typeface="Calibri"/>
              </a:rPr>
              <a:t>Stated rather than implied. </a:t>
            </a:r>
            <a:r>
              <a:rPr sz="1300" b="0" i="0">
                <a:solidFill>
                  <a:srgbClr val="3B4557"/>
                </a:solidFill>
                <a:latin typeface="Calibri"/>
              </a:rPr>
              <a:t>Separation between the two co-located deployments is by network identifier, which the transceiver filters at the protocol layer. That is an addressing filter, not a security mechanism: the control path carries no message authentication, so any transmitter within range configured to the right identifier can actuate a lamp. Acceptable on an isolated laboratory network, and not acceptable anywhere else.</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Separately: the two deployments were configured on different frequencies, and neither matches the delicensed band available in India. Nothing has been obstructed, and it would have to be settled before the system went near a real facility.</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control law, and the dashboard the operator sees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18 · the dashboard in service, photographed off the screen</a:t>
            </a:r>
          </a:p>
        </p:txBody>
      </p:sp>
      <p:sp>
        <p:nvSpPr>
          <p:cNvPr id="6" name="TextBox 5"/>
          <p:cNvSpPr txBox="1"/>
          <p:nvPr/>
        </p:nvSpPr>
        <p:spPr>
          <a:xfrm>
            <a:off x="566928" y="1316736"/>
            <a:ext cx="514487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lamp switches on above a gas index of 200 and off below 150, so the two thresholds are separated by a band in which nothing changes and the relay cannot chatter around a single setpoint.</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The fan is not switched but ramped, from half command at the lamp-on threshold to full at an index of 500, and never below half duty while the lamp is energised, because irradiating stationary air accomplishes little.</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 breach fires simultaneously on all three channels and the alert state is latched, so a sustained breach does not generate a message on every cycle. Particulate matter is evaluated only when the reading is valid, and a sensor that fails to respond is transmitted as a negative marker rather than as zero.</a:t>
            </a:r>
          </a:p>
          <a:p>
            <a:pPr algn="l" marL="182880" indent="-182880">
              <a:lnSpc>
                <a:spcPct val="105000"/>
              </a:lnSpc>
              <a:spcBef>
                <a:spcPts val="0"/>
              </a:spcBef>
              <a:spcAft>
                <a:spcPts val="900"/>
              </a:spcAft>
              <a:buClr>
                <a:srgbClr val="4C7AA8"/>
              </a:buClr>
              <a:buFont typeface="Arial"/>
              <a:buChar char="•"/>
            </a:pPr>
            <a:r>
              <a:rPr sz="1250" b="1" i="0">
                <a:solidFill>
                  <a:srgbClr val="A96F15"/>
                </a:solidFill>
                <a:latin typeface="Calibri"/>
              </a:rPr>
              <a:t>What the alert path does not have is the dead band the control path does. </a:t>
            </a:r>
            <a:r>
              <a:rPr sz="1250" b="0" i="0">
                <a:solidFill>
                  <a:srgbClr val="3B4557"/>
                </a:solidFill>
                <a:latin typeface="Calibri"/>
              </a:rPr>
              <a:t>It compares a noisy signal against a bare threshold, so a reading sitting near a limit flaps, and each transition sends a message.</a:t>
            </a:r>
          </a:p>
        </p:txBody>
      </p:sp>
      <p:pic>
        <p:nvPicPr>
          <p:cNvPr id="7" name="Picture 6" descr="fig18.png"/>
          <p:cNvPicPr>
            <a:picLocks noChangeAspect="1"/>
          </p:cNvPicPr>
          <p:nvPr/>
        </p:nvPicPr>
        <p:blipFill>
          <a:blip r:embed="rId2"/>
          <a:stretch>
            <a:fillRect/>
          </a:stretch>
        </p:blipFill>
        <p:spPr>
          <a:xfrm>
            <a:off x="6095847" y="1818555"/>
            <a:ext cx="5528919" cy="3038009"/>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Twenty-three panels templated per zone, so one layout serves all four installations.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Deployed, audited, and what is still owed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ENVIRONMENTAL MONITORING</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DEPLOYED AND OPERATING</a:t>
            </a:r>
          </a:p>
        </p:txBody>
      </p:sp>
      <p:sp>
        <p:nvSpPr>
          <p:cNvPr id="6" name="TextBox 5"/>
          <p:cNvSpPr txBox="1"/>
          <p:nvPr/>
        </p:nvSpPr>
        <p:spPr>
          <a:xfrm>
            <a:off x="566928"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Four zones across two radio-isolated installations sharing one database. All three communication channels, both control paths and the dashboards are in service.</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system recovers automatically after a power interruption without intervention.</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control law was checked against the deployed system: a capture shows the gas index below its actuation threshold with the lamp correspondingly off, and the carbon dioxide reading at the same instant above its alert threshold with alerts raised on all three channels.</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That establishes the deployed logic produces the configured states for the inputs present at an instant. A time-resolved recording (measurement, threshold crossing, actuator command and response on one time axis) is the next capture the control path needs.</a:t>
            </a:r>
          </a:p>
        </p:txBody>
      </p:sp>
      <p:sp>
        <p:nvSpPr>
          <p:cNvPr id="7" name="TextBox 6"/>
          <p:cNvSpPr txBox="1"/>
          <p:nvPr/>
        </p:nvSpPr>
        <p:spPr>
          <a:xfrm>
            <a:off x="6347307"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CLOSED BY THE SOURCE-LEVEL AUDIT</a:t>
            </a:r>
          </a:p>
        </p:txBody>
      </p:sp>
      <p:sp>
        <p:nvSpPr>
          <p:cNvPr id="8" name="TextBox 7"/>
          <p:cNvSpPr txBox="1"/>
          <p:nvPr/>
        </p:nvSpPr>
        <p:spPr>
          <a:xfrm>
            <a:off x="6347307" y="1719072"/>
            <a:ext cx="5277459" cy="3639312"/>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Lamp-failure detection now runs from the irradiance the unit was already measuring: once the relay has been closed longer than the lamp strike time, irradiance above a threshold is required, and its absence raises an alert. That is the capability which separates the unit from a timer.</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operator off-command persists rather than being reverted on the next automatic pass.</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cellular inbox poll no longer blocks the main loop, which removed the publish jitter and the command latency together.</a:t>
            </a:r>
          </a:p>
          <a:p>
            <a:pPr algn="l" marL="182880" indent="-182880">
              <a:lnSpc>
                <a:spcPct val="105000"/>
              </a:lnSpc>
              <a:spcBef>
                <a:spcPts val="0"/>
              </a:spcBef>
              <a:spcAft>
                <a:spcPts val="900"/>
              </a:spcAft>
              <a:buClr>
                <a:srgbClr val="4C7AA8"/>
              </a:buClr>
              <a:buFont typeface="Arial"/>
              <a:buChar char="•"/>
            </a:pPr>
            <a:r>
              <a:rPr sz="1300" b="0" i="0">
                <a:solidFill>
                  <a:srgbClr val="3B4557"/>
                </a:solidFill>
                <a:latin typeface="Calibri"/>
              </a:rPr>
              <a:t>The gas channel is driven from the stored calibration rather than from a rescaled analogue count.</a:t>
            </a:r>
          </a:p>
        </p:txBody>
      </p:sp>
      <p:sp>
        <p:nvSpPr>
          <p:cNvPr id="9" name="Rectangle 8"/>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What remains is instrumentation, not software: the gas channel against a reference gas, and the ultraviolet channel against a reference radiometer at a fixed geometry. Both need instruments rather than development time.</a:t>
            </a:r>
          </a:p>
        </p:txBody>
      </p:sp>
      <p:sp>
        <p:nvSpPr>
          <p:cNvPr id="12" name="TextBox 11"/>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3" name="TextBox 12"/>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417320" y="1389888"/>
            <a:ext cx="2743200" cy="868680"/>
          </a:xfrm>
          <a:prstGeom prst="rect">
            <a:avLst/>
          </a:prstGeom>
          <a:noFill/>
        </p:spPr>
        <p:txBody>
          <a:bodyPr wrap="square" lIns="0" rIns="0" tIns="0" bIns="0" anchor="t">
            <a:spAutoFit/>
          </a:bodyPr>
          <a:lstStyle/>
          <a:p>
            <a:pPr algn="l">
              <a:lnSpc>
                <a:spcPct val="90000"/>
              </a:lnSpc>
              <a:spcBef>
                <a:spcPts val="0"/>
              </a:spcBef>
              <a:spcAft>
                <a:spcPts val="0"/>
              </a:spcAft>
            </a:pPr>
            <a:r>
              <a:rPr sz="6200" b="1" i="0">
                <a:solidFill>
                  <a:srgbClr val="BFCFE0"/>
                </a:solidFill>
                <a:latin typeface="Cambria"/>
              </a:rPr>
              <a:t>03</a:t>
            </a:r>
          </a:p>
        </p:txBody>
      </p:sp>
      <p:sp>
        <p:nvSpPr>
          <p:cNvPr id="5" name="TextBox 4"/>
          <p:cNvSpPr txBox="1"/>
          <p:nvPr/>
        </p:nvSpPr>
        <p:spPr>
          <a:xfrm>
            <a:off x="1417320" y="2231136"/>
            <a:ext cx="8778240" cy="384048"/>
          </a:xfrm>
          <a:prstGeom prst="rect">
            <a:avLst/>
          </a:prstGeom>
          <a:noFill/>
        </p:spPr>
        <p:txBody>
          <a:bodyPr wrap="square" lIns="0" rIns="0" tIns="0" bIns="0" anchor="t">
            <a:spAutoFit/>
          </a:bodyPr>
          <a:lstStyle/>
          <a:p>
            <a:pPr algn="l">
              <a:lnSpc>
                <a:spcPct val="100000"/>
              </a:lnSpc>
              <a:spcBef>
                <a:spcPts val="0"/>
              </a:spcBef>
              <a:spcAft>
                <a:spcPts val="0"/>
              </a:spcAft>
            </a:pPr>
            <a:r>
              <a:rPr sz="1150" b="1" i="0" spc="180">
                <a:solidFill>
                  <a:srgbClr val="1F4E79"/>
                </a:solidFill>
                <a:latin typeface="Calibri"/>
              </a:rPr>
              <a:t>STRAND THREE</a:t>
            </a:r>
          </a:p>
        </p:txBody>
      </p:sp>
      <p:sp>
        <p:nvSpPr>
          <p:cNvPr id="6" name="TextBox 5"/>
          <p:cNvSpPr txBox="1"/>
          <p:nvPr/>
        </p:nvSpPr>
        <p:spPr>
          <a:xfrm>
            <a:off x="1417320" y="2651760"/>
            <a:ext cx="8961120" cy="914400"/>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1A2230"/>
                </a:solidFill>
                <a:latin typeface="Cambria"/>
              </a:rPr>
              <a:t>Contactless Assessment of Worker Fatigue</a:t>
            </a:r>
          </a:p>
        </p:txBody>
      </p:sp>
      <p:sp>
        <p:nvSpPr>
          <p:cNvPr id="7" name="Rectangle 6"/>
          <p:cNvSpPr/>
          <p:nvPr/>
        </p:nvSpPr>
        <p:spPr>
          <a:xfrm>
            <a:off x="1417320" y="3785615"/>
            <a:ext cx="1005840"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17320" y="4096512"/>
            <a:ext cx="8321040" cy="1005840"/>
          </a:xfrm>
          <a:prstGeom prst="rect">
            <a:avLst/>
          </a:prstGeom>
          <a:noFill/>
        </p:spPr>
        <p:txBody>
          <a:bodyPr wrap="square" lIns="0" rIns="0" tIns="0" bIns="0" anchor="t">
            <a:spAutoFit/>
          </a:bodyPr>
          <a:lstStyle/>
          <a:p>
            <a:pPr algn="l">
              <a:lnSpc>
                <a:spcPct val="115000"/>
              </a:lnSpc>
              <a:spcBef>
                <a:spcPts val="0"/>
              </a:spcBef>
              <a:spcAft>
                <a:spcPts val="0"/>
              </a:spcAft>
            </a:pPr>
            <a:r>
              <a:rPr sz="1500" b="0" i="1">
                <a:solidFill>
                  <a:srgbClr val="3B4557"/>
                </a:solidFill>
                <a:latin typeface="Cambria"/>
              </a:rPr>
              <a:t>A hypothesis, a completed literature survey, and a research proposal built on both. No hardware has been built, no data has been collected, and nothing has been measured.</a:t>
            </a:r>
          </a:p>
        </p:txBody>
      </p:sp>
      <p:sp>
        <p:nvSpPr>
          <p:cNvPr id="9" name="TextBox 8"/>
          <p:cNvSpPr txBox="1"/>
          <p:nvPr/>
        </p:nvSpPr>
        <p:spPr>
          <a:xfrm>
            <a:off x="1417320" y="5138928"/>
            <a:ext cx="832104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spc="60">
                <a:solidFill>
                  <a:srgbClr val="A96F15"/>
                </a:solidFill>
                <a:latin typeface="Calibri"/>
              </a:rPr>
              <a:t>Proposed · survey complete · nothing built</a:t>
            </a:r>
          </a:p>
        </p:txBody>
      </p:sp>
      <p:sp>
        <p:nvSpPr>
          <p:cNvPr id="10" name="TextBox 9"/>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1" name="TextBox 10"/>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setting, and where each established method stops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CONTACTLESS FATIGUE</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19 · the operating condition against the class of instrument each method belongs to</a:t>
            </a:r>
          </a:p>
        </p:txBody>
      </p:sp>
      <p:sp>
        <p:nvSpPr>
          <p:cNvPr id="6" name="TextBox 5"/>
          <p:cNvSpPr txBox="1"/>
          <p:nvPr/>
        </p:nvSpPr>
        <p:spPr>
          <a:xfrm>
            <a:off x="566928" y="1316736"/>
            <a:ext cx="4702558"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India’s logistics and warehousing sector employs over 22 million people, is expanding under the National Logistics Policy of 2022, and records more than 26,800 workplace incidents a year. Nearly 70 per cent of that workforce is in the unorganised sector, where occupational health protocols are minimal or absent.</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Shifts of ten to twelve hours, sustained walking and lifting, and ambient temperatures that routinely exceed 40 °C. Occupational heat stress in Indian workplaces has been measured directly, with documented exceedances and associated health and productivity consequences.</a:t>
            </a:r>
          </a:p>
          <a:p>
            <a:pPr algn="l" marL="182880" indent="-182880">
              <a:lnSpc>
                <a:spcPct val="105000"/>
              </a:lnSpc>
              <a:spcBef>
                <a:spcPts val="0"/>
              </a:spcBef>
              <a:spcAft>
                <a:spcPts val="900"/>
              </a:spcAft>
              <a:buClr>
                <a:srgbClr val="4C7AA8"/>
              </a:buClr>
              <a:buFont typeface="Arial"/>
              <a:buChar char="•"/>
            </a:pPr>
            <a:r>
              <a:rPr sz="1250" b="1" i="0">
                <a:solidFill>
                  <a:srgbClr val="B03A34"/>
                </a:solidFill>
                <a:latin typeface="Calibri"/>
              </a:rPr>
              <a:t>Subjective report. </a:t>
            </a:r>
            <a:r>
              <a:rPr sz="1250" b="0" i="0">
                <a:solidFill>
                  <a:srgbClr val="3B4557"/>
                </a:solidFill>
                <a:latin typeface="Calibri"/>
              </a:rPr>
              <a:t>Unreliable at its source, and no instrument corrects that.</a:t>
            </a:r>
          </a:p>
          <a:p>
            <a:pPr algn="l" marL="182880" indent="-182880">
              <a:lnSpc>
                <a:spcPct val="105000"/>
              </a:lnSpc>
              <a:spcBef>
                <a:spcPts val="0"/>
              </a:spcBef>
              <a:spcAft>
                <a:spcPts val="900"/>
              </a:spcAft>
              <a:buClr>
                <a:srgbClr val="4C7AA8"/>
              </a:buClr>
              <a:buFont typeface="Arial"/>
              <a:buChar char="•"/>
            </a:pPr>
            <a:r>
              <a:rPr sz="1250" b="1" i="0">
                <a:solidFill>
                  <a:srgbClr val="A96F15"/>
                </a:solidFill>
                <a:latin typeface="Calibri"/>
              </a:rPr>
              <a:t>Contact methods. </a:t>
            </a:r>
            <a:r>
              <a:rPr sz="1250" b="0" i="0">
                <a:solidFill>
                  <a:srgbClr val="3B4557"/>
                </a:solidFill>
                <a:latin typeface="Calibri"/>
              </a:rPr>
              <a:t>Reliable in themselves, and cannot be maintained in contact across a ten-hour shift above 40 °C. That is a limitation of the instrument rather than of the measurement principle, and therefore a tractable one.</a:t>
            </a:r>
          </a:p>
        </p:txBody>
      </p:sp>
      <p:pic>
        <p:nvPicPr>
          <p:cNvPr id="7" name="Picture 6" descr="fig19.png"/>
          <p:cNvPicPr>
            <a:picLocks noChangeAspect="1"/>
          </p:cNvPicPr>
          <p:nvPr/>
        </p:nvPicPr>
        <p:blipFill>
          <a:blip r:embed="rId2"/>
          <a:stretch>
            <a:fillRect/>
          </a:stretch>
        </p:blipFill>
        <p:spPr>
          <a:xfrm>
            <a:off x="5653534" y="2358303"/>
            <a:ext cx="5971233" cy="1958513"/>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It is that second class of failure, and only that class, which this strand addresses.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hypothesis, and the gap it sits in</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CONTACTLESS FATIGUE</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The hypothesis. </a:t>
            </a:r>
            <a:r>
              <a:rPr sz="1250" b="0" i="0">
                <a:solidFill>
                  <a:srgbClr val="3B4557"/>
                </a:solidFill>
                <a:latin typeface="Calibri"/>
              </a:rPr>
              <a:t>Physical fatigue shows itself as a correlated signature across several physiological domains at once: gait regularity deteriorating, heart and respiration rates rising, and facial skin temperature climbing.</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What follows if it holds. </a:t>
            </a:r>
            <a:r>
              <a:rPr sz="1250" b="0" i="0">
                <a:solidFill>
                  <a:srgbClr val="3B4557"/>
                </a:solidFill>
                <a:latin typeface="Calibri"/>
              </a:rPr>
              <a:t>A system watching all of those at the same time should beat any system watching one of them, and should beat it hardest under exactly the conditions where single modalities struggle, which are occlusion, heat and an uncontrolled floor.</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Surface electromyography with inertial measurement is the established laboratory approach, reporting 87.9 per cent accuracy on induced fatigue under leave-one-subject-out validation across 35 participants. The requirement for skin-contact electrodes and per-subject placement is what prevents its use on an operating floor.</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The most mature deployed fatigue systems monitor drivers, and thermal facial imaging alone reaches 82 per cent against observer-rated drowsiness in a simulator. These assume a seated, stationary, forward-facing and cooperative subject at fixed distance. A worker walking an aisle under load satisfies none of those assumptions.</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The gap. </a:t>
            </a:r>
            <a:r>
              <a:rPr sz="1250" b="0" i="0">
                <a:solidFill>
                  <a:srgbClr val="3B4557"/>
                </a:solidFill>
                <a:latin typeface="Calibri"/>
              </a:rPr>
              <a:t>The fusion of contactless modalities for whole-body physical fatigue assessment in an uncontrolled industrial environment. No study meeting the criteria used in this review was identified.</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 bounded search, not an exhaustive one: Crossref and scite, June to September 2026, peer-reviewed work only. The claim is a gap in a search rather than a gap in the field.</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The framework proposed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CONTACTLESS FATIGUE</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20 · one crossing of the monitored zone, capture to a single score</a:t>
            </a:r>
          </a:p>
        </p:txBody>
      </p:sp>
      <p:sp>
        <p:nvSpPr>
          <p:cNvPr id="6" name="TextBox 5"/>
          <p:cNvSpPr txBox="1"/>
          <p:nvPr/>
        </p:nvSpPr>
        <p:spPr>
          <a:xfrm>
            <a:off x="566928" y="1316736"/>
            <a:ext cx="4702558"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00" b="0" i="0">
                <a:solidFill>
                  <a:srgbClr val="3B4557"/>
                </a:solidFill>
                <a:latin typeface="Calibri"/>
              </a:rPr>
              <a:t>Camera with on-device pose estimation: stride, cadence, trunk sway, left-right asymmetry. Solid-state lidar: the same geometry in three dimensions, plus step width and centre-of-mass motion, insensitive to illumination. 60 GHz radar: heart rate, respiration and variability through clothing. Long-wave infrared: facial skin temperature and the forehead-to-cheek gradient.</a:t>
            </a:r>
          </a:p>
          <a:p>
            <a:pPr algn="l" marL="182880" indent="-182880">
              <a:lnSpc>
                <a:spcPct val="105000"/>
              </a:lnSpc>
              <a:spcBef>
                <a:spcPts val="0"/>
              </a:spcBef>
              <a:spcAft>
                <a:spcPts val="900"/>
              </a:spcAft>
              <a:buClr>
                <a:srgbClr val="4C7AA8"/>
              </a:buClr>
              <a:buFont typeface="Arial"/>
              <a:buChar char="•"/>
            </a:pPr>
            <a:r>
              <a:rPr sz="1200" b="1" i="0">
                <a:solidFill>
                  <a:srgbClr val="3B4557"/>
                </a:solidFill>
                <a:latin typeface="Calibri"/>
              </a:rPr>
              <a:t>Decision one: capture is fixed and single-subject. </a:t>
            </a:r>
            <a:r>
              <a:rPr sz="1200" b="0" i="0">
                <a:solidFill>
                  <a:srgbClr val="3B4557"/>
                </a:solidFill>
                <a:latin typeface="Calibri"/>
              </a:rPr>
              <a:t>Rather than tracking several people across a floor, the node sits at one point everybody passes, mounted two and a half to three and a half metres up and angled down, working at one to five metres. Each crossing yields one clean measurement of one person.</a:t>
            </a:r>
          </a:p>
          <a:p>
            <a:pPr algn="l" marL="182880" indent="-182880">
              <a:lnSpc>
                <a:spcPct val="105000"/>
              </a:lnSpc>
              <a:spcBef>
                <a:spcPts val="0"/>
              </a:spcBef>
              <a:spcAft>
                <a:spcPts val="900"/>
              </a:spcAft>
              <a:buClr>
                <a:srgbClr val="4C7AA8"/>
              </a:buClr>
              <a:buFont typeface="Arial"/>
              <a:buChar char="•"/>
            </a:pPr>
            <a:r>
              <a:rPr sz="1200" b="1" i="0">
                <a:solidFill>
                  <a:srgbClr val="3B4557"/>
                </a:solidFill>
                <a:latin typeface="Calibri"/>
              </a:rPr>
              <a:t>Decision two: every feature is referred to the worker’s own shift-start baseline. </a:t>
            </a:r>
            <a:r>
              <a:rPr sz="1200" b="0" i="0">
                <a:solidFill>
                  <a:srgbClr val="3B4557"/>
                </a:solidFill>
                <a:latin typeface="Calibri"/>
              </a:rPr>
              <a:t>That converts an absolute measurement, which varies enormously between people, into a within-subject change, which is the quantity the question is actually about.</a:t>
            </a:r>
          </a:p>
          <a:p>
            <a:pPr algn="l" marL="182880" indent="-182880">
              <a:lnSpc>
                <a:spcPct val="105000"/>
              </a:lnSpc>
              <a:spcBef>
                <a:spcPts val="0"/>
              </a:spcBef>
              <a:spcAft>
                <a:spcPts val="900"/>
              </a:spcAft>
              <a:buClr>
                <a:srgbClr val="4C7AA8"/>
              </a:buClr>
              <a:buFont typeface="Arial"/>
              <a:buChar char="•"/>
            </a:pPr>
            <a:r>
              <a:rPr sz="1200" b="0" i="0">
                <a:solidFill>
                  <a:srgbClr val="3B4557"/>
                </a:solidFill>
                <a:latin typeface="Calibri"/>
              </a:rPr>
              <a:t>Gait carries enough information to identify a person. A system installed to estimate fatigue must not become one that recognises individuals, so the pipeline has to discard identity by construction rather than by policy.</a:t>
            </a:r>
          </a:p>
        </p:txBody>
      </p:sp>
      <p:pic>
        <p:nvPicPr>
          <p:cNvPr id="7" name="Picture 6" descr="fig20.png"/>
          <p:cNvPicPr>
            <a:picLocks noChangeAspect="1"/>
          </p:cNvPicPr>
          <p:nvPr/>
        </p:nvPicPr>
        <p:blipFill>
          <a:blip r:embed="rId2"/>
          <a:stretch>
            <a:fillRect/>
          </a:stretch>
        </p:blipFill>
        <p:spPr>
          <a:xfrm>
            <a:off x="5653534" y="2270014"/>
            <a:ext cx="5971233" cy="2135090"/>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The fused estimate is computed without any raw video or point cloud leaving the sensor bracket, which makes the privacy position a property of the architecture rather than an undertaking.</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How it would be validated, and the bar set in advance</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CONTACTLESS FATIGUE</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Figure 21 · the three objectives, and the reference each is measured against</a:t>
            </a:r>
          </a:p>
        </p:txBody>
      </p:sp>
      <p:sp>
        <p:nvSpPr>
          <p:cNvPr id="6" name="TextBox 5"/>
          <p:cNvSpPr txBox="1"/>
          <p:nvPr/>
        </p:nvSpPr>
        <p:spPr>
          <a:xfrm>
            <a:off x="566928" y="1316736"/>
            <a:ext cx="5144871" cy="4041648"/>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Gait from the camera and the lidar is checked against marker-based motion capture, an external physical reference rather than another estimate.</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A subset of volunteers wears surface electromyography on the calf muscles and inertial bands at the same time as the contactless capture, so the proposed method is compared directly against the established contact method it proposes to replace, on the same subjects during the same task.</a:t>
            </a:r>
          </a:p>
          <a:p>
            <a:pPr algn="l" marL="182880" indent="-182880">
              <a:lnSpc>
                <a:spcPct val="105000"/>
              </a:lnSpc>
              <a:spcBef>
                <a:spcPts val="0"/>
              </a:spcBef>
              <a:spcAft>
                <a:spcPts val="900"/>
              </a:spcAft>
              <a:buClr>
                <a:srgbClr val="4C7AA8"/>
              </a:buClr>
              <a:buFont typeface="Arial"/>
              <a:buChar char="•"/>
            </a:pPr>
            <a:r>
              <a:rPr sz="1250" b="0" i="0">
                <a:solidFill>
                  <a:srgbClr val="3B4557"/>
                </a:solidFill>
                <a:latin typeface="Calibri"/>
              </a:rPr>
              <a:t>Field deployment then runs in an operational, non-air-conditioned warehouse across thirty to fifty workers and several shifts, scored against the vigilance and sleepiness instruments.</a:t>
            </a:r>
          </a:p>
          <a:p>
            <a:pPr algn="l" marL="182880" indent="-182880">
              <a:lnSpc>
                <a:spcPct val="105000"/>
              </a:lnSpc>
              <a:spcBef>
                <a:spcPts val="0"/>
              </a:spcBef>
              <a:spcAft>
                <a:spcPts val="900"/>
              </a:spcAft>
              <a:buClr>
                <a:srgbClr val="4C7AA8"/>
              </a:buClr>
              <a:buFont typeface="Arial"/>
              <a:buChar char="•"/>
            </a:pPr>
            <a:r>
              <a:rPr sz="1250" b="1" i="0">
                <a:solidFill>
                  <a:srgbClr val="3B4557"/>
                </a:solidFill>
                <a:latin typeface="Calibri"/>
              </a:rPr>
              <a:t>The comparison that decides it. </a:t>
            </a:r>
            <a:r>
              <a:rPr sz="1250" b="0" i="0">
                <a:solidFill>
                  <a:srgbClr val="3B4557"/>
                </a:solidFill>
                <a:latin typeface="Calibri"/>
              </a:rPr>
              <a:t>The fused score must beat four single-modality baselines (camera, lidar, radar and thermal alone), together with an ablation over the four.</a:t>
            </a:r>
          </a:p>
        </p:txBody>
      </p:sp>
      <p:pic>
        <p:nvPicPr>
          <p:cNvPr id="7" name="Picture 6" descr="fig21.png"/>
          <p:cNvPicPr>
            <a:picLocks noChangeAspect="1"/>
          </p:cNvPicPr>
          <p:nvPr/>
        </p:nvPicPr>
        <p:blipFill>
          <a:blip r:embed="rId2"/>
          <a:stretch>
            <a:fillRect/>
          </a:stretch>
        </p:blipFill>
        <p:spPr>
          <a:xfrm>
            <a:off x="6095847" y="2081121"/>
            <a:ext cx="5528919" cy="2512876"/>
          </a:xfrm>
          <a:prstGeom prst="rect">
            <a:avLst/>
          </a:prstGeom>
        </p:spPr>
      </p:pic>
      <p:sp>
        <p:nvSpPr>
          <p:cNvPr id="8" name="Rectangle 7"/>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Setting that bar before any data is collected is deliberate, because it is exactly the comparison that becomes easy to avoid once a pipeline exists and produces plausible-looking numbers.</a:t>
            </a:r>
          </a:p>
        </p:txBody>
      </p:sp>
      <p:sp>
        <p:nvSpPr>
          <p:cNvPr id="11" name="TextBox 10"/>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2" name="TextBox 11"/>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exists, and the sequence that follows</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CONTACTLESS FATIGUE</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What exists at the end of the year. </a:t>
            </a:r>
            <a:r>
              <a:rPr sz="1250" b="0" i="0">
                <a:solidFill>
                  <a:srgbClr val="3B4557"/>
                </a:solidFill>
                <a:latin typeface="Calibri"/>
              </a:rPr>
              <a:t>The survey, the hypothesis it produced, and a research proposal built on both. Alongside the sensing literature the survey covered occupational fatigue physiology, Indian industrial environmental conditions and the data protection position, because a sensing method that cannot be deployed lawfully in the place it was designed for is not a method.</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Stated rather than blurred. </a:t>
            </a:r>
            <a:r>
              <a:rPr sz="1250" b="0" i="0">
                <a:solidFill>
                  <a:srgbClr val="3B4557"/>
                </a:solidFill>
                <a:latin typeface="Calibri"/>
              </a:rPr>
              <a:t>The technical feasibility argument rests entirely on other people’s results. Each of the four modalities has been demonstrated to high accuracy individually, and fusion using this class of architecture has outperformed single-modality baselines in related fatigue tasks. None of that is evidence that the combination works here. It is evidence that the combination is worth attempting.</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First: the capture node. </a:t>
            </a:r>
            <a:r>
              <a:rPr sz="1250" b="0" i="0">
                <a:solidFill>
                  <a:srgbClr val="3B4557"/>
                </a:solidFill>
                <a:latin typeface="Calibri"/>
              </a:rPr>
              <a:t>Until one exists there is no data of any kind.</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Second: per-modality laboratory validation. </a:t>
            </a:r>
            <a:r>
              <a:rPr sz="1250" b="0" i="0">
                <a:solidFill>
                  <a:srgbClr val="3B4557"/>
                </a:solidFill>
                <a:latin typeface="Calibri"/>
              </a:rPr>
              <a:t>The step most likely to end the strand, which is a reason to reach it early rather than late: if two of the four modalities carry no usable fatigue signal on walking subjects, the design changes before anything is built around them.</a:t>
            </a:r>
          </a:p>
          <a:p>
            <a:pPr algn="l" marL="182880" indent="-182880">
              <a:lnSpc>
                <a:spcPct val="105000"/>
              </a:lnSpc>
              <a:spcBef>
                <a:spcPts val="0"/>
              </a:spcBef>
              <a:spcAft>
                <a:spcPts val="1200"/>
              </a:spcAft>
              <a:buClr>
                <a:srgbClr val="4C7AA8"/>
              </a:buClr>
              <a:buFont typeface="Arial"/>
              <a:buChar char="•"/>
            </a:pPr>
            <a:r>
              <a:rPr sz="1250" b="1" i="0">
                <a:solidFill>
                  <a:srgbClr val="3B4557"/>
                </a:solidFill>
                <a:latin typeface="Calibri"/>
              </a:rPr>
              <a:t>Last: fusion, field deployment, the baseline comparison. </a:t>
            </a:r>
            <a:r>
              <a:rPr sz="1250" b="0" i="0">
                <a:solidFill>
                  <a:srgbClr val="3B4557"/>
                </a:solidFill>
                <a:latin typeface="Calibri"/>
              </a:rPr>
              <a:t>Because they are the only steps that need every preceding one to have worked.</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 negative result is a useful contribution while there is still time to act on it, and stops being one once there is not.</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the first year established</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CONCLUSIONS</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316736"/>
            <a:ext cx="9730898" cy="4041648"/>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1" i="0">
                <a:solidFill>
                  <a:srgbClr val="2E7D52"/>
                </a:solidFill>
                <a:latin typeface="Calibri"/>
              </a:rPr>
              <a:t>1. The velocity controller tracks to </a:t>
            </a:r>
            <a:r>
              <a:rPr sz="1250" b="0" i="0">
                <a:solidFill>
                  <a:srgbClr val="3B4557"/>
                </a:solidFill>
                <a:latin typeface="Calibri"/>
              </a:rPr>
              <a:t>0.040 to 0.047 rad/s RMS unloaded and 0.066 to 0.074 under chassis weight, with no channel saturating in any recorded run.</a:t>
            </a:r>
          </a:p>
          <a:p>
            <a:pPr algn="l" marL="182880" indent="-182880">
              <a:lnSpc>
                <a:spcPct val="105000"/>
              </a:lnSpc>
              <a:spcBef>
                <a:spcPts val="0"/>
              </a:spcBef>
              <a:spcAft>
                <a:spcPts val="1200"/>
              </a:spcAft>
              <a:buClr>
                <a:srgbClr val="4C7AA8"/>
              </a:buClr>
              <a:buFont typeface="Arial"/>
              <a:buChar char="•"/>
            </a:pPr>
            <a:r>
              <a:rPr sz="1250" b="1" i="0">
                <a:solidFill>
                  <a:srgbClr val="2E7D52"/>
                </a:solidFill>
                <a:latin typeface="Calibri"/>
              </a:rPr>
              <a:t>2. The kinematic and odometry implementations </a:t>
            </a:r>
            <a:r>
              <a:rPr sz="1250" b="0" i="0">
                <a:solidFill>
                  <a:srgbClr val="3B4557"/>
                </a:solidFill>
                <a:latin typeface="Calibri"/>
              </a:rPr>
              <a:t>are numerically consistent to machine precision across twenty thousand generated cases, and against an offline re-integration of a complete drive.</a:t>
            </a:r>
          </a:p>
          <a:p>
            <a:pPr algn="l" marL="182880" indent="-182880">
              <a:lnSpc>
                <a:spcPct val="105000"/>
              </a:lnSpc>
              <a:spcBef>
                <a:spcPts val="0"/>
              </a:spcBef>
              <a:spcAft>
                <a:spcPts val="1200"/>
              </a:spcAft>
              <a:buClr>
                <a:srgbClr val="4C7AA8"/>
              </a:buClr>
              <a:buFont typeface="Arial"/>
              <a:buChar char="•"/>
            </a:pPr>
            <a:r>
              <a:rPr sz="1250" b="1" i="0">
                <a:solidFill>
                  <a:srgbClr val="2E7D52"/>
                </a:solidFill>
                <a:latin typeface="Calibri"/>
              </a:rPr>
              <a:t>3. Wheel-odometry endpoint closure </a:t>
            </a:r>
            <a:r>
              <a:rPr sz="1250" b="0" i="0">
                <a:solidFill>
                  <a:srgbClr val="3B4557"/>
                </a:solidFill>
                <a:latin typeface="Calibri"/>
              </a:rPr>
              <a:t>stays below 1 per cent of path to about 10 m, and sits between 1.1 and 1.5 per cent on the longest routes driven.</a:t>
            </a:r>
          </a:p>
          <a:p>
            <a:pPr algn="l" marL="182880" indent="-182880">
              <a:lnSpc>
                <a:spcPct val="105000"/>
              </a:lnSpc>
              <a:spcBef>
                <a:spcPts val="0"/>
              </a:spcBef>
              <a:spcAft>
                <a:spcPts val="1200"/>
              </a:spcAft>
              <a:buClr>
                <a:srgbClr val="4C7AA8"/>
              </a:buClr>
              <a:buFont typeface="Arial"/>
              <a:buChar char="•"/>
            </a:pPr>
            <a:r>
              <a:rPr sz="1250" b="1" i="0">
                <a:solidFill>
                  <a:srgbClr val="2E7D52"/>
                </a:solidFill>
                <a:latin typeface="Calibri"/>
              </a:rPr>
              <a:t>4. Scan matching was measured to increase pose error </a:t>
            </a:r>
            <a:r>
              <a:rPr sz="1250" b="0" i="0">
                <a:solidFill>
                  <a:srgbClr val="3B4557"/>
                </a:solidFill>
                <a:latin typeface="Calibri"/>
              </a:rPr>
              <a:t>on three separate routes, most tightly on a drive where the same wheels and the same scans gave 16.2 mm unmatched and 206.7 mm matched, with corrections firing on a fixed odometry cadence rather than on scan disagreement.</a:t>
            </a:r>
          </a:p>
          <a:p>
            <a:pPr algn="l" marL="182880" indent="-182880">
              <a:lnSpc>
                <a:spcPct val="105000"/>
              </a:lnSpc>
              <a:spcBef>
                <a:spcPts val="0"/>
              </a:spcBef>
              <a:spcAft>
                <a:spcPts val="1200"/>
              </a:spcAft>
              <a:buClr>
                <a:srgbClr val="4C7AA8"/>
              </a:buClr>
              <a:buFont typeface="Arial"/>
              <a:buChar char="•"/>
            </a:pPr>
            <a:r>
              <a:rPr sz="1250" b="1" i="0">
                <a:solidFill>
                  <a:srgbClr val="1F4E79"/>
                </a:solidFill>
                <a:latin typeface="Calibri"/>
              </a:rPr>
              <a:t>5. Of a different kind. </a:t>
            </a:r>
            <a:r>
              <a:rPr sz="1250" b="0" i="0">
                <a:solidFill>
                  <a:srgbClr val="3B4557"/>
                </a:solidFill>
                <a:latin typeface="Calibri"/>
              </a:rPr>
              <a:t>A complete system taken from nothing to a deployment running unattended across four zones in two radio-isolated installations sharing one database, with three concurrent communication channels, two control paths and automatic recovery from a power interruption. That is an engineering result rather than a measured one, and the report is careful about the difference.</a:t>
            </a:r>
          </a:p>
        </p:txBody>
      </p:sp>
      <p:sp>
        <p:nvSpPr>
          <p:cNvPr id="6" name="Rectangle 5"/>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Established rather than asserted, each against a physical reference or an independent implementation, not against itself.</a:t>
            </a:r>
          </a:p>
        </p:txBody>
      </p:sp>
      <p:sp>
        <p:nvSpPr>
          <p:cNvPr id="9" name="TextBox 8"/>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0" name="TextBox 9"/>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What remains open, and why the reasons differ</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CONCLUSIONS</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316736"/>
            <a:ext cx="3588410" cy="41148"/>
          </a:xfrm>
          <a:prstGeom prst="rect">
            <a:avLst/>
          </a:prstGeom>
          <a:solidFill>
            <a:srgbClr val="A96F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94944"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A96F15"/>
                </a:solidFill>
                <a:latin typeface="Cambria"/>
              </a:rPr>
              <a:t>The room</a:t>
            </a:r>
          </a:p>
          <a:p>
            <a:pPr algn="l">
              <a:lnSpc>
                <a:spcPct val="98000"/>
              </a:lnSpc>
              <a:spcBef>
                <a:spcPts val="200"/>
              </a:spcBef>
              <a:spcAft>
                <a:spcPts val="0"/>
              </a:spcAft>
            </a:pPr>
            <a:r>
              <a:rPr sz="1000" b="0" i="0">
                <a:solidFill>
                  <a:srgbClr val="838E9F"/>
                </a:solidFill>
                <a:latin typeface="Calibri"/>
              </a:rPr>
              <a:t>A commissioning map meeting all four criteria, and localisation against a saved map</a:t>
            </a:r>
          </a:p>
        </p:txBody>
      </p:sp>
      <p:sp>
        <p:nvSpPr>
          <p:cNvPr id="8" name="Rectangle 7"/>
          <p:cNvSpPr/>
          <p:nvPr/>
        </p:nvSpPr>
        <p:spPr>
          <a:xfrm>
            <a:off x="4301642"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301642" y="1316736"/>
            <a:ext cx="3588410" cy="41148"/>
          </a:xfrm>
          <a:prstGeom prst="rect">
            <a:avLst/>
          </a:prstGeom>
          <a:solidFill>
            <a:srgbClr val="A96F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29658"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A96F15"/>
                </a:solidFill>
                <a:latin typeface="Cambria"/>
              </a:rPr>
              <a:t>The baseline</a:t>
            </a:r>
          </a:p>
          <a:p>
            <a:pPr algn="l">
              <a:lnSpc>
                <a:spcPct val="98000"/>
              </a:lnSpc>
              <a:spcBef>
                <a:spcPts val="200"/>
              </a:spcBef>
              <a:spcAft>
                <a:spcPts val="0"/>
              </a:spcAft>
            </a:pPr>
            <a:r>
              <a:rPr sz="1000" b="0" i="0">
                <a:solidFill>
                  <a:srgbClr val="838E9F"/>
                </a:solidFill>
                <a:latin typeface="Calibri"/>
              </a:rPr>
              <a:t>The effect of the asymmetric geometry itself</a:t>
            </a:r>
          </a:p>
        </p:txBody>
      </p:sp>
      <p:sp>
        <p:nvSpPr>
          <p:cNvPr id="11" name="Rectangle 10"/>
          <p:cNvSpPr/>
          <p:nvPr/>
        </p:nvSpPr>
        <p:spPr>
          <a:xfrm>
            <a:off x="8036356" y="1316736"/>
            <a:ext cx="3588410" cy="8412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036356" y="1316736"/>
            <a:ext cx="3588410" cy="41148"/>
          </a:xfrm>
          <a:prstGeom prst="rect">
            <a:avLst/>
          </a:prstGeom>
          <a:solidFill>
            <a:srgbClr val="B03A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64372" y="1453895"/>
            <a:ext cx="3332378" cy="621792"/>
          </a:xfrm>
          <a:prstGeom prst="rect">
            <a:avLst/>
          </a:prstGeom>
          <a:noFill/>
        </p:spPr>
        <p:txBody>
          <a:bodyPr wrap="square" lIns="0" rIns="0" tIns="0" bIns="0" anchor="t">
            <a:spAutoFit/>
          </a:bodyPr>
          <a:lstStyle/>
          <a:p>
            <a:pPr algn="l">
              <a:lnSpc>
                <a:spcPct val="95000"/>
              </a:lnSpc>
              <a:spcBef>
                <a:spcPts val="0"/>
              </a:spcBef>
              <a:spcAft>
                <a:spcPts val="0"/>
              </a:spcAft>
            </a:pPr>
            <a:r>
              <a:rPr sz="1900" b="1" i="0">
                <a:solidFill>
                  <a:srgbClr val="B03A34"/>
                </a:solidFill>
                <a:latin typeface="Cambria"/>
              </a:rPr>
              <a:t>The instrument</a:t>
            </a:r>
          </a:p>
          <a:p>
            <a:pPr algn="l">
              <a:lnSpc>
                <a:spcPct val="98000"/>
              </a:lnSpc>
              <a:spcBef>
                <a:spcPts val="200"/>
              </a:spcBef>
              <a:spcAft>
                <a:spcPts val="0"/>
              </a:spcAft>
            </a:pPr>
            <a:r>
              <a:rPr sz="1000" b="0" i="0">
                <a:solidFill>
                  <a:srgbClr val="838E9F"/>
                </a:solidFill>
                <a:latin typeface="Calibri"/>
              </a:rPr>
              <a:t>Several degrees of heading error that every fitted sensor misses</a:t>
            </a:r>
          </a:p>
        </p:txBody>
      </p:sp>
      <p:sp>
        <p:nvSpPr>
          <p:cNvPr id="14" name="TextBox 13"/>
          <p:cNvSpPr txBox="1"/>
          <p:nvPr/>
        </p:nvSpPr>
        <p:spPr>
          <a:xfrm>
            <a:off x="566928" y="2377439"/>
            <a:ext cx="9730898" cy="2980944"/>
          </a:xfrm>
          <a:prstGeom prst="rect">
            <a:avLst/>
          </a:prstGeom>
          <a:noFill/>
        </p:spPr>
        <p:txBody>
          <a:bodyPr wrap="square" lIns="0" rIns="0" tIns="0" bIns="0" anchor="t">
            <a:spAutoFit/>
          </a:bodyPr>
          <a:lstStyle/>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A commissioning map meeting all four acceptance criteria, and localisation against a saved map, are blocked by the size of the available test area, not by the platform. Coverage accumulates through translation, and the robot cannot see what it cannot drive past.</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The effect of the asymmetric geometry is unquantified, because no matched symmetric baseline has been built. A consistent absence of penalty is not a measured cost of zero.</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Several degrees of heading error survive every instrument currently fitted. Narrowed to an encoder or wheel-radius scale error, or a rigid all-wheel slip mode, which cannot be separated without an independent angular-rate measurement.</a:t>
            </a:r>
          </a:p>
          <a:p>
            <a:pPr algn="l" marL="182880" indent="-182880">
              <a:lnSpc>
                <a:spcPct val="105000"/>
              </a:lnSpc>
              <a:spcBef>
                <a:spcPts val="0"/>
              </a:spcBef>
              <a:spcAft>
                <a:spcPts val="1200"/>
              </a:spcAft>
              <a:buClr>
                <a:srgbClr val="4C7AA8"/>
              </a:buClr>
              <a:buFont typeface="Arial"/>
              <a:buChar char="•"/>
            </a:pPr>
            <a:r>
              <a:rPr sz="1250" b="0" i="0">
                <a:solidFill>
                  <a:srgbClr val="3B4557"/>
                </a:solidFill>
                <a:latin typeface="Calibri"/>
              </a:rPr>
              <a:t>On the other strands: the monitoring system has closed the firmware items from its source audit and waits on two physical calibrations. The fatigue strand has nothing to correct because it has nothing built, which is itself the thing to change.</a:t>
            </a:r>
          </a:p>
        </p:txBody>
      </p:sp>
      <p:sp>
        <p:nvSpPr>
          <p:cNvPr id="15" name="Rectangle 14"/>
          <p:cNvSpPr/>
          <p:nvPr/>
        </p:nvSpPr>
        <p:spPr>
          <a:xfrm>
            <a:off x="566928" y="5486400"/>
            <a:ext cx="11057839" cy="5486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5486400"/>
            <a:ext cx="41148"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5536692"/>
            <a:ext cx="10600639" cy="457200"/>
          </a:xfrm>
          <a:prstGeom prst="rect">
            <a:avLst/>
          </a:prstGeom>
          <a:noFill/>
        </p:spPr>
        <p:txBody>
          <a:bodyPr wrap="square" lIns="0" rIns="0" tIns="0" bIns="0" anchor="ctr">
            <a:spAutoFit/>
          </a:bodyPr>
          <a:lstStyle/>
          <a:p>
            <a:pPr algn="l">
              <a:lnSpc>
                <a:spcPct val="100000"/>
              </a:lnSpc>
              <a:spcBef>
                <a:spcPts val="0"/>
              </a:spcBef>
              <a:spcAft>
                <a:spcPts val="0"/>
              </a:spcAft>
            </a:pPr>
            <a:r>
              <a:rPr sz="1300" b="0" i="1">
                <a:solidFill>
                  <a:srgbClr val="1F4E79"/>
                </a:solidFill>
                <a:latin typeface="Cambria"/>
              </a:rPr>
              <a:t>Adding inertial measurement to a platform whose unfused behaviour is now characterised gives a specific quantity to test the improvement against, rather than a general expectation that fusion helps.</a:t>
            </a:r>
          </a:p>
        </p:txBody>
      </p:sp>
      <p:sp>
        <p:nvSpPr>
          <p:cNvPr id="18" name="TextBox 17"/>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9" name="TextBox 18"/>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8569825" cy="640080"/>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A2230"/>
                </a:solidFill>
                <a:latin typeface="Cambria"/>
              </a:rPr>
              <a:t>Research plan, ordered by what unblocks what</a:t>
            </a:r>
          </a:p>
        </p:txBody>
      </p:sp>
      <p:sp>
        <p:nvSpPr>
          <p:cNvPr id="3" name="TextBox 2"/>
          <p:cNvSpPr txBox="1"/>
          <p:nvPr/>
        </p:nvSpPr>
        <p:spPr>
          <a:xfrm>
            <a:off x="9228193" y="475488"/>
            <a:ext cx="2396573" cy="292608"/>
          </a:xfrm>
          <a:prstGeom prst="rect">
            <a:avLst/>
          </a:prstGeom>
          <a:noFill/>
        </p:spPr>
        <p:txBody>
          <a:bodyPr wrap="square" lIns="0" rIns="0" tIns="0" bIns="0" anchor="t">
            <a:spAutoFit/>
          </a:bodyPr>
          <a:lstStyle/>
          <a:p>
            <a:pPr algn="r">
              <a:lnSpc>
                <a:spcPct val="100000"/>
              </a:lnSpc>
              <a:spcBef>
                <a:spcPts val="0"/>
              </a:spcBef>
              <a:spcAft>
                <a:spcPts val="0"/>
              </a:spcAft>
            </a:pPr>
            <a:r>
              <a:rPr sz="1000" b="0" i="0" spc="120">
                <a:solidFill>
                  <a:srgbClr val="838E9F"/>
                </a:solidFill>
                <a:latin typeface="Calibri"/>
              </a:rPr>
              <a:t>CONCLUSIONS</a:t>
            </a:r>
          </a:p>
        </p:txBody>
      </p:sp>
      <p:sp>
        <p:nvSpPr>
          <p:cNvPr id="4" name="Rectangle 3"/>
          <p:cNvSpPr/>
          <p:nvPr/>
        </p:nvSpPr>
        <p:spPr>
          <a:xfrm>
            <a:off x="566928" y="1042415"/>
            <a:ext cx="786384" cy="502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527048" y="950975"/>
            <a:ext cx="10097719" cy="292608"/>
          </a:xfrm>
          <a:prstGeom prst="rect">
            <a:avLst/>
          </a:prstGeom>
          <a:noFill/>
        </p:spPr>
        <p:txBody>
          <a:bodyPr wrap="square" lIns="0" rIns="0" tIns="0" bIns="0" anchor="t">
            <a:spAutoFit/>
          </a:bodyPr>
          <a:lstStyle/>
          <a:p>
            <a:pPr algn="l">
              <a:lnSpc>
                <a:spcPct val="100000"/>
              </a:lnSpc>
              <a:spcBef>
                <a:spcPts val="0"/>
              </a:spcBef>
              <a:spcAft>
                <a:spcPts val="0"/>
              </a:spcAft>
            </a:pPr>
            <a:r>
              <a:rPr sz="1250" b="0" i="1">
                <a:solidFill>
                  <a:srgbClr val="838E9F"/>
                </a:solidFill>
                <a:latin typeface="Calibri"/>
              </a:rPr>
              <a:t>Not by calendar. Within each strand the order is real.</a:t>
            </a:r>
          </a:p>
        </p:txBody>
      </p:sp>
      <p:sp>
        <p:nvSpPr>
          <p:cNvPr id="6" name="TextBox 5"/>
          <p:cNvSpPr txBox="1"/>
          <p:nvPr/>
        </p:nvSpPr>
        <p:spPr>
          <a:xfrm>
            <a:off x="566928"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THE ROBOT</a:t>
            </a:r>
          </a:p>
        </p:txBody>
      </p:sp>
      <p:sp>
        <p:nvSpPr>
          <p:cNvPr id="7" name="TextBox 6"/>
          <p:cNvSpPr txBox="1"/>
          <p:nvPr/>
        </p:nvSpPr>
        <p:spPr>
          <a:xfrm>
            <a:off x="566928" y="1719072"/>
            <a:ext cx="5277459" cy="4334255"/>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Securing a representative test space. A continuous traversable loop with unobstructed wall on at least one side and aisle widths representative of the application. An initial target of fifteen to twenty metres of path. The first practical task.</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Inertial measurement and fused state estimation. An inertial sensor near the geometric centre, where the rotationally induced accelerometer terms are smallest, fused with the wheel estimate. The 3.85° and 4.49° already measured give the quantity to test against.</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Sensor comparison. Repeating the same routes with a higher-grade scanner, using the same analysis tools, converts an inference into a controlled result. That question is currently answered in the literature by convention rather than by measurement.</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Completing the geometric comparison. A matched symmetric baseline, in simulation first and on hardware if the wheelbase can be reconfigured without a new chassis. Closes Objective 3.</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Extending the platform to warehouse tasks. Inventory scanning, environmental survey, surface disinfection and cargo transfer. Each is integration work on top of the autonomy layer rather than a change to it.</a:t>
            </a:r>
          </a:p>
        </p:txBody>
      </p:sp>
      <p:sp>
        <p:nvSpPr>
          <p:cNvPr id="8" name="TextBox 7"/>
          <p:cNvSpPr txBox="1"/>
          <p:nvPr/>
        </p:nvSpPr>
        <p:spPr>
          <a:xfrm>
            <a:off x="6347307" y="1316736"/>
            <a:ext cx="5277459" cy="292608"/>
          </a:xfrm>
          <a:prstGeom prst="rect">
            <a:avLst/>
          </a:prstGeom>
          <a:noFill/>
        </p:spPr>
        <p:txBody>
          <a:bodyPr wrap="square" lIns="0" rIns="0" tIns="0" bIns="0" anchor="t">
            <a:spAutoFit/>
          </a:bodyPr>
          <a:lstStyle/>
          <a:p>
            <a:pPr algn="l">
              <a:lnSpc>
                <a:spcPct val="100000"/>
              </a:lnSpc>
              <a:spcBef>
                <a:spcPts val="0"/>
              </a:spcBef>
              <a:spcAft>
                <a:spcPts val="0"/>
              </a:spcAft>
            </a:pPr>
            <a:r>
              <a:rPr sz="1050" b="1" i="0" spc="110">
                <a:solidFill>
                  <a:srgbClr val="1F4E79"/>
                </a:solidFill>
                <a:latin typeface="Calibri"/>
              </a:rPr>
              <a:t>THE OTHER TWO STRANDS</a:t>
            </a:r>
          </a:p>
        </p:txBody>
      </p:sp>
      <p:sp>
        <p:nvSpPr>
          <p:cNvPr id="9" name="TextBox 8"/>
          <p:cNvSpPr txBox="1"/>
          <p:nvPr/>
        </p:nvSpPr>
        <p:spPr>
          <a:xfrm>
            <a:off x="6347307" y="1719072"/>
            <a:ext cx="5277459" cy="4334255"/>
          </a:xfrm>
          <a:prstGeom prst="rect">
            <a:avLst/>
          </a:prstGeom>
          <a:noFill/>
        </p:spPr>
        <p:txBody>
          <a:bodyPr wrap="square" lIns="0" rIns="0" tIns="0" bIns="0" anchor="t">
            <a:spAutoFit/>
          </a:bodyPr>
          <a:lstStyle/>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Monitoring: calibration first, because it is what converts a unit that behaves correctly into one whose readings can be quoted. That means the gas channel driven from the stored calibration, and the ultraviolet channel referred to a reference radiometer at a fixed geometry.</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Then sensor integration, which is why the architecture was built the way it was: a new measurement channel is a configuration change rather than a redesign. That makes the unit worth extending to cold storage, controlled-atmosphere rooms, and the perishable-goods areas where temperature, humidity and gas composition together set shelf life.</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Fatigue: the sequence of the previous section, with one ordering decision that belongs in a plan: the per-modality validation, and in particular the comparison against surface electromyography on the same subjects during the same task, comes as early as the hardware allows.</a:t>
            </a:r>
          </a:p>
          <a:p>
            <a:pPr algn="l" marL="182880" indent="-182880">
              <a:lnSpc>
                <a:spcPct val="105000"/>
              </a:lnSpc>
              <a:spcBef>
                <a:spcPts val="0"/>
              </a:spcBef>
              <a:spcAft>
                <a:spcPts val="900"/>
              </a:spcAft>
              <a:buClr>
                <a:srgbClr val="4C7AA8"/>
              </a:buClr>
              <a:buFont typeface="Arial"/>
              <a:buChar char="•"/>
            </a:pPr>
            <a:r>
              <a:rPr sz="1150" b="0" i="0">
                <a:solidFill>
                  <a:srgbClr val="3B4557"/>
                </a:solidFill>
                <a:latin typeface="Calibri"/>
              </a:rPr>
              <a:t>No dates. The work depends on securing a test space, on the procurement of a sensor, and on a result that may be negative. A schedule asserted over those contingencies would not be a plan.</a:t>
            </a:r>
          </a:p>
        </p:txBody>
      </p:sp>
      <p:sp>
        <p:nvSpPr>
          <p:cNvPr id="10" name="TextBox 9"/>
          <p:cNvSpPr txBox="1"/>
          <p:nvPr/>
        </p:nvSpPr>
        <p:spPr>
          <a:xfrm>
            <a:off x="566928" y="6309360"/>
            <a:ext cx="7740487" cy="25603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8B1BE"/>
                </a:solidFill>
                <a:latin typeface="Calibri"/>
              </a:rPr>
              <a:t>Annual Progress Seminar  ·  Aritra Das  ·  25D0074  ·  IIT Bombay</a:t>
            </a:r>
          </a:p>
        </p:txBody>
      </p:sp>
      <p:sp>
        <p:nvSpPr>
          <p:cNvPr id="11" name="TextBox 10"/>
          <p:cNvSpPr txBox="1"/>
          <p:nvPr/>
        </p:nvSpPr>
        <p:spPr>
          <a:xfrm>
            <a:off x="8307415" y="6309360"/>
            <a:ext cx="3317351" cy="256032"/>
          </a:xfrm>
          <a:prstGeom prst="rect">
            <a:avLst/>
          </a:prstGeom>
          <a:noFill/>
        </p:spPr>
        <p:txBody>
          <a:bodyPr wrap="square" lIns="0" rIns="0" tIns="0" bIns="0" anchor="t">
            <a:spAutoFit/>
          </a:bodyPr>
          <a:lstStyle/>
          <a:p>
            <a:pPr algn="r">
              <a:lnSpc>
                <a:spcPct val="100000"/>
              </a:lnSpc>
              <a:spcBef>
                <a:spcPts val="0"/>
              </a:spcBef>
              <a:spcAft>
                <a:spcPts val="0"/>
              </a:spcAft>
            </a:pPr>
            <a:r>
              <a:rPr sz="950" b="0" i="0">
                <a:solidFill>
                  <a:srgbClr val="838E9F"/>
                </a:solidFill>
                <a:latin typeface="Cambria"/>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jpg"/>
          <p:cNvPicPr>
            <a:picLocks noChangeAspect="1"/>
          </p:cNvPicPr>
          <p:nvPr/>
        </p:nvPicPr>
        <p:blipFill>
          <a:blip r:embed="rId2"/>
          <a:srcRect t="36628" b="36628"/>
          <a:stretch>
            <a:fillRect/>
          </a:stretch>
        </p:blipFill>
        <p:spPr>
          <a:xfrm>
            <a:off x="0" y="4754880"/>
            <a:ext cx="12191695" cy="2103120"/>
          </a:xfrm>
          <a:prstGeom prst="rect">
            <a:avLst/>
          </a:prstGeom>
        </p:spPr>
      </p:pic>
      <p:sp>
        <p:nvSpPr>
          <p:cNvPr id="3" name="Rectangle 2"/>
          <p:cNvSpPr/>
          <p:nvPr/>
        </p:nvSpPr>
        <p:spPr>
          <a:xfrm>
            <a:off x="0" y="4754880"/>
            <a:ext cx="12191695" cy="411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566928"/>
            <a:ext cx="11057839" cy="384048"/>
          </a:xfrm>
          <a:prstGeom prst="rect">
            <a:avLst/>
          </a:prstGeom>
          <a:noFill/>
        </p:spPr>
        <p:txBody>
          <a:bodyPr wrap="square" lIns="0" rIns="0" tIns="0" bIns="0" anchor="t">
            <a:spAutoFit/>
          </a:bodyPr>
          <a:lstStyle/>
          <a:p>
            <a:pPr algn="l">
              <a:lnSpc>
                <a:spcPct val="100000"/>
              </a:lnSpc>
              <a:spcBef>
                <a:spcPts val="0"/>
              </a:spcBef>
              <a:spcAft>
                <a:spcPts val="0"/>
              </a:spcAft>
            </a:pPr>
            <a:r>
              <a:rPr sz="1100" b="1" i="0" spc="160">
                <a:solidFill>
                  <a:srgbClr val="1F4E79"/>
                </a:solidFill>
                <a:latin typeface="Calibri"/>
              </a:rPr>
              <a:t>IN CLOSING</a:t>
            </a:r>
          </a:p>
        </p:txBody>
      </p:sp>
      <p:sp>
        <p:nvSpPr>
          <p:cNvPr id="5" name="TextBox 4"/>
          <p:cNvSpPr txBox="1"/>
          <p:nvPr/>
        </p:nvSpPr>
        <p:spPr>
          <a:xfrm>
            <a:off x="566928" y="1005840"/>
            <a:ext cx="9509741" cy="731520"/>
          </a:xfrm>
          <a:prstGeom prst="rect">
            <a:avLst/>
          </a:prstGeom>
          <a:noFill/>
        </p:spPr>
        <p:txBody>
          <a:bodyPr wrap="square" lIns="0" rIns="0" tIns="0" bIns="0" anchor="t">
            <a:spAutoFit/>
          </a:bodyPr>
          <a:lstStyle/>
          <a:p>
            <a:pPr algn="l">
              <a:lnSpc>
                <a:spcPct val="100000"/>
              </a:lnSpc>
              <a:spcBef>
                <a:spcPts val="0"/>
              </a:spcBef>
              <a:spcAft>
                <a:spcPts val="0"/>
              </a:spcAft>
            </a:pPr>
            <a:r>
              <a:rPr sz="3200" b="1" i="0">
                <a:solidFill>
                  <a:srgbClr val="1A2230"/>
                </a:solidFill>
                <a:latin typeface="Cambria"/>
              </a:rPr>
              <a:t>Three statements</a:t>
            </a:r>
          </a:p>
        </p:txBody>
      </p:sp>
      <p:sp>
        <p:nvSpPr>
          <p:cNvPr id="6" name="TextBox 5"/>
          <p:cNvSpPr txBox="1"/>
          <p:nvPr/>
        </p:nvSpPr>
        <p:spPr>
          <a:xfrm>
            <a:off x="566928" y="1938528"/>
            <a:ext cx="9952055" cy="2651760"/>
          </a:xfrm>
          <a:prstGeom prst="rect">
            <a:avLst/>
          </a:prstGeom>
          <a:noFill/>
        </p:spPr>
        <p:txBody>
          <a:bodyPr wrap="square" lIns="0" rIns="0" tIns="0" bIns="0" anchor="t">
            <a:spAutoFit/>
          </a:bodyPr>
          <a:lstStyle/>
          <a:p>
            <a:pPr algn="l">
              <a:lnSpc>
                <a:spcPct val="108000"/>
              </a:lnSpc>
              <a:spcBef>
                <a:spcPts val="0"/>
              </a:spcBef>
              <a:spcAft>
                <a:spcPts val="800"/>
              </a:spcAft>
            </a:pPr>
            <a:r>
              <a:rPr sz="1400" b="0" i="1">
                <a:solidFill>
                  <a:srgbClr val="3B4557"/>
                </a:solidFill>
                <a:latin typeface="Cambria"/>
              </a:rPr>
              <a:t>The robot is built, instrumented and characterised, with four results established against physical references and three specific shortfalls, two of which are the size of a room rather than anything on the machine. The monitoring system is deployed and running across four zones. The fatigue strand has an argument and no data. Three distinct kinds of position, and the report has been written so as not to flatten them into one.</a:t>
            </a:r>
          </a:p>
          <a:p>
            <a:pPr algn="l">
              <a:lnSpc>
                <a:spcPct val="108000"/>
              </a:lnSpc>
              <a:spcBef>
                <a:spcPts val="0"/>
              </a:spcBef>
              <a:spcAft>
                <a:spcPts val="800"/>
              </a:spcAft>
            </a:pPr>
            <a:r>
              <a:rPr sz="1400" b="0" i="1">
                <a:solidFill>
                  <a:srgbClr val="3B4557"/>
                </a:solidFill>
                <a:latin typeface="Cambria"/>
              </a:rPr>
              <a:t>What the three share is more modest than a combined system and more useful: multi-sensor integration, calibration against something physical, acquisition that has to keep its own schedule, and control that fails safe. An error made in one has already become a method in the next, and that return accrues whether or not the strands ever converge.</a:t>
            </a:r>
          </a:p>
          <a:p>
            <a:pPr algn="l">
              <a:lnSpc>
                <a:spcPct val="108000"/>
              </a:lnSpc>
              <a:spcBef>
                <a:spcPts val="0"/>
              </a:spcBef>
              <a:spcAft>
                <a:spcPts val="800"/>
              </a:spcAft>
            </a:pPr>
            <a:r>
              <a:rPr sz="1400" b="0" i="1">
                <a:solidFill>
                  <a:srgbClr val="3B4557"/>
                </a:solidFill>
                <a:latin typeface="Cambria"/>
              </a:rPr>
              <a:t>The next step in each strand is specific rather than general, and none of the three waits on the others. The useful question is not whether a direction is promising, but how quickly it can be placed in a position to fail.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